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Forward and Backward Chaining in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Inference Techniques in Rule-Based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Forward Chaining?</a:t>
            </a:r>
          </a:p>
          <a:p>
            <a:r>
              <a:rPr dirty="0"/>
              <a:t>What is Backward Chaining?</a:t>
            </a:r>
          </a:p>
          <a:p>
            <a:r>
              <a:rPr dirty="0"/>
              <a:t>Practical Examples</a:t>
            </a:r>
          </a:p>
          <a:p>
            <a:r>
              <a:rPr dirty="0"/>
              <a:t>Uses in AI</a:t>
            </a:r>
          </a:p>
          <a:p>
            <a:r>
              <a:rPr dirty="0"/>
              <a:t>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Forward Chaining?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Data-driven inference</a:t>
            </a:r>
          </a:p>
          <a:p>
            <a:r>
              <a:rPr dirty="0"/>
              <a:t>Starts with known facts</a:t>
            </a:r>
          </a:p>
          <a:p>
            <a:r>
              <a:rPr dirty="0"/>
              <a:t>Applies rules to infer new facts until goal is reached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Backward Chaining?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Goal-driven inference</a:t>
            </a:r>
          </a:p>
          <a:p>
            <a:r>
              <a:rPr dirty="0"/>
              <a:t>Starts from goal</a:t>
            </a:r>
          </a:p>
          <a:p>
            <a:r>
              <a:rPr dirty="0"/>
              <a:t>Works backward to check if it can be supported by 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Medical Diagnosis –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IF fever AND cough THEN flu</a:t>
            </a:r>
          </a:p>
          <a:p>
            <a:pPr marL="0" indent="0">
              <a:buNone/>
            </a:pPr>
            <a:r>
              <a:rPr dirty="0"/>
              <a:t>2. IF headache AND fatigue THEN flu</a:t>
            </a:r>
          </a:p>
          <a:p>
            <a:pPr marL="0" indent="0">
              <a:buNone/>
            </a:pPr>
            <a:r>
              <a:rPr dirty="0"/>
              <a:t>3. IF flu THEN recommend rest and hydration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Medical Diagnosis – 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Facts: Patient has fever and cough</a:t>
            </a:r>
          </a:p>
          <a:p>
            <a:pPr marL="0" indent="0">
              <a:buNone/>
            </a:pPr>
            <a:r>
              <a:rPr dirty="0"/>
              <a:t>→ Rule 1 fires → flu inferred</a:t>
            </a:r>
          </a:p>
          <a:p>
            <a:pPr marL="0" indent="0">
              <a:buNone/>
            </a:pPr>
            <a:r>
              <a:rPr dirty="0"/>
              <a:t>→ Rule 3 fires → recommend rest and hydration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Medical Diagnosis – 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Recommend rest and hydration</a:t>
            </a:r>
          </a:p>
          <a:p>
            <a:pPr marL="0" indent="0">
              <a:buNone/>
            </a:pPr>
            <a:r>
              <a:rPr dirty="0"/>
              <a:t>→ Requires: flu</a:t>
            </a:r>
          </a:p>
          <a:p>
            <a:pPr marL="0" indent="0">
              <a:buNone/>
            </a:pPr>
            <a:r>
              <a:rPr dirty="0"/>
              <a:t>→ Rule 1 OR Rule 2 can infer flu</a:t>
            </a:r>
          </a:p>
          <a:p>
            <a:pPr marL="0" indent="0">
              <a:buNone/>
            </a:pPr>
            <a:r>
              <a:rPr dirty="0"/>
              <a:t>→ Check Rule 1: Fever and Cough? Yes</a:t>
            </a:r>
          </a:p>
          <a:p>
            <a:pPr marL="0" indent="0">
              <a:buNone/>
            </a:pPr>
            <a:r>
              <a:rPr dirty="0"/>
              <a:t>→ Flu confirmed → Recommend 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Animal Identification –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IF has hair THEN mammal</a:t>
            </a:r>
          </a:p>
          <a:p>
            <a:pPr marL="0" indent="0">
              <a:buNone/>
            </a:pPr>
            <a:r>
              <a:rPr dirty="0"/>
              <a:t>2. IF mammal AND pointed teeth AND claws AND forward-facing eyes THEN carnivore</a:t>
            </a:r>
          </a:p>
          <a:p>
            <a:pPr marL="0" indent="0">
              <a:buNone/>
            </a:pPr>
            <a:r>
              <a:rPr dirty="0"/>
              <a:t>3. IF carnivore AND tawny color AND black stripes THEN tiger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Animal Identification –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Has hair</a:t>
            </a:r>
          </a:p>
          <a:p>
            <a:r>
              <a:rPr dirty="0"/>
              <a:t>Pointed teeth</a:t>
            </a:r>
          </a:p>
          <a:p>
            <a:r>
              <a:rPr dirty="0"/>
              <a:t>Claws</a:t>
            </a:r>
          </a:p>
          <a:p>
            <a:r>
              <a:rPr dirty="0"/>
              <a:t>Forward-facing eyes</a:t>
            </a:r>
          </a:p>
          <a:p>
            <a:r>
              <a:rPr dirty="0"/>
              <a:t>Tawny color</a:t>
            </a:r>
          </a:p>
          <a:p>
            <a:r>
              <a:rPr dirty="0"/>
              <a:t>Black stripes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Animal Identification – 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→ Hair → Mammal</a:t>
            </a:r>
          </a:p>
          <a:p>
            <a:pPr marL="0" indent="0">
              <a:buNone/>
            </a:pPr>
            <a:r>
              <a:rPr dirty="0"/>
              <a:t>→ Mammal + teeth + claws + eyes → Carnivore</a:t>
            </a:r>
          </a:p>
          <a:p>
            <a:pPr marL="0" indent="0">
              <a:buNone/>
            </a:pPr>
            <a:r>
              <a:rPr dirty="0"/>
              <a:t>→ Carnivore + color + stripes → Tiger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Animal Identification – 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Is the animal a Tiger?</a:t>
            </a:r>
          </a:p>
          <a:p>
            <a:pPr marL="0" indent="0">
              <a:buNone/>
            </a:pPr>
            <a:r>
              <a:rPr dirty="0"/>
              <a:t>→ Requires: Carnivore + Tawny + Black stripes</a:t>
            </a:r>
          </a:p>
          <a:p>
            <a:pPr marL="0" indent="0">
              <a:buNone/>
            </a:pPr>
            <a:r>
              <a:rPr dirty="0"/>
              <a:t>→ Check carnivore:</a:t>
            </a:r>
          </a:p>
          <a:p>
            <a:pPr marL="0" indent="0">
              <a:buNone/>
            </a:pPr>
            <a:r>
              <a:rPr dirty="0"/>
              <a:t>   → Requires: Mammal + teeth + claws + eyes</a:t>
            </a:r>
          </a:p>
          <a:p>
            <a:pPr marL="0" indent="0">
              <a:buNone/>
            </a:pPr>
            <a:r>
              <a:rPr dirty="0"/>
              <a:t>   → Check mammal: Has hair → Yes</a:t>
            </a:r>
          </a:p>
          <a:p>
            <a:pPr marL="0" indent="0">
              <a:buNone/>
            </a:pPr>
            <a:r>
              <a:rPr dirty="0"/>
              <a:t>→ All conditions satisfied → Tiger confirmed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Expert systems (e.g., medical diagnosis)</a:t>
            </a:r>
          </a:p>
          <a:p>
            <a:r>
              <a:rPr dirty="0"/>
              <a:t>Real-time monitoring systems</a:t>
            </a:r>
          </a:p>
          <a:p>
            <a:r>
              <a:rPr dirty="0"/>
              <a:t>Event-based automation (e.g., smart homes)</a:t>
            </a:r>
          </a:p>
          <a:p>
            <a:r>
              <a:rPr dirty="0"/>
              <a:t>Business rules engines</a:t>
            </a:r>
          </a:p>
          <a:p>
            <a:r>
              <a:rPr dirty="0"/>
              <a:t>Game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Diagnostic assistants and help desks</a:t>
            </a:r>
          </a:p>
          <a:p>
            <a:r>
              <a:rPr dirty="0"/>
              <a:t>Theorem proving and logic programming (e.g., Prolog)</a:t>
            </a:r>
          </a:p>
          <a:p>
            <a:r>
              <a:rPr dirty="0"/>
              <a:t>Planning in AI and robotics</a:t>
            </a:r>
          </a:p>
          <a:p>
            <a:r>
              <a:rPr dirty="0"/>
              <a:t>Expert systems with focused goals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Forward vs Backward Chaining –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6852E9-23C7-2BAD-5CE0-0B003DD7D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318840"/>
              </p:ext>
            </p:extLst>
          </p:nvPr>
        </p:nvGraphicFramePr>
        <p:xfrm>
          <a:off x="1353160" y="2242198"/>
          <a:ext cx="6876440" cy="27530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7632">
                  <a:extLst>
                    <a:ext uri="{9D8B030D-6E8A-4147-A177-3AD203B41FA5}">
                      <a16:colId xmlns:a16="http://schemas.microsoft.com/office/drawing/2014/main" val="3653175326"/>
                    </a:ext>
                  </a:extLst>
                </a:gridCol>
                <a:gridCol w="2436860">
                  <a:extLst>
                    <a:ext uri="{9D8B030D-6E8A-4147-A177-3AD203B41FA5}">
                      <a16:colId xmlns:a16="http://schemas.microsoft.com/office/drawing/2014/main" val="2025679796"/>
                    </a:ext>
                  </a:extLst>
                </a:gridCol>
                <a:gridCol w="2671948">
                  <a:extLst>
                    <a:ext uri="{9D8B030D-6E8A-4147-A177-3AD203B41FA5}">
                      <a16:colId xmlns:a16="http://schemas.microsoft.com/office/drawing/2014/main" val="2908160633"/>
                    </a:ext>
                  </a:extLst>
                </a:gridCol>
              </a:tblGrid>
              <a:tr h="458835">
                <a:tc>
                  <a:txBody>
                    <a:bodyPr/>
                    <a:lstStyle/>
                    <a:p>
                      <a:endParaRPr lang="en-PK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 dirty="0">
                          <a:effectLst/>
                        </a:rPr>
                        <a:t>Forward Chaining</a:t>
                      </a:r>
                      <a:endParaRPr lang="en-PK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 dirty="0">
                          <a:effectLst/>
                        </a:rPr>
                        <a:t>Backward Chaining</a:t>
                      </a:r>
                      <a:endParaRPr lang="en-PK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4100582"/>
                  </a:ext>
                </a:extLst>
              </a:tr>
              <a:tr h="458835">
                <a:tc>
                  <a:txBody>
                    <a:bodyPr/>
                    <a:lstStyle/>
                    <a:p>
                      <a:r>
                        <a:rPr lang="en-PK" sz="2400" kern="100" dirty="0">
                          <a:effectLst/>
                        </a:rPr>
                        <a:t>Starts From</a:t>
                      </a:r>
                      <a:endParaRPr lang="en-PK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Facts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Goal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889777"/>
                  </a:ext>
                </a:extLst>
              </a:tr>
              <a:tr h="458835"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Reasoning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Data-driven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Goal-driven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4421444"/>
                  </a:ext>
                </a:extLst>
              </a:tr>
              <a:tr h="458835"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Best When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Lots of data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Specific goal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3534703"/>
                  </a:ext>
                </a:extLst>
              </a:tr>
              <a:tr h="458835"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Speed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Slower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Faster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485441"/>
                  </a:ext>
                </a:extLst>
              </a:tr>
              <a:tr h="458835"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Examples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>
                          <a:effectLst/>
                        </a:rPr>
                        <a:t>Monitoring</a:t>
                      </a:r>
                      <a:endParaRPr lang="en-PK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PK" sz="2400" kern="100" dirty="0">
                          <a:effectLst/>
                        </a:rPr>
                        <a:t>Diagnosis</a:t>
                      </a:r>
                      <a:endParaRPr lang="en-PK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1250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Forward: From facts to conclusions</a:t>
            </a:r>
          </a:p>
          <a:p>
            <a:r>
              <a:rPr dirty="0"/>
              <a:t>Backward: From goals to validating facts</a:t>
            </a:r>
          </a:p>
          <a:p>
            <a:r>
              <a:rPr dirty="0"/>
              <a:t>Both essential in rule-based AI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433</Words>
  <Application>Microsoft Macintosh PowerPoint</Application>
  <PresentationFormat>On-screen Show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Forward and Backward Chaining in AI</vt:lpstr>
      <vt:lpstr>Overview</vt:lpstr>
      <vt:lpstr>What is Forward Chaining?</vt:lpstr>
      <vt:lpstr>What is Backward Chaining?</vt:lpstr>
      <vt:lpstr>Example 1: Medical Diagnosis – Rules</vt:lpstr>
      <vt:lpstr>Example 1: Medical Diagnosis – Forward Chaining</vt:lpstr>
      <vt:lpstr>Example 1: Medical Diagnosis – Backward Chaining</vt:lpstr>
      <vt:lpstr>Example 2: Animal Identification – Rules</vt:lpstr>
      <vt:lpstr>Example 2: Animal Identification – Facts</vt:lpstr>
      <vt:lpstr>Example 2: Animal Identification – Forward Chaining</vt:lpstr>
      <vt:lpstr>Example 2: Animal Identification – Backward Chaining</vt:lpstr>
      <vt:lpstr>Uses of Forward Chaining</vt:lpstr>
      <vt:lpstr>Uses of Backward Chaining</vt:lpstr>
      <vt:lpstr>Forward vs Backward Chaining – Comparison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and Backward Chaining in AI</dc:title>
  <dc:subject/>
  <dc:creator/>
  <cp:keywords/>
  <dc:description>generated using python-pptx</dc:description>
  <cp:lastModifiedBy>Waqas Ali</cp:lastModifiedBy>
  <cp:revision>9</cp:revision>
  <dcterms:created xsi:type="dcterms:W3CDTF">2013-01-27T09:14:16Z</dcterms:created>
  <dcterms:modified xsi:type="dcterms:W3CDTF">2025-04-24T05:38:45Z</dcterms:modified>
  <cp:category/>
</cp:coreProperties>
</file>