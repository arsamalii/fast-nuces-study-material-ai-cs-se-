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18BE1-9129-441D-A0C5-2B896745D7F4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A7E0F-4FBA-41A8-9F1A-2A42CF47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3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8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2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1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0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7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2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5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0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4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6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A1FCA-C52F-4C50-B55E-CF166DA1E9E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03359-C665-475E-A98C-15B4203E2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5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AF1001 Fundamentals of Accounting </a:t>
            </a:r>
            <a:br>
              <a:rPr lang="en-US" b="1" dirty="0"/>
            </a:br>
            <a:r>
              <a:rPr lang="en-US" b="1" dirty="0"/>
              <a:t>(BSE-3rd Semester)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Mr. Sami </a:t>
            </a:r>
            <a:r>
              <a:rPr lang="en-US" dirty="0" err="1"/>
              <a:t>Ullah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Lecturer </a:t>
            </a:r>
            <a:r>
              <a:rPr lang="en-US" dirty="0" smtClean="0"/>
              <a:t>NUCES FAST Peshawar</a:t>
            </a:r>
            <a:endParaRPr lang="en-US" dirty="0"/>
          </a:p>
          <a:p>
            <a:pPr algn="l"/>
            <a:r>
              <a:rPr lang="en-US" dirty="0"/>
              <a:t>GCR Code:  iupp66m </a:t>
            </a:r>
          </a:p>
        </p:txBody>
      </p:sp>
    </p:spTree>
    <p:extLst>
      <p:ext uri="{BB962C8B-B14F-4D97-AF65-F5344CB8AC3E}">
        <p14:creationId xmlns:p14="http://schemas.microsoft.com/office/powerpoint/2010/main" val="337713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68" y="572356"/>
            <a:ext cx="9630032" cy="852616"/>
          </a:xfrm>
          <a:prstGeom prst="rect">
            <a:avLst/>
          </a:prstGeom>
        </p:spPr>
      </p:pic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9278" y="1424972"/>
            <a:ext cx="7186411" cy="685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7468" y="1474287"/>
            <a:ext cx="136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STEP-7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7148" y="2160162"/>
            <a:ext cx="971067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As previously stated, revenue increases retained earnings, and expenses and dividends </a:t>
            </a:r>
            <a:r>
              <a:rPr lang="en-US" sz="2800" dirty="0" smtClean="0"/>
              <a:t>decrease </a:t>
            </a:r>
            <a:r>
              <a:rPr lang="en-US" sz="2800" dirty="0"/>
              <a:t>retained earnings. If the only financial statement that we needed was a balance sheet, </a:t>
            </a:r>
            <a:r>
              <a:rPr lang="en-US" sz="2800" dirty="0" smtClean="0"/>
              <a:t>these </a:t>
            </a:r>
            <a:r>
              <a:rPr lang="en-US" sz="2800" dirty="0"/>
              <a:t>changes in retained earnings could be recorded directly in the Retained Earnings </a:t>
            </a:r>
            <a:r>
              <a:rPr lang="en-US" sz="2800" dirty="0" smtClean="0"/>
              <a:t>account</a:t>
            </a:r>
            <a:r>
              <a:rPr lang="en-US" sz="2800" dirty="0"/>
              <a:t>. </a:t>
            </a:r>
            <a:endParaRPr lang="en-US" sz="2800" dirty="0" smtClean="0"/>
          </a:p>
          <a:p>
            <a:pPr algn="just"/>
            <a:r>
              <a:rPr lang="en-US" sz="2800" dirty="0" smtClean="0"/>
              <a:t>However</a:t>
            </a:r>
            <a:r>
              <a:rPr lang="en-US" sz="2800" dirty="0"/>
              <a:t>, owners, managers, investors, and others need to know amounts of specific </a:t>
            </a:r>
            <a:r>
              <a:rPr lang="en-US" sz="2800" dirty="0" smtClean="0"/>
              <a:t>revenues </a:t>
            </a:r>
            <a:r>
              <a:rPr lang="en-US" sz="2800" dirty="0"/>
              <a:t>and expenses and the amount of net income earned in the period. Therefore,  </a:t>
            </a:r>
            <a:r>
              <a:rPr lang="en-US" sz="2800" i="1" dirty="0" smtClean="0">
                <a:solidFill>
                  <a:srgbClr val="C00000"/>
                </a:solidFill>
              </a:rPr>
              <a:t>separate ledger </a:t>
            </a:r>
            <a:r>
              <a:rPr lang="en-US" sz="2800" i="1" dirty="0">
                <a:solidFill>
                  <a:srgbClr val="C00000"/>
                </a:solidFill>
              </a:rPr>
              <a:t>accounts  </a:t>
            </a:r>
            <a:r>
              <a:rPr lang="en-US" sz="2800" dirty="0"/>
              <a:t>must be maintained to measure each type of revenue and expense, and </a:t>
            </a:r>
            <a:r>
              <a:rPr lang="en-US" sz="2800" dirty="0" smtClean="0"/>
              <a:t>to account </a:t>
            </a:r>
            <a:r>
              <a:rPr lang="en-US" sz="2800" dirty="0"/>
              <a:t>for dividends declared.</a:t>
            </a:r>
          </a:p>
        </p:txBody>
      </p:sp>
    </p:spTree>
    <p:extLst>
      <p:ext uri="{BB962C8B-B14F-4D97-AF65-F5344CB8AC3E}">
        <p14:creationId xmlns:p14="http://schemas.microsoft.com/office/powerpoint/2010/main" val="131273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321" y="1672710"/>
            <a:ext cx="10515600" cy="518529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Revenue, expense, and dividends accounts </a:t>
            </a:r>
            <a:r>
              <a:rPr lang="en-US" dirty="0"/>
              <a:t>are </a:t>
            </a:r>
            <a:r>
              <a:rPr lang="en-US" i="1" dirty="0">
                <a:solidFill>
                  <a:srgbClr val="00B0F0"/>
                </a:solidFill>
              </a:rPr>
              <a:t>called  temporary,  or  nominal</a:t>
            </a:r>
            <a:r>
              <a:rPr lang="en-US" dirty="0"/>
              <a:t>,  accounts, </a:t>
            </a:r>
            <a:r>
              <a:rPr lang="en-US" dirty="0" smtClean="0"/>
              <a:t>because </a:t>
            </a:r>
            <a:r>
              <a:rPr lang="en-US" dirty="0"/>
              <a:t>they accumulate the transactions of  only one accounting period.  </a:t>
            </a:r>
            <a:endParaRPr lang="en-US" dirty="0" smtClean="0"/>
          </a:p>
          <a:p>
            <a:pPr algn="just"/>
            <a:r>
              <a:rPr lang="en-US" dirty="0" smtClean="0"/>
              <a:t>At </a:t>
            </a:r>
            <a:r>
              <a:rPr lang="en-US" dirty="0"/>
              <a:t>the end of </a:t>
            </a:r>
            <a:r>
              <a:rPr lang="en-US" dirty="0" smtClean="0"/>
              <a:t>an </a:t>
            </a:r>
            <a:r>
              <a:rPr lang="en-US" dirty="0"/>
              <a:t>accounting period, the changes in retained earnings accumulated in these temporary </a:t>
            </a:r>
            <a:r>
              <a:rPr lang="en-US" dirty="0" smtClean="0"/>
              <a:t>accounts </a:t>
            </a:r>
            <a:r>
              <a:rPr lang="en-US" dirty="0"/>
              <a:t>are transferred into the Retained Earnings account. </a:t>
            </a:r>
            <a:r>
              <a:rPr lang="en-US" dirty="0" smtClean="0"/>
              <a:t>This </a:t>
            </a:r>
            <a:r>
              <a:rPr lang="en-US" dirty="0"/>
              <a:t>process serves two </a:t>
            </a:r>
            <a:r>
              <a:rPr lang="en-US" dirty="0" smtClean="0"/>
              <a:t>purposes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b="1" i="1" dirty="0" smtClean="0">
                <a:solidFill>
                  <a:srgbClr val="00B0F0"/>
                </a:solidFill>
              </a:rPr>
              <a:t>First</a:t>
            </a:r>
            <a:r>
              <a:rPr lang="en-US" b="1" i="1" dirty="0">
                <a:solidFill>
                  <a:srgbClr val="00B0F0"/>
                </a:solidFill>
              </a:rPr>
              <a:t>,</a:t>
            </a:r>
            <a:r>
              <a:rPr lang="en-US" dirty="0"/>
              <a:t> </a:t>
            </a:r>
            <a:r>
              <a:rPr lang="en-US" i="1" dirty="0"/>
              <a:t>it  updates the balance of the Retained Earnings account  for changes occurring </a:t>
            </a:r>
            <a:r>
              <a:rPr lang="en-US" i="1" dirty="0" smtClean="0"/>
              <a:t>during </a:t>
            </a:r>
            <a:r>
              <a:rPr lang="en-US" i="1" dirty="0"/>
              <a:t>the accounting period.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b="1" i="1" dirty="0" smtClean="0">
                <a:solidFill>
                  <a:srgbClr val="00B0F0"/>
                </a:solidFill>
              </a:rPr>
              <a:t>Second</a:t>
            </a:r>
            <a:r>
              <a:rPr lang="en-US" b="1" i="1" dirty="0">
                <a:solidFill>
                  <a:srgbClr val="00B0F0"/>
                </a:solidFill>
              </a:rPr>
              <a:t>, </a:t>
            </a:r>
            <a:r>
              <a:rPr lang="en-US" i="1" dirty="0"/>
              <a:t>it  returns the balances of the temporary accounts to </a:t>
            </a:r>
            <a:r>
              <a:rPr lang="en-US" b="1" i="1" dirty="0" smtClean="0"/>
              <a:t>zero</a:t>
            </a:r>
            <a:r>
              <a:rPr lang="en-US" b="1" i="1" dirty="0"/>
              <a:t>,  </a:t>
            </a:r>
            <a:r>
              <a:rPr lang="en-US" dirty="0"/>
              <a:t>so that they are ready for measuring the revenue, expenses, and dividends of the next </a:t>
            </a:r>
            <a:r>
              <a:rPr lang="en-US" dirty="0" smtClean="0"/>
              <a:t>accounting </a:t>
            </a:r>
            <a:r>
              <a:rPr lang="en-US" dirty="0"/>
              <a:t>period.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Temporary Accounts: 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89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Permanent Accounts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6676"/>
            <a:ext cx="10515600" cy="476028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B0F0"/>
                </a:solidFill>
              </a:rPr>
              <a:t>Retained Earnings and other balance sheet accounts are called  permanent,  or  real, </a:t>
            </a:r>
            <a:r>
              <a:rPr lang="en-US" dirty="0" smtClean="0">
                <a:solidFill>
                  <a:srgbClr val="00B0F0"/>
                </a:solidFill>
              </a:rPr>
              <a:t>accounts</a:t>
            </a:r>
            <a:r>
              <a:rPr lang="en-US" dirty="0"/>
              <a:t>, because their balances continue to exist beyond the current accounting period. </a:t>
            </a:r>
          </a:p>
          <a:p>
            <a:pPr algn="just"/>
            <a:r>
              <a:rPr lang="en-US" dirty="0"/>
              <a:t>Transferring the balances of the temporary accounts into the Retained Earnings account is </a:t>
            </a:r>
            <a:r>
              <a:rPr lang="en-US" dirty="0" smtClean="0"/>
              <a:t>called </a:t>
            </a:r>
            <a:r>
              <a:rPr lang="en-US" dirty="0"/>
              <a:t>the closing process. </a:t>
            </a:r>
            <a:endParaRPr lang="en-US" dirty="0" smtClean="0"/>
          </a:p>
          <a:p>
            <a:pPr algn="just"/>
            <a:r>
              <a:rPr lang="en-US" i="1" dirty="0" smtClean="0">
                <a:solidFill>
                  <a:srgbClr val="00B0F0"/>
                </a:solidFill>
              </a:rPr>
              <a:t>The </a:t>
            </a:r>
            <a:r>
              <a:rPr lang="en-US" i="1" dirty="0">
                <a:solidFill>
                  <a:srgbClr val="00B0F0"/>
                </a:solidFill>
              </a:rPr>
              <a:t>journal entries made for the purpose of closing the temporary </a:t>
            </a:r>
            <a:r>
              <a:rPr lang="en-US" i="1" dirty="0" smtClean="0">
                <a:solidFill>
                  <a:srgbClr val="00B0F0"/>
                </a:solidFill>
              </a:rPr>
              <a:t>accounts </a:t>
            </a:r>
            <a:r>
              <a:rPr lang="en-US" i="1" dirty="0">
                <a:solidFill>
                  <a:srgbClr val="00B0F0"/>
                </a:solidFill>
              </a:rPr>
              <a:t>are </a:t>
            </a:r>
            <a:r>
              <a:rPr lang="en-US" i="1" dirty="0"/>
              <a:t>called </a:t>
            </a:r>
            <a:r>
              <a:rPr lang="en-US" b="1" i="1" dirty="0"/>
              <a:t>c</a:t>
            </a:r>
            <a:r>
              <a:rPr lang="en-US" b="1" i="1" dirty="0" smtClean="0"/>
              <a:t>losing  entries</a:t>
            </a:r>
            <a:r>
              <a:rPr lang="en-US" i="1" dirty="0" smtClean="0"/>
              <a:t>.</a:t>
            </a:r>
          </a:p>
          <a:p>
            <a:pPr algn="just"/>
            <a:r>
              <a:rPr lang="en-US" i="1" dirty="0" smtClean="0">
                <a:solidFill>
                  <a:srgbClr val="C00000"/>
                </a:solidFill>
              </a:rPr>
              <a:t>While adjusting entries are usually made on a monthly basis</a:t>
            </a:r>
            <a:r>
              <a:rPr lang="en-US" i="1" dirty="0" smtClean="0"/>
              <a:t>, </a:t>
            </a:r>
            <a:r>
              <a:rPr lang="en-US" i="1" dirty="0">
                <a:solidFill>
                  <a:srgbClr val="0070C0"/>
                </a:solidFill>
              </a:rPr>
              <a:t>it is common practice to close </a:t>
            </a:r>
            <a:r>
              <a:rPr lang="en-US" i="1" dirty="0" smtClean="0">
                <a:solidFill>
                  <a:srgbClr val="0070C0"/>
                </a:solidFill>
              </a:rPr>
              <a:t>accounts </a:t>
            </a:r>
            <a:r>
              <a:rPr lang="en-US" i="1" dirty="0">
                <a:solidFill>
                  <a:srgbClr val="0070C0"/>
                </a:solidFill>
              </a:rPr>
              <a:t>only  once each </a:t>
            </a:r>
            <a:r>
              <a:rPr lang="en-US" i="1" dirty="0" smtClean="0">
                <a:solidFill>
                  <a:srgbClr val="0070C0"/>
                </a:solidFill>
              </a:rPr>
              <a:t>year</a:t>
            </a:r>
            <a:r>
              <a:rPr lang="en-US" i="1" dirty="0">
                <a:solidFill>
                  <a:srgbClr val="0070C0"/>
                </a:solidFill>
              </a:rPr>
              <a:t>.</a:t>
            </a:r>
            <a:r>
              <a:rPr lang="en-US" i="1" dirty="0"/>
              <a:t>  Thus, we will demonstrate the closing of the temporary accounts </a:t>
            </a:r>
            <a:r>
              <a:rPr lang="en-US" i="1" dirty="0" smtClean="0"/>
              <a:t>of </a:t>
            </a:r>
            <a:r>
              <a:rPr lang="en-US" i="1" dirty="0"/>
              <a:t>Overnight Auto Service at December 31, 2011, the end of its first year of operations. </a:t>
            </a:r>
          </a:p>
        </p:txBody>
      </p:sp>
    </p:spTree>
    <p:extLst>
      <p:ext uri="{BB962C8B-B14F-4D97-AF65-F5344CB8AC3E}">
        <p14:creationId xmlns:p14="http://schemas.microsoft.com/office/powerpoint/2010/main" val="128041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The closing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3950"/>
            <a:ext cx="10515600" cy="46830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closing process is relatively straightforward and </a:t>
            </a:r>
            <a:r>
              <a:rPr lang="en-US" dirty="0" smtClean="0"/>
              <a:t>involves </a:t>
            </a:r>
            <a:r>
              <a:rPr lang="en-US" dirty="0"/>
              <a:t>just four steps: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closing </a:t>
            </a:r>
            <a:r>
              <a:rPr lang="en-US" dirty="0"/>
              <a:t>all revenue accounts to the Income Summary, </a:t>
            </a:r>
          </a:p>
          <a:p>
            <a:pPr marL="514350" indent="-514350">
              <a:buAutoNum type="arabicParenBoth"/>
            </a:pPr>
            <a:r>
              <a:rPr lang="en-US" dirty="0" smtClean="0"/>
              <a:t>closing </a:t>
            </a:r>
            <a:r>
              <a:rPr lang="en-US" dirty="0"/>
              <a:t>all expense accounts to the Income Summary,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closing </a:t>
            </a:r>
            <a:r>
              <a:rPr lang="en-US" dirty="0"/>
              <a:t>the Income Summary to Retained </a:t>
            </a:r>
            <a:r>
              <a:rPr lang="en-US" dirty="0" smtClean="0"/>
              <a:t>Earnings</a:t>
            </a:r>
            <a:r>
              <a:rPr lang="en-US" dirty="0"/>
              <a:t>, and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closing </a:t>
            </a:r>
            <a:r>
              <a:rPr lang="en-US" dirty="0"/>
              <a:t>the </a:t>
            </a:r>
            <a:r>
              <a:rPr lang="en-US" dirty="0" smtClean="0"/>
              <a:t>Dividends </a:t>
            </a:r>
            <a:r>
              <a:rPr lang="en-US" dirty="0"/>
              <a:t>account to Retained Earnings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Again there is a need of adjusted trial balance of Overnight Auto service in order to know the exact amount of temporary accounts to close. So  a figure 5-1 is given again in next slide for referring the closing process.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38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8191" y="-1"/>
            <a:ext cx="7534141" cy="69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CLOSING ENTRIES FOR REVENUE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586"/>
            <a:ext cx="10515600" cy="464437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Overnight uses two revenue accounts: </a:t>
            </a:r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/>
              <a:t>1) Repair Service Revenue, which had a </a:t>
            </a:r>
            <a:r>
              <a:rPr lang="en-US" dirty="0" smtClean="0"/>
              <a:t>credit </a:t>
            </a:r>
            <a:r>
              <a:rPr lang="en-US" dirty="0"/>
              <a:t>balance of $172,000 at December 31, 2011, and </a:t>
            </a:r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/>
              <a:t>2) Rent Revenue Earned, which had a credit </a:t>
            </a:r>
            <a:r>
              <a:rPr lang="en-US" dirty="0" smtClean="0"/>
              <a:t>balance </a:t>
            </a:r>
            <a:r>
              <a:rPr lang="en-US" dirty="0"/>
              <a:t>of $3,000 at December 31, 2011. </a:t>
            </a:r>
            <a:endParaRPr lang="en-US" dirty="0" smtClean="0"/>
          </a:p>
          <a:p>
            <a:pPr algn="just"/>
            <a:r>
              <a:rPr lang="en-US" dirty="0" smtClean="0"/>
              <a:t>Two </a:t>
            </a:r>
            <a:r>
              <a:rPr lang="en-US" dirty="0"/>
              <a:t>separate journal entries could be made to close </a:t>
            </a:r>
            <a:r>
              <a:rPr lang="en-US" dirty="0" smtClean="0"/>
              <a:t>these </a:t>
            </a:r>
            <a:r>
              <a:rPr lang="en-US" dirty="0"/>
              <a:t>accounts, but the use of one  </a:t>
            </a:r>
            <a:r>
              <a:rPr lang="en-US" i="1" dirty="0">
                <a:solidFill>
                  <a:srgbClr val="0070C0"/>
                </a:solidFill>
              </a:rPr>
              <a:t>compound journal entry</a:t>
            </a:r>
            <a:r>
              <a:rPr lang="en-US" dirty="0"/>
              <a:t>  is an easier, time-saving method of </a:t>
            </a:r>
            <a:r>
              <a:rPr lang="en-US" dirty="0" smtClean="0"/>
              <a:t>closing </a:t>
            </a:r>
            <a:r>
              <a:rPr lang="en-US" dirty="0"/>
              <a:t>more than one account. The compound closing entry for Overnight’s revenue accounts </a:t>
            </a:r>
            <a:r>
              <a:rPr lang="en-US" dirty="0" smtClean="0"/>
              <a:t>is </a:t>
            </a:r>
            <a:r>
              <a:rPr lang="en-US" dirty="0"/>
              <a:t>displayed in  Exhibit 5–3.</a:t>
            </a:r>
          </a:p>
        </p:txBody>
      </p:sp>
    </p:spTree>
    <p:extLst>
      <p:ext uri="{BB962C8B-B14F-4D97-AF65-F5344CB8AC3E}">
        <p14:creationId xmlns:p14="http://schemas.microsoft.com/office/powerpoint/2010/main" val="1851816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824249"/>
            <a:ext cx="11806938" cy="35629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9398" y="4644768"/>
            <a:ext cx="97750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After this closing entry has been posted, the two revenue accounts each have  zero  balances, </a:t>
            </a:r>
            <a:r>
              <a:rPr lang="en-US" sz="2400" dirty="0" smtClean="0"/>
              <a:t>whereas </a:t>
            </a:r>
            <a:r>
              <a:rPr lang="en-US" sz="2400" dirty="0"/>
              <a:t>Income Summary has a credit balance of $175,000, as illustrated in  Exhibit 5–4 . </a:t>
            </a:r>
          </a:p>
        </p:txBody>
      </p:sp>
    </p:spTree>
    <p:extLst>
      <p:ext uri="{BB962C8B-B14F-4D97-AF65-F5344CB8AC3E}">
        <p14:creationId xmlns:p14="http://schemas.microsoft.com/office/powerpoint/2010/main" val="345761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981" y="1756077"/>
            <a:ext cx="8476243" cy="45159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96" y="565452"/>
            <a:ext cx="25241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7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CLOSING ENTRIES FOR EXPENSE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6676"/>
            <a:ext cx="10515600" cy="476028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Expense accounts have debit balances. Closing an expense account means transferring its </a:t>
            </a:r>
            <a:r>
              <a:rPr lang="en-US" dirty="0" smtClean="0"/>
              <a:t>debit </a:t>
            </a:r>
            <a:r>
              <a:rPr lang="en-US" dirty="0"/>
              <a:t>balance to the Income Summary account. The journal entry to close an expense, there-fore, consists of a credit to the expense account in an amount equal to its debit balance, with </a:t>
            </a:r>
            <a:r>
              <a:rPr lang="en-US" dirty="0" smtClean="0"/>
              <a:t>an </a:t>
            </a:r>
            <a:r>
              <a:rPr lang="en-US" dirty="0"/>
              <a:t>offsetting debit to the Income Summary account. </a:t>
            </a:r>
          </a:p>
          <a:p>
            <a:pPr algn="just"/>
            <a:r>
              <a:rPr lang="en-US" dirty="0" smtClean="0"/>
              <a:t>There </a:t>
            </a:r>
            <a:r>
              <a:rPr lang="en-US" dirty="0"/>
              <a:t>are </a:t>
            </a:r>
            <a:r>
              <a:rPr lang="en-US" dirty="0">
                <a:solidFill>
                  <a:srgbClr val="FFC000"/>
                </a:solidFill>
              </a:rPr>
              <a:t>nine expense accounts </a:t>
            </a:r>
            <a:r>
              <a:rPr lang="en-US" dirty="0"/>
              <a:t>in Overnight’s ledger (see the adjusted trial balance in </a:t>
            </a:r>
            <a:r>
              <a:rPr lang="en-US" dirty="0" smtClean="0"/>
              <a:t>Exhibit </a:t>
            </a:r>
            <a:r>
              <a:rPr lang="en-US" dirty="0"/>
              <a:t>5–1 ). Again, a </a:t>
            </a:r>
            <a:r>
              <a:rPr lang="en-US" dirty="0">
                <a:solidFill>
                  <a:srgbClr val="FFC000"/>
                </a:solidFill>
              </a:rPr>
              <a:t>compound journal entry</a:t>
            </a:r>
            <a:r>
              <a:rPr lang="en-US" dirty="0"/>
              <a:t> is used to close each of these accounts. The </a:t>
            </a:r>
            <a:r>
              <a:rPr lang="en-US" dirty="0" smtClean="0"/>
              <a:t>required </a:t>
            </a:r>
            <a:r>
              <a:rPr lang="en-US" dirty="0"/>
              <a:t>closing entry is displayed in  </a:t>
            </a:r>
            <a:r>
              <a:rPr lang="en-US" dirty="0">
                <a:solidFill>
                  <a:srgbClr val="FFC000"/>
                </a:solidFill>
              </a:rPr>
              <a:t>Exhibit </a:t>
            </a:r>
            <a:r>
              <a:rPr lang="en-US" dirty="0" smtClean="0">
                <a:solidFill>
                  <a:srgbClr val="FFC000"/>
                </a:solidFill>
              </a:rPr>
              <a:t>5–5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12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07" y="1323349"/>
            <a:ext cx="7456868" cy="49100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07" y="266074"/>
            <a:ext cx="2305050" cy="10572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7475" y="1793203"/>
            <a:ext cx="40375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After this closing entry has been posted, the Income Summary account has a  credit </a:t>
            </a:r>
            <a:r>
              <a:rPr lang="en-US" dirty="0" smtClean="0"/>
              <a:t>balance  </a:t>
            </a:r>
            <a:r>
              <a:rPr lang="en-US" dirty="0"/>
              <a:t>of  </a:t>
            </a:r>
            <a:r>
              <a:rPr lang="en-US" b="1" dirty="0">
                <a:solidFill>
                  <a:srgbClr val="FF0000"/>
                </a:solidFill>
              </a:rPr>
              <a:t>$39,942  </a:t>
            </a:r>
            <a:r>
              <a:rPr lang="en-US" dirty="0">
                <a:solidFill>
                  <a:srgbClr val="00B0F0"/>
                </a:solidFill>
              </a:rPr>
              <a:t>($175,000 credit posted minus the $135,058 debit posted</a:t>
            </a:r>
            <a:r>
              <a:rPr lang="en-US" dirty="0"/>
              <a:t>), and the nine </a:t>
            </a:r>
            <a:r>
              <a:rPr lang="en-US" dirty="0" smtClean="0"/>
              <a:t>expense </a:t>
            </a:r>
            <a:r>
              <a:rPr lang="en-US" dirty="0"/>
              <a:t>accounts each have  </a:t>
            </a:r>
            <a:r>
              <a:rPr lang="en-US" i="1" dirty="0">
                <a:solidFill>
                  <a:srgbClr val="00B0F0"/>
                </a:solidFill>
              </a:rPr>
              <a:t>zero balances  </a:t>
            </a:r>
            <a:r>
              <a:rPr lang="en-US" dirty="0"/>
              <a:t>as shown in  </a:t>
            </a:r>
            <a:r>
              <a:rPr lang="en-US" dirty="0">
                <a:solidFill>
                  <a:srgbClr val="00B0F0"/>
                </a:solidFill>
              </a:rPr>
              <a:t>Exhibit </a:t>
            </a:r>
            <a:r>
              <a:rPr lang="en-US" dirty="0" smtClean="0">
                <a:solidFill>
                  <a:srgbClr val="00B0F0"/>
                </a:solidFill>
              </a:rPr>
              <a:t>5–6 (shown in next slide) </a:t>
            </a:r>
            <a:r>
              <a:rPr lang="en-US" dirty="0"/>
              <a:t>. </a:t>
            </a:r>
            <a:r>
              <a:rPr lang="en-US" i="1" dirty="0">
                <a:solidFill>
                  <a:srgbClr val="C00000"/>
                </a:solidFill>
              </a:rPr>
              <a:t>This $39,942 credit </a:t>
            </a:r>
            <a:r>
              <a:rPr lang="en-US" i="1" dirty="0" smtClean="0">
                <a:solidFill>
                  <a:srgbClr val="C00000"/>
                </a:solidFill>
              </a:rPr>
              <a:t>balance </a:t>
            </a:r>
            <a:r>
              <a:rPr lang="en-US" i="1" dirty="0">
                <a:solidFill>
                  <a:srgbClr val="C00000"/>
                </a:solidFill>
              </a:rPr>
              <a:t>equals the net income reported in Overnight’s income statement. </a:t>
            </a:r>
            <a:endParaRPr lang="en-US" i="1" dirty="0" smtClean="0">
              <a:solidFill>
                <a:srgbClr val="C00000"/>
              </a:solidFill>
            </a:endParaRPr>
          </a:p>
          <a:p>
            <a:pPr algn="just"/>
            <a:r>
              <a:rPr lang="en-US" dirty="0" smtClean="0"/>
              <a:t>Had </a:t>
            </a:r>
            <a:r>
              <a:rPr lang="en-US" dirty="0"/>
              <a:t>the </a:t>
            </a:r>
            <a:r>
              <a:rPr lang="en-US" dirty="0" smtClean="0"/>
              <a:t>company’s </a:t>
            </a:r>
            <a:r>
              <a:rPr lang="en-US" dirty="0"/>
              <a:t>income statement reported a  net loss  for the year, the Income Summary account would </a:t>
            </a:r>
            <a:r>
              <a:rPr lang="en-US" dirty="0" smtClean="0"/>
              <a:t>have </a:t>
            </a:r>
            <a:r>
              <a:rPr lang="en-US" dirty="0"/>
              <a:t>a  debit balance  equal to the amount of the loss reported. </a:t>
            </a:r>
          </a:p>
        </p:txBody>
      </p:sp>
    </p:spTree>
    <p:extLst>
      <p:ext uri="{BB962C8B-B14F-4D97-AF65-F5344CB8AC3E}">
        <p14:creationId xmlns:p14="http://schemas.microsoft.com/office/powerpoint/2010/main" val="100461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625" y="479804"/>
            <a:ext cx="6966534" cy="63246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25" y="479804"/>
            <a:ext cx="2393036" cy="116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5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CLOSING  THE  INCOME  SUMMARY 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412" y="1297592"/>
            <a:ext cx="10933090" cy="4351338"/>
          </a:xfrm>
        </p:spPr>
        <p:txBody>
          <a:bodyPr/>
          <a:lstStyle/>
          <a:p>
            <a:pPr algn="just"/>
            <a:r>
              <a:rPr lang="en-US" dirty="0"/>
              <a:t>The net income of $39,942 earned during the year causes an increase in Overnight’s owners’ </a:t>
            </a:r>
            <a:r>
              <a:rPr lang="en-US" dirty="0" smtClean="0"/>
              <a:t>equity</a:t>
            </a:r>
            <a:r>
              <a:rPr lang="en-US" dirty="0"/>
              <a:t>. Thus, the $39,942 credit balance of the Income Summary account is transferred to the </a:t>
            </a:r>
            <a:r>
              <a:rPr lang="en-US" dirty="0" smtClean="0"/>
              <a:t>Retained </a:t>
            </a:r>
            <a:r>
              <a:rPr lang="en-US" dirty="0"/>
              <a:t>Earnings account by the closing entry in  Exhibit 5–7.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691" y="3311010"/>
            <a:ext cx="8380963" cy="29996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2" y="3311010"/>
            <a:ext cx="2064431" cy="96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0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9244"/>
            <a:ext cx="10515600" cy="6027313"/>
          </a:xfrm>
        </p:spPr>
        <p:txBody>
          <a:bodyPr/>
          <a:lstStyle/>
          <a:p>
            <a:pPr algn="just"/>
            <a:r>
              <a:rPr lang="en-US" dirty="0"/>
              <a:t>After this closing entry has been posted, the Income Summary account has a zero balance, </a:t>
            </a:r>
            <a:r>
              <a:rPr lang="en-US" dirty="0" smtClean="0"/>
              <a:t>and </a:t>
            </a:r>
            <a:r>
              <a:rPr lang="en-US" dirty="0"/>
              <a:t>the net income for the year ended December 31, 2011, appears as an increase (or credit </a:t>
            </a:r>
            <a:r>
              <a:rPr lang="en-US" dirty="0" smtClean="0"/>
              <a:t>entry</a:t>
            </a:r>
            <a:r>
              <a:rPr lang="en-US" dirty="0"/>
              <a:t>) in the Retained Earnings account as shown in  Exhibit 5–8 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54" y="2281304"/>
            <a:ext cx="10519290" cy="382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89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CLOSING  THE  DIVIDENDS 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282"/>
            <a:ext cx="10515600" cy="4824681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As explained earlier in the chapter, dividends to stockholders are  not  considered an expense </a:t>
            </a:r>
            <a:r>
              <a:rPr lang="en-US" sz="2000" dirty="0" smtClean="0"/>
              <a:t>of </a:t>
            </a:r>
            <a:r>
              <a:rPr lang="en-US" sz="2000" dirty="0"/>
              <a:t>the business; therefore, they are  not  taken into account in determining net income for the </a:t>
            </a:r>
            <a:r>
              <a:rPr lang="en-US" sz="2000" dirty="0" smtClean="0"/>
              <a:t>period</a:t>
            </a:r>
            <a:r>
              <a:rPr lang="en-US" sz="2000" dirty="0"/>
              <a:t>. </a:t>
            </a:r>
            <a:r>
              <a:rPr lang="en-US" sz="2000" dirty="0" smtClean="0"/>
              <a:t>Since dividends </a:t>
            </a:r>
            <a:r>
              <a:rPr lang="en-US" sz="2000" dirty="0"/>
              <a:t>are not an expense, the Dividends account is  not  closed to the Income </a:t>
            </a:r>
            <a:r>
              <a:rPr lang="en-US" sz="2000" dirty="0" smtClean="0"/>
              <a:t>Summary </a:t>
            </a:r>
            <a:r>
              <a:rPr lang="en-US" sz="2000" dirty="0"/>
              <a:t>account. Instead, it is closed directly to the Retained Earnings account, as shown </a:t>
            </a:r>
            <a:r>
              <a:rPr lang="en-US" sz="2000" dirty="0" smtClean="0"/>
              <a:t>in  </a:t>
            </a:r>
            <a:r>
              <a:rPr lang="en-US" sz="2000" dirty="0"/>
              <a:t>Exhibit 5–9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600" y="3028077"/>
            <a:ext cx="8828200" cy="35015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49" y="3147341"/>
            <a:ext cx="203835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3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9549"/>
            <a:ext cx="10515600" cy="5597414"/>
          </a:xfrm>
        </p:spPr>
        <p:txBody>
          <a:bodyPr/>
          <a:lstStyle/>
          <a:p>
            <a:pPr algn="just"/>
            <a:r>
              <a:rPr lang="en-US" dirty="0"/>
              <a:t>After this closing entry has been posted, the Dividends account will have a zero balance, </a:t>
            </a:r>
            <a:r>
              <a:rPr lang="en-US" dirty="0" smtClean="0"/>
              <a:t>and </a:t>
            </a:r>
            <a:r>
              <a:rPr lang="en-US" dirty="0"/>
              <a:t>the Retained Earnings account will have an ending credit balance of $25,942, as shown </a:t>
            </a:r>
            <a:r>
              <a:rPr lang="en-US" dirty="0" smtClean="0"/>
              <a:t>in  </a:t>
            </a:r>
            <a:r>
              <a:rPr lang="en-US" dirty="0"/>
              <a:t>Exhibit 5–10.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55" y="2337915"/>
            <a:ext cx="11379089" cy="348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06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378" y="1004552"/>
            <a:ext cx="10960939" cy="50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15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8034"/>
            <a:ext cx="11255062" cy="5648929"/>
          </a:xfrm>
        </p:spPr>
        <p:txBody>
          <a:bodyPr/>
          <a:lstStyle/>
          <a:p>
            <a:pPr algn="just"/>
            <a:r>
              <a:rPr lang="en-US" dirty="0"/>
              <a:t>The entire closing process is illustrated in  Exhibit 5–11  using T </a:t>
            </a:r>
            <a:r>
              <a:rPr lang="en-US" dirty="0" smtClean="0"/>
              <a:t>accounts.</a:t>
            </a:r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891" y="1416065"/>
            <a:ext cx="6550115" cy="54161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32" y="1416065"/>
            <a:ext cx="2159827" cy="102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85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STEP-8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After the revenue and expense accounts have been closed, it is desirable to prepare an </a:t>
            </a:r>
            <a:r>
              <a:rPr lang="en-US" dirty="0" smtClean="0"/>
              <a:t>after-closing  </a:t>
            </a:r>
            <a:r>
              <a:rPr lang="en-US" dirty="0"/>
              <a:t>trial  balance    that consists solely of balance sheet accounts. There is always the </a:t>
            </a:r>
            <a:r>
              <a:rPr lang="en-US" dirty="0" smtClean="0"/>
              <a:t>possibility </a:t>
            </a:r>
            <a:r>
              <a:rPr lang="en-US" dirty="0"/>
              <a:t>that an error in posting the closing entries may have upset the equality of debits </a:t>
            </a:r>
            <a:r>
              <a:rPr lang="en-US" dirty="0" smtClean="0"/>
              <a:t>and </a:t>
            </a:r>
            <a:r>
              <a:rPr lang="en-US" dirty="0"/>
              <a:t>credits in the ledger. The after-closing trial balance, or  post-closing trial balance  as it is </a:t>
            </a:r>
            <a:r>
              <a:rPr lang="en-US" dirty="0" smtClean="0"/>
              <a:t>often </a:t>
            </a:r>
            <a:r>
              <a:rPr lang="en-US" dirty="0"/>
              <a:t>called, is prepared from the ledger. It gives assurance that the accounts are in balance </a:t>
            </a:r>
            <a:r>
              <a:rPr lang="en-US" dirty="0" smtClean="0"/>
              <a:t>and </a:t>
            </a:r>
            <a:r>
              <a:rPr lang="en-US" dirty="0"/>
              <a:t>ready for recording transactions in the new accounting period. The after-closing trial </a:t>
            </a:r>
            <a:r>
              <a:rPr lang="en-US" dirty="0" smtClean="0"/>
              <a:t>balance </a:t>
            </a:r>
            <a:r>
              <a:rPr lang="en-US" dirty="0"/>
              <a:t>of Overnight Auto Service is shown in  Exhibit 5–12.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85" y="933241"/>
            <a:ext cx="9501262" cy="82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67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5937" y="295973"/>
            <a:ext cx="7227645" cy="6562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718" y="295973"/>
            <a:ext cx="1788219" cy="11294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2072" y="2526078"/>
            <a:ext cx="372628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comparison with the adjusted trial balance in  Exhibit 5–1 , an after-closing trial </a:t>
            </a:r>
            <a:r>
              <a:rPr lang="en-US" sz="2000" dirty="0" smtClean="0"/>
              <a:t>balance </a:t>
            </a:r>
            <a:r>
              <a:rPr lang="en-US" sz="2000" dirty="0"/>
              <a:t>contains only  balance sheet  accounts. </a:t>
            </a:r>
            <a:endParaRPr lang="en-US" sz="2000" dirty="0" smtClean="0"/>
          </a:p>
          <a:p>
            <a:pPr algn="just"/>
            <a:r>
              <a:rPr lang="en-US" sz="2000" dirty="0" smtClean="0"/>
              <a:t>Also</a:t>
            </a:r>
            <a:r>
              <a:rPr lang="en-US" sz="2000" dirty="0"/>
              <a:t>, the Retained Earnings account no longer </a:t>
            </a:r>
            <a:r>
              <a:rPr lang="en-US" sz="2000" dirty="0" smtClean="0"/>
              <a:t>has </a:t>
            </a:r>
            <a:r>
              <a:rPr lang="en-US" sz="2000" dirty="0"/>
              <a:t>a zero balance. Through the closing of the revenue, expense, and dividends accounts, the </a:t>
            </a:r>
            <a:r>
              <a:rPr lang="en-US" sz="2000" dirty="0" smtClean="0"/>
              <a:t>Retained </a:t>
            </a:r>
            <a:r>
              <a:rPr lang="en-US" sz="2000" dirty="0"/>
              <a:t>Earnings account has been brought up-to-date.</a:t>
            </a:r>
          </a:p>
        </p:txBody>
      </p:sp>
    </p:spTree>
    <p:extLst>
      <p:ext uri="{BB962C8B-B14F-4D97-AF65-F5344CB8AC3E}">
        <p14:creationId xmlns:p14="http://schemas.microsoft.com/office/powerpoint/2010/main" val="64270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1171</Words>
  <Application>Microsoft Office PowerPoint</Application>
  <PresentationFormat>Widescreen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AF1001 Fundamentals of Accounting  (BSE-3rd Semester)</vt:lpstr>
      <vt:lpstr>PowerPoint Presentation</vt:lpstr>
      <vt:lpstr>Temporary Accounts: </vt:lpstr>
      <vt:lpstr>Permanent Accounts </vt:lpstr>
      <vt:lpstr>The closing process</vt:lpstr>
      <vt:lpstr>PowerPoint Presentation</vt:lpstr>
      <vt:lpstr>CLOSING ENTRIES FOR REVENUE ACCOUNTS</vt:lpstr>
      <vt:lpstr>PowerPoint Presentation</vt:lpstr>
      <vt:lpstr>PowerPoint Presentation</vt:lpstr>
      <vt:lpstr>CLOSING ENTRIES FOR EXPENSE ACCOUNTS</vt:lpstr>
      <vt:lpstr>PowerPoint Presentation</vt:lpstr>
      <vt:lpstr>PowerPoint Presentation</vt:lpstr>
      <vt:lpstr>CLOSING  THE  INCOME  SUMMARY  ACCOUNT</vt:lpstr>
      <vt:lpstr>PowerPoint Presentation</vt:lpstr>
      <vt:lpstr>CLOSING  THE  DIVIDENDS  ACCOUNT</vt:lpstr>
      <vt:lpstr>PowerPoint Presentation</vt:lpstr>
      <vt:lpstr>PowerPoint Presentation</vt:lpstr>
      <vt:lpstr>PowerPoint Presentation</vt:lpstr>
      <vt:lpstr>STEP-8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AF1001 Fundamentals of Accounting  (BSE-3rd Semester)</dc:title>
  <dc:creator>DELL</dc:creator>
  <cp:lastModifiedBy>DELL</cp:lastModifiedBy>
  <cp:revision>85</cp:revision>
  <dcterms:created xsi:type="dcterms:W3CDTF">2024-08-25T14:58:19Z</dcterms:created>
  <dcterms:modified xsi:type="dcterms:W3CDTF">2024-10-27T12:00:02Z</dcterms:modified>
</cp:coreProperties>
</file>