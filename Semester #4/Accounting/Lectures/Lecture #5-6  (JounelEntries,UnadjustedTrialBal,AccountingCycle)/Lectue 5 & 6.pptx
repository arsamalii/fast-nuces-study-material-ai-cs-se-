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77"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6" r:id="rId30"/>
    <p:sldId id="307" r:id="rId31"/>
    <p:sldId id="305" r:id="rId32"/>
    <p:sldId id="308" r:id="rId33"/>
    <p:sldId id="309" r:id="rId34"/>
    <p:sldId id="310" r:id="rId35"/>
    <p:sldId id="311" r:id="rId36"/>
    <p:sldId id="312" r:id="rId37"/>
    <p:sldId id="313" r:id="rId38"/>
    <p:sldId id="314" r:id="rId39"/>
    <p:sldId id="315" r:id="rId40"/>
    <p:sldId id="316" r:id="rId41"/>
    <p:sldId id="317" r:id="rId42"/>
    <p:sldId id="318" r:id="rId43"/>
    <p:sldId id="31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23" d="100"/>
          <a:sy n="123" d="100"/>
        </p:scale>
        <p:origin x="11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18BE1-9129-441D-A0C5-2B896745D7F4}" type="datetimeFigureOut">
              <a:rPr lang="en-US" smtClean="0"/>
              <a:t>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A7E0F-4FBA-41A8-9F1A-2A42CF470E3B}" type="slidenum">
              <a:rPr lang="en-US" smtClean="0"/>
              <a:t>‹#›</a:t>
            </a:fld>
            <a:endParaRPr lang="en-US"/>
          </a:p>
        </p:txBody>
      </p:sp>
    </p:spTree>
    <p:extLst>
      <p:ext uri="{BB962C8B-B14F-4D97-AF65-F5344CB8AC3E}">
        <p14:creationId xmlns:p14="http://schemas.microsoft.com/office/powerpoint/2010/main" val="4293835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B3A1FCA-C52F-4C50-B55E-CF166DA1E9EB}"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99468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084820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A1FCA-C52F-4C50-B55E-CF166DA1E9EB}"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232416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3A1FCA-C52F-4C50-B55E-CF166DA1E9EB}"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99990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A1FCA-C52F-4C50-B55E-CF166DA1E9EB}" type="datetimeFigureOut">
              <a:rPr lang="en-US" smtClean="0"/>
              <a:t>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104147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3A1FCA-C52F-4C50-B55E-CF166DA1E9EB}" type="datetimeFigureOut">
              <a:rPr lang="en-US" smtClean="0"/>
              <a:t>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7527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A1FCA-C52F-4C50-B55E-CF166DA1E9EB}" type="datetimeFigureOut">
              <a:rPr lang="en-US" smtClean="0"/>
              <a:t>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430223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18345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3A1FCA-C52F-4C50-B55E-CF166DA1E9EB}" type="datetimeFigureOut">
              <a:rPr lang="en-US" smtClean="0"/>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335830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854847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A1FCA-C52F-4C50-B55E-CF166DA1E9EB}" type="datetimeFigureOut">
              <a:rPr lang="en-US" smtClean="0"/>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A03359-C665-475E-A98C-15B4203E2306}" type="slidenum">
              <a:rPr lang="en-US" smtClean="0"/>
              <a:t>‹#›</a:t>
            </a:fld>
            <a:endParaRPr lang="en-US"/>
          </a:p>
        </p:txBody>
      </p:sp>
    </p:spTree>
    <p:extLst>
      <p:ext uri="{BB962C8B-B14F-4D97-AF65-F5344CB8AC3E}">
        <p14:creationId xmlns:p14="http://schemas.microsoft.com/office/powerpoint/2010/main" val="294876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A1FCA-C52F-4C50-B55E-CF166DA1E9EB}" type="datetimeFigureOut">
              <a:rPr lang="en-US" smtClean="0"/>
              <a:t>2/27/2025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A03359-C665-475E-A98C-15B4203E2306}" type="slidenum">
              <a:rPr lang="en-US" smtClean="0"/>
              <a:t>‹#›</a:t>
            </a:fld>
            <a:endParaRPr lang="en-US"/>
          </a:p>
        </p:txBody>
      </p:sp>
    </p:spTree>
    <p:extLst>
      <p:ext uri="{BB962C8B-B14F-4D97-AF65-F5344CB8AC3E}">
        <p14:creationId xmlns:p14="http://schemas.microsoft.com/office/powerpoint/2010/main" val="1044358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culator, pen, compass, money and a paper with graphs printed on it">
            <a:extLst>
              <a:ext uri="{FF2B5EF4-FFF2-40B4-BE49-F238E27FC236}">
                <a16:creationId xmlns:a16="http://schemas.microsoft.com/office/drawing/2014/main" id="{7D323425-073A-90A2-2EC1-1AD7854567DB}"/>
              </a:ext>
            </a:extLst>
          </p:cNvPr>
          <p:cNvPicPr>
            <a:picLocks noChangeAspect="1"/>
          </p:cNvPicPr>
          <p:nvPr/>
        </p:nvPicPr>
        <p:blipFill>
          <a:blip r:embed="rId2">
            <a:alphaModFix amt="50000"/>
          </a:blip>
          <a:srcRect b="6639"/>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b="1">
                <a:solidFill>
                  <a:srgbClr val="FFFFFF"/>
                </a:solidFill>
              </a:rPr>
              <a:t>AF1001 Fundamentals of Accounting </a:t>
            </a:r>
            <a:br>
              <a:rPr lang="en-US" b="1">
                <a:solidFill>
                  <a:srgbClr val="FFFFFF"/>
                </a:solidFill>
              </a:rPr>
            </a:br>
            <a:r>
              <a:rPr lang="en-US" b="1">
                <a:solidFill>
                  <a:srgbClr val="FFFFFF"/>
                </a:solidFill>
              </a:rPr>
              <a:t>(BSE-3rd Semester)</a:t>
            </a:r>
          </a:p>
        </p:txBody>
      </p:sp>
      <p:sp>
        <p:nvSpPr>
          <p:cNvPr id="3" name="Subtitle 2"/>
          <p:cNvSpPr>
            <a:spLocks noGrp="1"/>
          </p:cNvSpPr>
          <p:nvPr>
            <p:ph type="subTitle" idx="1"/>
          </p:nvPr>
        </p:nvSpPr>
        <p:spPr>
          <a:xfrm>
            <a:off x="1524000" y="4159404"/>
            <a:ext cx="9144000" cy="1098395"/>
          </a:xfrm>
        </p:spPr>
        <p:txBody>
          <a:bodyPr>
            <a:normAutofit/>
          </a:bodyPr>
          <a:lstStyle/>
          <a:p>
            <a:r>
              <a:rPr lang="en-US" sz="1700" dirty="0">
                <a:solidFill>
                  <a:srgbClr val="FFFFFF"/>
                </a:solidFill>
              </a:rPr>
              <a:t>Mr. Sami Ullah </a:t>
            </a:r>
          </a:p>
          <a:p>
            <a:r>
              <a:rPr lang="en-US" sz="1700" dirty="0">
                <a:solidFill>
                  <a:srgbClr val="FFFFFF"/>
                </a:solidFill>
              </a:rPr>
              <a:t>Lecturer NU </a:t>
            </a:r>
            <a:r>
              <a:rPr lang="en-US" sz="1700">
                <a:solidFill>
                  <a:srgbClr val="FFFFFF"/>
                </a:solidFill>
              </a:rPr>
              <a:t>Fast Peshawar</a:t>
            </a:r>
            <a:endParaRPr lang="en-US" sz="1700" dirty="0">
              <a:solidFill>
                <a:srgbClr val="FFFFFF"/>
              </a:solidFill>
            </a:endParaRPr>
          </a:p>
        </p:txBody>
      </p:sp>
    </p:spTree>
    <p:extLst>
      <p:ext uri="{BB962C8B-B14F-4D97-AF65-F5344CB8AC3E}">
        <p14:creationId xmlns:p14="http://schemas.microsoft.com/office/powerpoint/2010/main" val="3377136030"/>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5946" y="881449"/>
            <a:ext cx="9630032" cy="852616"/>
          </a:xfrm>
          <a:prstGeom prst="rect">
            <a:avLst/>
          </a:prstGeom>
        </p:spPr>
      </p:pic>
      <p:sp>
        <p:nvSpPr>
          <p:cNvPr id="3" name="Content Placeholder 2"/>
          <p:cNvSpPr>
            <a:spLocks noGrp="1"/>
          </p:cNvSpPr>
          <p:nvPr>
            <p:ph idx="1"/>
          </p:nvPr>
        </p:nvSpPr>
        <p:spPr/>
        <p:txBody>
          <a:bodyPr/>
          <a:lstStyle/>
          <a:p>
            <a:pPr algn="just"/>
            <a:r>
              <a:rPr lang="en-US">
                <a:solidFill>
                  <a:srgbClr val="00B050"/>
                </a:solidFill>
              </a:rPr>
              <a:t>The sequence of accounting procedures used to record, classify, and summarize accounting information in financial reports at regular intervals is often termed the </a:t>
            </a:r>
            <a:r>
              <a:rPr lang="en-US" b="1">
                <a:solidFill>
                  <a:srgbClr val="00B050"/>
                </a:solidFill>
              </a:rPr>
              <a:t>accounting cycle. </a:t>
            </a:r>
          </a:p>
          <a:p>
            <a:pPr algn="just"/>
            <a:r>
              <a:rPr lang="en-US"/>
              <a:t>The accounting cycle begins with the initial </a:t>
            </a:r>
            <a:r>
              <a:rPr lang="en-US">
                <a:solidFill>
                  <a:srgbClr val="FF0000"/>
                </a:solidFill>
              </a:rPr>
              <a:t>recording of business transactions</a:t>
            </a:r>
            <a:r>
              <a:rPr lang="en-US"/>
              <a:t> and </a:t>
            </a:r>
            <a:r>
              <a:rPr lang="en-US">
                <a:solidFill>
                  <a:srgbClr val="FF0000"/>
                </a:solidFill>
              </a:rPr>
              <a:t>concludes with the preparation of a complete set of formal financial statements</a:t>
            </a:r>
            <a:r>
              <a:rPr lang="en-US"/>
              <a:t>. </a:t>
            </a:r>
          </a:p>
          <a:p>
            <a:pPr algn="just"/>
            <a:r>
              <a:rPr lang="en-US"/>
              <a:t>The term </a:t>
            </a:r>
            <a:r>
              <a:rPr lang="en-US" b="1"/>
              <a:t>cycle</a:t>
            </a:r>
            <a:r>
              <a:rPr lang="en-US"/>
              <a:t> indicates that these procedures must be repeated continuously to enable the business to prepare new, up-to-date financial statements at reasonable intervals. </a:t>
            </a:r>
            <a:endParaRPr lang="en-US" dirty="0"/>
          </a:p>
        </p:txBody>
      </p:sp>
    </p:spTree>
    <p:extLst>
      <p:ext uri="{BB962C8B-B14F-4D97-AF65-F5344CB8AC3E}">
        <p14:creationId xmlns:p14="http://schemas.microsoft.com/office/powerpoint/2010/main" val="131273989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Steps in Accounting Cycle: </a:t>
            </a:r>
          </a:p>
        </p:txBody>
      </p:sp>
      <p:sp>
        <p:nvSpPr>
          <p:cNvPr id="3" name="Content Placeholder 2"/>
          <p:cNvSpPr>
            <a:spLocks noGrp="1"/>
          </p:cNvSpPr>
          <p:nvPr>
            <p:ph idx="1"/>
          </p:nvPr>
        </p:nvSpPr>
        <p:spPr>
          <a:xfrm>
            <a:off x="838200" y="1367481"/>
            <a:ext cx="10515600" cy="4809482"/>
          </a:xfrm>
        </p:spPr>
        <p:txBody>
          <a:bodyPr/>
          <a:lstStyle/>
          <a:p>
            <a:r>
              <a:rPr lang="en-US" dirty="0"/>
              <a:t>The accounting cycle generally consists of eight specific steps. In this chapter, we illustrate how businesses </a:t>
            </a:r>
            <a:r>
              <a:rPr lang="en-US" b="1" dirty="0">
                <a:solidFill>
                  <a:srgbClr val="FF0000"/>
                </a:solidFill>
              </a:rPr>
              <a:t>(1) journalize (record) transactions</a:t>
            </a:r>
            <a:r>
              <a:rPr lang="en-US" dirty="0"/>
              <a:t>, </a:t>
            </a:r>
            <a:r>
              <a:rPr lang="en-US" b="1" dirty="0"/>
              <a:t>(2) </a:t>
            </a:r>
            <a:r>
              <a:rPr lang="en-US" b="1" dirty="0">
                <a:solidFill>
                  <a:srgbClr val="00B050"/>
                </a:solidFill>
              </a:rPr>
              <a:t>post each journal entry to the appropriate ledger accounts</a:t>
            </a:r>
            <a:r>
              <a:rPr lang="en-US" dirty="0"/>
              <a:t>, and</a:t>
            </a:r>
            <a:r>
              <a:rPr lang="en-US" b="1" dirty="0"/>
              <a:t> (3) </a:t>
            </a:r>
            <a:r>
              <a:rPr lang="en-US" b="1" dirty="0">
                <a:solidFill>
                  <a:srgbClr val="FFC000"/>
                </a:solidFill>
              </a:rPr>
              <a:t>prepare a </a:t>
            </a:r>
            <a:r>
              <a:rPr lang="en-US" b="1">
                <a:solidFill>
                  <a:srgbClr val="FFC000"/>
                </a:solidFill>
              </a:rPr>
              <a:t>trial balance.</a:t>
            </a:r>
            <a:endParaRPr lang="en-US" dirty="0"/>
          </a:p>
          <a:p>
            <a:r>
              <a:rPr lang="en-US" dirty="0"/>
              <a:t>The remaining steps of the cycle will be addressed in Chapters 4 and 5. They include</a:t>
            </a:r>
            <a:r>
              <a:rPr lang="en-US" b="1" dirty="0"/>
              <a:t> (4) </a:t>
            </a:r>
            <a:r>
              <a:rPr lang="en-US" b="1" dirty="0">
                <a:solidFill>
                  <a:srgbClr val="FF0000"/>
                </a:solidFill>
              </a:rPr>
              <a:t>making end-of-period adjustments</a:t>
            </a:r>
            <a:r>
              <a:rPr lang="en-US" dirty="0"/>
              <a:t>,</a:t>
            </a:r>
            <a:r>
              <a:rPr lang="en-US" b="1" dirty="0"/>
              <a:t> (5) </a:t>
            </a:r>
            <a:r>
              <a:rPr lang="en-US" b="1" dirty="0">
                <a:solidFill>
                  <a:srgbClr val="00B050"/>
                </a:solidFill>
              </a:rPr>
              <a:t>preparing an adjusted trial balance</a:t>
            </a:r>
            <a:r>
              <a:rPr lang="en-US" dirty="0"/>
              <a:t>, </a:t>
            </a:r>
            <a:r>
              <a:rPr lang="en-US" b="1" dirty="0"/>
              <a:t>(6) </a:t>
            </a:r>
            <a:r>
              <a:rPr lang="en-US" b="1" dirty="0">
                <a:solidFill>
                  <a:srgbClr val="FFC000"/>
                </a:solidFill>
              </a:rPr>
              <a:t>preparing financial statements</a:t>
            </a:r>
            <a:r>
              <a:rPr lang="en-US" dirty="0"/>
              <a:t>, </a:t>
            </a:r>
            <a:r>
              <a:rPr lang="en-US" b="1" dirty="0"/>
              <a:t>(7) </a:t>
            </a:r>
            <a:r>
              <a:rPr lang="en-US" b="1" dirty="0">
                <a:solidFill>
                  <a:srgbClr val="C00000"/>
                </a:solidFill>
              </a:rPr>
              <a:t>journalizing and posting closing entries</a:t>
            </a:r>
            <a:r>
              <a:rPr lang="en-US" dirty="0"/>
              <a:t>, and </a:t>
            </a:r>
            <a:r>
              <a:rPr lang="en-US" b="1" dirty="0"/>
              <a:t>(8) </a:t>
            </a:r>
            <a:r>
              <a:rPr lang="en-US" b="1" dirty="0">
                <a:solidFill>
                  <a:srgbClr val="7030A0"/>
                </a:solidFill>
              </a:rPr>
              <a:t>preparing an after-closing trial balance (Post-closing Trial balance). </a:t>
            </a:r>
          </a:p>
        </p:txBody>
      </p:sp>
    </p:spTree>
    <p:extLst>
      <p:ext uri="{BB962C8B-B14F-4D97-AF65-F5344CB8AC3E}">
        <p14:creationId xmlns:p14="http://schemas.microsoft.com/office/powerpoint/2010/main" val="330986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THE ROLE OF ACCOUNTING RECORDS</a:t>
            </a:r>
          </a:p>
        </p:txBody>
      </p:sp>
      <p:sp>
        <p:nvSpPr>
          <p:cNvPr id="3" name="Content Placeholder 2"/>
          <p:cNvSpPr>
            <a:spLocks noGrp="1"/>
          </p:cNvSpPr>
          <p:nvPr>
            <p:ph idx="1"/>
          </p:nvPr>
        </p:nvSpPr>
        <p:spPr>
          <a:xfrm>
            <a:off x="838200" y="1416908"/>
            <a:ext cx="10515600" cy="4760055"/>
          </a:xfrm>
        </p:spPr>
        <p:txBody>
          <a:bodyPr>
            <a:normAutofit fontScale="77500" lnSpcReduction="20000"/>
          </a:bodyPr>
          <a:lstStyle/>
          <a:p>
            <a:pPr marL="0" indent="0" algn="just">
              <a:buNone/>
            </a:pPr>
            <a:r>
              <a:rPr lang="en-US" dirty="0"/>
              <a:t>The cyclical process of collecting financial information and maintaining accounting records does far more than facilitate the preparation of financial statements. Managers and employees of a business frequently use the information stored in the accounting records for such purposes as: </a:t>
            </a:r>
          </a:p>
          <a:p>
            <a:pPr marL="0" indent="0" algn="just">
              <a:buNone/>
            </a:pPr>
            <a:endParaRPr lang="en-US" dirty="0"/>
          </a:p>
          <a:p>
            <a:pPr marL="0" indent="0" algn="just">
              <a:buNone/>
            </a:pPr>
            <a:r>
              <a:rPr lang="en-US" dirty="0"/>
              <a:t>1. </a:t>
            </a:r>
            <a:r>
              <a:rPr lang="en-US" dirty="0">
                <a:solidFill>
                  <a:srgbClr val="7030A0"/>
                </a:solidFill>
              </a:rPr>
              <a:t>Establishing accountability </a:t>
            </a:r>
            <a:r>
              <a:rPr lang="en-US" dirty="0"/>
              <a:t>for the assets and/or transactions under an individual’s control. </a:t>
            </a:r>
          </a:p>
          <a:p>
            <a:pPr marL="0" indent="0" algn="just">
              <a:buNone/>
            </a:pPr>
            <a:r>
              <a:rPr lang="en-US" dirty="0"/>
              <a:t>2. </a:t>
            </a:r>
            <a:r>
              <a:rPr lang="en-US" dirty="0">
                <a:solidFill>
                  <a:srgbClr val="7030A0"/>
                </a:solidFill>
              </a:rPr>
              <a:t>Keeping track of routine business activities</a:t>
            </a:r>
            <a:r>
              <a:rPr lang="en-US" dirty="0"/>
              <a:t>—such as the amounts of money in company bank accounts, amounts due from credit customers, or amounts owed to suppliers. </a:t>
            </a:r>
          </a:p>
          <a:p>
            <a:pPr marL="0" indent="0" algn="just">
              <a:buNone/>
            </a:pPr>
            <a:r>
              <a:rPr lang="en-US" dirty="0"/>
              <a:t>3. </a:t>
            </a:r>
            <a:r>
              <a:rPr lang="en-US" dirty="0">
                <a:solidFill>
                  <a:srgbClr val="7030A0"/>
                </a:solidFill>
              </a:rPr>
              <a:t>Obtaining detailed information </a:t>
            </a:r>
            <a:r>
              <a:rPr lang="en-US" dirty="0"/>
              <a:t>about a particular transaction. </a:t>
            </a:r>
          </a:p>
          <a:p>
            <a:pPr marL="0" indent="0" algn="just">
              <a:buNone/>
            </a:pPr>
            <a:r>
              <a:rPr lang="en-US" dirty="0"/>
              <a:t>4. </a:t>
            </a:r>
            <a:r>
              <a:rPr lang="en-US" dirty="0">
                <a:solidFill>
                  <a:srgbClr val="7030A0"/>
                </a:solidFill>
              </a:rPr>
              <a:t>Evaluating the efficiency and performance </a:t>
            </a:r>
            <a:r>
              <a:rPr lang="en-US" dirty="0"/>
              <a:t>of various departments within the organization. </a:t>
            </a:r>
          </a:p>
          <a:p>
            <a:pPr marL="0" indent="0" algn="just">
              <a:buNone/>
            </a:pPr>
            <a:r>
              <a:rPr lang="en-US" dirty="0"/>
              <a:t>5. </a:t>
            </a:r>
            <a:r>
              <a:rPr lang="en-US" dirty="0">
                <a:solidFill>
                  <a:srgbClr val="7030A0"/>
                </a:solidFill>
              </a:rPr>
              <a:t>Maintaining documentary evidence </a:t>
            </a:r>
            <a:r>
              <a:rPr lang="en-US" dirty="0"/>
              <a:t>of the company’s business activities. (For example, tax laws require companies to maintain accounting records supporting the amounts reported in tax returns.) </a:t>
            </a:r>
          </a:p>
        </p:txBody>
      </p:sp>
    </p:spTree>
    <p:extLst>
      <p:ext uri="{BB962C8B-B14F-4D97-AF65-F5344CB8AC3E}">
        <p14:creationId xmlns:p14="http://schemas.microsoft.com/office/powerpoint/2010/main" val="582821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4184" y="799071"/>
            <a:ext cx="9563100" cy="733425"/>
          </a:xfrm>
          <a:prstGeom prst="rect">
            <a:avLst/>
          </a:prstGeom>
        </p:spPr>
      </p:pic>
      <p:sp>
        <p:nvSpPr>
          <p:cNvPr id="3" name="Content Placeholder 2"/>
          <p:cNvSpPr>
            <a:spLocks noGrp="1"/>
          </p:cNvSpPr>
          <p:nvPr>
            <p:ph idx="1"/>
          </p:nvPr>
        </p:nvSpPr>
        <p:spPr/>
        <p:txBody>
          <a:bodyPr/>
          <a:lstStyle/>
          <a:p>
            <a:pPr algn="just"/>
            <a:r>
              <a:rPr lang="en-US" dirty="0"/>
              <a:t>In an actual accounting system, the information about each business transaction is initially recorded in an accounting record called the journal. This information is later transferred to the appropriate accounts in the general ledger.</a:t>
            </a:r>
          </a:p>
          <a:p>
            <a:pPr algn="just"/>
            <a:r>
              <a:rPr lang="en-US" b="1" dirty="0">
                <a:solidFill>
                  <a:srgbClr val="7030A0"/>
                </a:solidFill>
              </a:rPr>
              <a:t>The journal is a chronological (day-by-day) record of business transactions</a:t>
            </a:r>
            <a:r>
              <a:rPr lang="en-US" dirty="0"/>
              <a:t>. At convenient intervals, the debit and credit amounts recorded in the journal are transferred (posted) to the accounts in the ledger. The updated ledger accounts, in turn, serve as the basis for preparing the company’s financial statements.</a:t>
            </a:r>
          </a:p>
        </p:txBody>
      </p:sp>
    </p:spTree>
    <p:extLst>
      <p:ext uri="{BB962C8B-B14F-4D97-AF65-F5344CB8AC3E}">
        <p14:creationId xmlns:p14="http://schemas.microsoft.com/office/powerpoint/2010/main" val="3386852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027"/>
            <a:ext cx="10515600" cy="5517936"/>
          </a:xfrm>
        </p:spPr>
        <p:txBody>
          <a:bodyPr>
            <a:normAutofit/>
          </a:bodyPr>
          <a:lstStyle/>
          <a:p>
            <a:pPr algn="just"/>
            <a:r>
              <a:rPr lang="en-US" dirty="0"/>
              <a:t>To illustrate the most basic type of journal, called a general journal, let us examine the very first business transaction of Overnight Auto Service. </a:t>
            </a:r>
          </a:p>
          <a:p>
            <a:pPr algn="just"/>
            <a:r>
              <a:rPr lang="en-US" dirty="0"/>
              <a:t>On January 20, 2011, the </a:t>
            </a:r>
            <a:r>
              <a:rPr lang="en-US" dirty="0" err="1"/>
              <a:t>McBryan</a:t>
            </a:r>
            <a:r>
              <a:rPr lang="en-US" dirty="0"/>
              <a:t> family invested $80,000 in exchange for capital stock. Thus, the asset Cash increased by $80,000, and the owners’ equity account Capital Stock increased by the same amount.</a:t>
            </a:r>
          </a:p>
          <a:p>
            <a:pPr algn="just"/>
            <a:r>
              <a:rPr lang="en-US" dirty="0"/>
              <a:t>Applying the debit and credit rules discussed previously, we know that increases in assets are recorded by debits, whereas increases in owners’ equity are recorded by credits. As such, this event requires a debit to Cash and a credit to Capital Stock in the amount of $80,000. The transaction is recorded in the company’s general journal as illustrated in Exhibit 3–1 . </a:t>
            </a:r>
          </a:p>
        </p:txBody>
      </p:sp>
    </p:spTree>
    <p:extLst>
      <p:ext uri="{BB962C8B-B14F-4D97-AF65-F5344CB8AC3E}">
        <p14:creationId xmlns:p14="http://schemas.microsoft.com/office/powerpoint/2010/main" val="143522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6843" y="716693"/>
            <a:ext cx="8370768" cy="2751408"/>
          </a:xfrm>
          <a:prstGeom prst="rect">
            <a:avLst/>
          </a:prstGeom>
        </p:spPr>
      </p:pic>
      <p:sp>
        <p:nvSpPr>
          <p:cNvPr id="5" name="Rectangle 4"/>
          <p:cNvSpPr/>
          <p:nvPr/>
        </p:nvSpPr>
        <p:spPr>
          <a:xfrm>
            <a:off x="1036843" y="3468101"/>
            <a:ext cx="8370768" cy="2308324"/>
          </a:xfrm>
          <a:prstGeom prst="rect">
            <a:avLst/>
          </a:prstGeom>
        </p:spPr>
        <p:txBody>
          <a:bodyPr wrap="square">
            <a:spAutoFit/>
          </a:bodyPr>
          <a:lstStyle/>
          <a:p>
            <a:r>
              <a:rPr lang="en-US" dirty="0"/>
              <a:t>Note the basic characteristics of this general journal entry:</a:t>
            </a:r>
          </a:p>
          <a:p>
            <a:endParaRPr lang="en-US" dirty="0"/>
          </a:p>
          <a:p>
            <a:pPr marL="342900" indent="-342900">
              <a:buAutoNum type="arabicPeriod"/>
            </a:pPr>
            <a:r>
              <a:rPr lang="en-US" dirty="0">
                <a:solidFill>
                  <a:srgbClr val="FF0000"/>
                </a:solidFill>
              </a:rPr>
              <a:t>The name of the account debited (Cash) is written first, and the dollar amount to be debited appears in the left-hand money column. </a:t>
            </a:r>
          </a:p>
          <a:p>
            <a:pPr marL="342900" indent="-342900">
              <a:buAutoNum type="arabicPeriod"/>
            </a:pPr>
            <a:r>
              <a:rPr lang="en-US" dirty="0">
                <a:solidFill>
                  <a:srgbClr val="00B050"/>
                </a:solidFill>
              </a:rPr>
              <a:t>The name of the account credited (Capital Stock) appears below the account debited and is indented to the right. The dollar amount appears in the right-hand money column. </a:t>
            </a:r>
          </a:p>
          <a:p>
            <a:pPr marL="342900" indent="-342900">
              <a:buAutoNum type="arabicPeriod"/>
            </a:pPr>
            <a:r>
              <a:rPr lang="en-US" dirty="0">
                <a:solidFill>
                  <a:srgbClr val="00B0F0"/>
                </a:solidFill>
              </a:rPr>
              <a:t>A brief description of the transaction appears immediately below the journal entry.</a:t>
            </a:r>
          </a:p>
        </p:txBody>
      </p:sp>
    </p:spTree>
    <p:extLst>
      <p:ext uri="{BB962C8B-B14F-4D97-AF65-F5344CB8AC3E}">
        <p14:creationId xmlns:p14="http://schemas.microsoft.com/office/powerpoint/2010/main" val="374344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4060" y="738231"/>
            <a:ext cx="10515600" cy="4351338"/>
          </a:xfrm>
        </p:spPr>
        <p:txBody>
          <a:bodyPr/>
          <a:lstStyle/>
          <a:p>
            <a:pPr algn="just"/>
            <a:r>
              <a:rPr lang="en-US" dirty="0"/>
              <a:t>A familiarity with the general journal form of describing transactions is just as essential to the study of accounting as a familiarity with plus and minus signs is to the study of mathematics. The journal entry is a tool for analyzing and describing the impact of various transactions on a business entity. The ability to describe a transaction in journal entry form requires an understanding of the nature of the transaction and its effect on the financial position of the business.</a:t>
            </a:r>
          </a:p>
        </p:txBody>
      </p:sp>
    </p:spTree>
    <p:extLst>
      <p:ext uri="{BB962C8B-B14F-4D97-AF65-F5344CB8AC3E}">
        <p14:creationId xmlns:p14="http://schemas.microsoft.com/office/powerpoint/2010/main" val="3101186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1071"/>
            <a:ext cx="10515600" cy="1325563"/>
          </a:xfrm>
        </p:spPr>
        <p:txBody>
          <a:bodyPr>
            <a:normAutofit/>
          </a:bodyPr>
          <a:lstStyle/>
          <a:p>
            <a:r>
              <a:rPr lang="en-US" sz="3200" b="1" dirty="0"/>
              <a:t>Step 2: </a:t>
            </a:r>
            <a:r>
              <a:rPr lang="en-US" sz="3200" b="1" dirty="0">
                <a:solidFill>
                  <a:srgbClr val="00B0F0"/>
                </a:solidFill>
              </a:rPr>
              <a:t>POSTING JOURNAL ENTRIES TO THE LEDGER ACCOUNTS (AND HOW TO “READ” A JOURNAL ENTRY) </a:t>
            </a:r>
          </a:p>
        </p:txBody>
      </p:sp>
      <p:sp>
        <p:nvSpPr>
          <p:cNvPr id="3" name="Content Placeholder 2"/>
          <p:cNvSpPr>
            <a:spLocks noGrp="1"/>
          </p:cNvSpPr>
          <p:nvPr>
            <p:ph idx="1"/>
          </p:nvPr>
        </p:nvSpPr>
        <p:spPr>
          <a:xfrm>
            <a:off x="838200" y="2015095"/>
            <a:ext cx="10515600" cy="4351338"/>
          </a:xfrm>
        </p:spPr>
        <p:txBody>
          <a:bodyPr/>
          <a:lstStyle/>
          <a:p>
            <a:r>
              <a:rPr lang="en-US" dirty="0"/>
              <a:t>We have made the point that transactions are recorded first in the journal. Ledger accounts are updated later, through a process called posting. (In a computerized system, postings often occur instantaneously, rather than later.)</a:t>
            </a:r>
          </a:p>
          <a:p>
            <a:r>
              <a:rPr lang="en-US" b="1" dirty="0">
                <a:solidFill>
                  <a:srgbClr val="FF0000"/>
                </a:solidFill>
              </a:rPr>
              <a:t>Posting simply means updating the ledger accounts for the effects of the transactions recorded in the journal</a:t>
            </a:r>
            <a:r>
              <a:rPr lang="en-US" dirty="0"/>
              <a:t>. Viewed as a mechanical task, posting basically amounts to performing the steps you describe when you “read” a journal entry aloud.</a:t>
            </a:r>
          </a:p>
        </p:txBody>
      </p:sp>
    </p:spTree>
    <p:extLst>
      <p:ext uri="{BB962C8B-B14F-4D97-AF65-F5344CB8AC3E}">
        <p14:creationId xmlns:p14="http://schemas.microsoft.com/office/powerpoint/2010/main" val="186559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8984"/>
            <a:ext cx="10515600" cy="5657979"/>
          </a:xfrm>
        </p:spPr>
        <p:txBody>
          <a:bodyPr>
            <a:normAutofit lnSpcReduction="10000"/>
          </a:bodyPr>
          <a:lstStyle/>
          <a:p>
            <a:pPr algn="just"/>
            <a:r>
              <a:rPr lang="en-US" dirty="0"/>
              <a:t>Consider the first entry appearing in Overnight’s general journal. If you were to read this entry aloud, you would say: “Debit Cash, $80,000; credit Capital Stock, $80,000.” That’s precisely what a person posting this entry should do: Debit the Cash account for $80,000, and credit the Capital Stock account for $80,000.</a:t>
            </a:r>
          </a:p>
          <a:p>
            <a:pPr algn="just"/>
            <a:r>
              <a:rPr lang="en-US" dirty="0"/>
              <a:t>Consider the first entry appearing in Overnight’s general journal. If you were to read this entry aloud, you would say: </a:t>
            </a:r>
            <a:r>
              <a:rPr lang="en-US" dirty="0">
                <a:solidFill>
                  <a:srgbClr val="00B050"/>
                </a:solidFill>
              </a:rPr>
              <a:t>“Debit Cash, $80,000; credit Capital Stock, $80,000.”</a:t>
            </a:r>
            <a:r>
              <a:rPr lang="en-US" dirty="0"/>
              <a:t> That’s precisely what a person posting this entry should do: Debit the Cash account for $80,000, and credit the Capital Stock account for $80,000.</a:t>
            </a:r>
          </a:p>
          <a:p>
            <a:pPr algn="just"/>
            <a:r>
              <a:rPr lang="en-US" dirty="0"/>
              <a:t>The posting of Overnight’s first journal entry is illustrated in Exhibit 3–2 . Notice that no new information is recorded during the posting process. Posting involves copying into the ledger accounts information that already has been recorded in the journal.</a:t>
            </a:r>
          </a:p>
        </p:txBody>
      </p:sp>
    </p:spTree>
    <p:extLst>
      <p:ext uri="{BB962C8B-B14F-4D97-AF65-F5344CB8AC3E}">
        <p14:creationId xmlns:p14="http://schemas.microsoft.com/office/powerpoint/2010/main" val="578463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48730" y="774357"/>
            <a:ext cx="10515600" cy="5560540"/>
          </a:xfrm>
          <a:prstGeom prst="rect">
            <a:avLst/>
          </a:prstGeom>
        </p:spPr>
      </p:pic>
    </p:spTree>
    <p:extLst>
      <p:ext uri="{BB962C8B-B14F-4D97-AF65-F5344CB8AC3E}">
        <p14:creationId xmlns:p14="http://schemas.microsoft.com/office/powerpoint/2010/main" val="1167993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8324" y="486032"/>
            <a:ext cx="9601200" cy="1228725"/>
          </a:xfrm>
          <a:prstGeom prst="rect">
            <a:avLst/>
          </a:prstGeom>
        </p:spPr>
      </p:pic>
      <p:sp>
        <p:nvSpPr>
          <p:cNvPr id="3" name="Content Placeholder 2"/>
          <p:cNvSpPr>
            <a:spLocks noGrp="1"/>
          </p:cNvSpPr>
          <p:nvPr>
            <p:ph idx="1"/>
          </p:nvPr>
        </p:nvSpPr>
        <p:spPr/>
        <p:txBody>
          <a:bodyPr/>
          <a:lstStyle/>
          <a:p>
            <a:pPr algn="just"/>
            <a:r>
              <a:rPr lang="en-US" dirty="0"/>
              <a:t>Each transaction from January 20 through January 27 is analyzed first in terms of increases in assets, liabilities, and owners’ equity. Second, we follow the debit and credit rules for entering these increases and decreases in specific accounts. Asset ledger accounts are shown on the left side of the analysis; liability and owners’ equity ledger accounts are shown on the right side.</a:t>
            </a:r>
          </a:p>
          <a:p>
            <a:pPr algn="just"/>
            <a:endParaRPr lang="en-US" dirty="0"/>
          </a:p>
        </p:txBody>
      </p:sp>
      <p:pic>
        <p:nvPicPr>
          <p:cNvPr id="5" name="Picture 4"/>
          <p:cNvPicPr>
            <a:picLocks noChangeAspect="1"/>
          </p:cNvPicPr>
          <p:nvPr/>
        </p:nvPicPr>
        <p:blipFill>
          <a:blip r:embed="rId3"/>
          <a:stretch>
            <a:fillRect/>
          </a:stretch>
        </p:blipFill>
        <p:spPr>
          <a:xfrm>
            <a:off x="1200536" y="4467867"/>
            <a:ext cx="9115425" cy="657225"/>
          </a:xfrm>
          <a:prstGeom prst="rect">
            <a:avLst/>
          </a:prstGeom>
        </p:spPr>
      </p:pic>
    </p:spTree>
    <p:extLst>
      <p:ext uri="{BB962C8B-B14F-4D97-AF65-F5344CB8AC3E}">
        <p14:creationId xmlns:p14="http://schemas.microsoft.com/office/powerpoint/2010/main" val="342555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8585" y="599946"/>
            <a:ext cx="9606862" cy="5591038"/>
          </a:xfrm>
          <a:prstGeom prst="rect">
            <a:avLst/>
          </a:prstGeom>
        </p:spPr>
      </p:pic>
    </p:spTree>
    <p:extLst>
      <p:ext uri="{BB962C8B-B14F-4D97-AF65-F5344CB8AC3E}">
        <p14:creationId xmlns:p14="http://schemas.microsoft.com/office/powerpoint/2010/main" val="3487302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38984" y="459645"/>
            <a:ext cx="9572625" cy="1457325"/>
          </a:xfrm>
          <a:prstGeom prst="rect">
            <a:avLst/>
          </a:prstGeom>
        </p:spPr>
      </p:pic>
      <p:pic>
        <p:nvPicPr>
          <p:cNvPr id="5" name="Picture 4"/>
          <p:cNvPicPr>
            <a:picLocks noChangeAspect="1"/>
          </p:cNvPicPr>
          <p:nvPr/>
        </p:nvPicPr>
        <p:blipFill>
          <a:blip r:embed="rId3"/>
          <a:stretch>
            <a:fillRect/>
          </a:stretch>
        </p:blipFill>
        <p:spPr>
          <a:xfrm>
            <a:off x="1864648" y="1916970"/>
            <a:ext cx="8342033" cy="4752328"/>
          </a:xfrm>
          <a:prstGeom prst="rect">
            <a:avLst/>
          </a:prstGeom>
        </p:spPr>
      </p:pic>
    </p:spTree>
    <p:extLst>
      <p:ext uri="{BB962C8B-B14F-4D97-AF65-F5344CB8AC3E}">
        <p14:creationId xmlns:p14="http://schemas.microsoft.com/office/powerpoint/2010/main" val="179226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84035" y="273158"/>
            <a:ext cx="8497716" cy="1077847"/>
          </a:xfrm>
          <a:prstGeom prst="rect">
            <a:avLst/>
          </a:prstGeom>
        </p:spPr>
      </p:pic>
      <p:pic>
        <p:nvPicPr>
          <p:cNvPr id="5" name="Picture 4"/>
          <p:cNvPicPr>
            <a:picLocks noChangeAspect="1"/>
          </p:cNvPicPr>
          <p:nvPr/>
        </p:nvPicPr>
        <p:blipFill>
          <a:blip r:embed="rId3"/>
          <a:stretch>
            <a:fillRect/>
          </a:stretch>
        </p:blipFill>
        <p:spPr>
          <a:xfrm>
            <a:off x="1112494" y="1243914"/>
            <a:ext cx="9324975" cy="5502875"/>
          </a:xfrm>
          <a:prstGeom prst="rect">
            <a:avLst/>
          </a:prstGeom>
        </p:spPr>
      </p:pic>
    </p:spTree>
    <p:extLst>
      <p:ext uri="{BB962C8B-B14F-4D97-AF65-F5344CB8AC3E}">
        <p14:creationId xmlns:p14="http://schemas.microsoft.com/office/powerpoint/2010/main" val="3294593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395910"/>
            <a:ext cx="9220200" cy="819150"/>
          </a:xfrm>
          <a:prstGeom prst="rect">
            <a:avLst/>
          </a:prstGeom>
        </p:spPr>
      </p:pic>
      <p:pic>
        <p:nvPicPr>
          <p:cNvPr id="5" name="Picture 4"/>
          <p:cNvPicPr>
            <a:picLocks noChangeAspect="1"/>
          </p:cNvPicPr>
          <p:nvPr/>
        </p:nvPicPr>
        <p:blipFill>
          <a:blip r:embed="rId3"/>
          <a:stretch>
            <a:fillRect/>
          </a:stretch>
        </p:blipFill>
        <p:spPr>
          <a:xfrm>
            <a:off x="1309816" y="1215060"/>
            <a:ext cx="8476736" cy="5193978"/>
          </a:xfrm>
          <a:prstGeom prst="rect">
            <a:avLst/>
          </a:prstGeom>
        </p:spPr>
      </p:pic>
    </p:spTree>
    <p:extLst>
      <p:ext uri="{BB962C8B-B14F-4D97-AF65-F5344CB8AC3E}">
        <p14:creationId xmlns:p14="http://schemas.microsoft.com/office/powerpoint/2010/main" val="3553411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44922" y="1375719"/>
            <a:ext cx="7956576" cy="4801244"/>
          </a:xfrm>
          <a:prstGeom prst="rect">
            <a:avLst/>
          </a:prstGeom>
        </p:spPr>
      </p:pic>
      <p:pic>
        <p:nvPicPr>
          <p:cNvPr id="4" name="Picture 3"/>
          <p:cNvPicPr>
            <a:picLocks noChangeAspect="1"/>
          </p:cNvPicPr>
          <p:nvPr/>
        </p:nvPicPr>
        <p:blipFill>
          <a:blip r:embed="rId3"/>
          <a:stretch>
            <a:fillRect/>
          </a:stretch>
        </p:blipFill>
        <p:spPr>
          <a:xfrm>
            <a:off x="838200" y="362723"/>
            <a:ext cx="9055443" cy="1012996"/>
          </a:xfrm>
          <a:prstGeom prst="rect">
            <a:avLst/>
          </a:prstGeom>
        </p:spPr>
      </p:pic>
    </p:spTree>
    <p:extLst>
      <p:ext uri="{BB962C8B-B14F-4D97-AF65-F5344CB8AC3E}">
        <p14:creationId xmlns:p14="http://schemas.microsoft.com/office/powerpoint/2010/main" val="662023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757881"/>
            <a:ext cx="9420225" cy="714375"/>
          </a:xfrm>
          <a:prstGeom prst="rect">
            <a:avLst/>
          </a:prstGeom>
        </p:spPr>
      </p:pic>
      <p:pic>
        <p:nvPicPr>
          <p:cNvPr id="5" name="Picture 4"/>
          <p:cNvPicPr>
            <a:picLocks noChangeAspect="1"/>
          </p:cNvPicPr>
          <p:nvPr/>
        </p:nvPicPr>
        <p:blipFill>
          <a:blip r:embed="rId3"/>
          <a:stretch>
            <a:fillRect/>
          </a:stretch>
        </p:blipFill>
        <p:spPr>
          <a:xfrm>
            <a:off x="1007333" y="1472256"/>
            <a:ext cx="8548559" cy="4599030"/>
          </a:xfrm>
          <a:prstGeom prst="rect">
            <a:avLst/>
          </a:prstGeom>
        </p:spPr>
      </p:pic>
    </p:spTree>
    <p:extLst>
      <p:ext uri="{BB962C8B-B14F-4D97-AF65-F5344CB8AC3E}">
        <p14:creationId xmlns:p14="http://schemas.microsoft.com/office/powerpoint/2010/main" val="3113262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19201" y="1387754"/>
            <a:ext cx="7899955" cy="4921014"/>
          </a:xfrm>
          <a:prstGeom prst="rect">
            <a:avLst/>
          </a:prstGeom>
        </p:spPr>
      </p:pic>
      <p:pic>
        <p:nvPicPr>
          <p:cNvPr id="4" name="Picture 3"/>
          <p:cNvPicPr>
            <a:picLocks noChangeAspect="1"/>
          </p:cNvPicPr>
          <p:nvPr/>
        </p:nvPicPr>
        <p:blipFill>
          <a:blip r:embed="rId3"/>
          <a:stretch>
            <a:fillRect/>
          </a:stretch>
        </p:blipFill>
        <p:spPr>
          <a:xfrm>
            <a:off x="838200" y="869478"/>
            <a:ext cx="9505950" cy="390525"/>
          </a:xfrm>
          <a:prstGeom prst="rect">
            <a:avLst/>
          </a:prstGeom>
        </p:spPr>
      </p:pic>
    </p:spTree>
    <p:extLst>
      <p:ext uri="{BB962C8B-B14F-4D97-AF65-F5344CB8AC3E}">
        <p14:creationId xmlns:p14="http://schemas.microsoft.com/office/powerpoint/2010/main" val="2734564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93804" y="2160433"/>
            <a:ext cx="9337847" cy="3187448"/>
          </a:xfrm>
          <a:prstGeom prst="rect">
            <a:avLst/>
          </a:prstGeom>
        </p:spPr>
      </p:pic>
      <p:pic>
        <p:nvPicPr>
          <p:cNvPr id="4" name="Picture 3"/>
          <p:cNvPicPr>
            <a:picLocks noChangeAspect="1"/>
          </p:cNvPicPr>
          <p:nvPr/>
        </p:nvPicPr>
        <p:blipFill>
          <a:blip r:embed="rId3"/>
          <a:stretch>
            <a:fillRect/>
          </a:stretch>
        </p:blipFill>
        <p:spPr>
          <a:xfrm>
            <a:off x="893804" y="358002"/>
            <a:ext cx="9131901" cy="1533525"/>
          </a:xfrm>
          <a:prstGeom prst="rect">
            <a:avLst/>
          </a:prstGeom>
        </p:spPr>
      </p:pic>
    </p:spTree>
    <p:extLst>
      <p:ext uri="{BB962C8B-B14F-4D97-AF65-F5344CB8AC3E}">
        <p14:creationId xmlns:p14="http://schemas.microsoft.com/office/powerpoint/2010/main" val="2289431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59066" y="428366"/>
            <a:ext cx="8490751" cy="6046573"/>
          </a:xfrm>
          <a:prstGeom prst="rect">
            <a:avLst/>
          </a:prstGeom>
        </p:spPr>
      </p:pic>
    </p:spTree>
    <p:extLst>
      <p:ext uri="{BB962C8B-B14F-4D97-AF65-F5344CB8AC3E}">
        <p14:creationId xmlns:p14="http://schemas.microsoft.com/office/powerpoint/2010/main" val="199514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0130"/>
            <a:ext cx="10515600" cy="5756833"/>
          </a:xfrm>
        </p:spPr>
        <p:txBody>
          <a:bodyPr/>
          <a:lstStyle/>
          <a:p>
            <a:pPr algn="just"/>
            <a:r>
              <a:rPr lang="en-US" dirty="0"/>
              <a:t>After all of the journal entries in Exhibit 3–3 have been posted, Overnight’s ledger accounts appear as shown in Exhibit 3–4 . The accounts are arranged in the same order as in the balance sheet—that is, assets first, followed by liabilities and owners’ equity accounts. Each ledger account is presented in what is referred to as a running balance format (as opposed to simple T accounts).</a:t>
            </a:r>
          </a:p>
        </p:txBody>
      </p:sp>
      <p:pic>
        <p:nvPicPr>
          <p:cNvPr id="4" name="Picture 3"/>
          <p:cNvPicPr>
            <a:picLocks noChangeAspect="1"/>
          </p:cNvPicPr>
          <p:nvPr/>
        </p:nvPicPr>
        <p:blipFill>
          <a:blip r:embed="rId2"/>
          <a:stretch>
            <a:fillRect/>
          </a:stretch>
        </p:blipFill>
        <p:spPr>
          <a:xfrm>
            <a:off x="1153298" y="2967038"/>
            <a:ext cx="10068697" cy="3209925"/>
          </a:xfrm>
          <a:prstGeom prst="rect">
            <a:avLst/>
          </a:prstGeom>
        </p:spPr>
      </p:pic>
    </p:spTree>
    <p:extLst>
      <p:ext uri="{BB962C8B-B14F-4D97-AF65-F5344CB8AC3E}">
        <p14:creationId xmlns:p14="http://schemas.microsoft.com/office/powerpoint/2010/main" val="2207641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12107" y="631137"/>
            <a:ext cx="9250801" cy="5621382"/>
          </a:xfrm>
          <a:prstGeom prst="rect">
            <a:avLst/>
          </a:prstGeom>
        </p:spPr>
      </p:pic>
    </p:spTree>
    <p:extLst>
      <p:ext uri="{BB962C8B-B14F-4D97-AF65-F5344CB8AC3E}">
        <p14:creationId xmlns:p14="http://schemas.microsoft.com/office/powerpoint/2010/main" val="464049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4292" y="247134"/>
            <a:ext cx="8391525" cy="6215449"/>
          </a:xfrm>
          <a:prstGeom prst="rect">
            <a:avLst/>
          </a:prstGeom>
        </p:spPr>
      </p:pic>
    </p:spTree>
    <p:extLst>
      <p:ext uri="{BB962C8B-B14F-4D97-AF65-F5344CB8AC3E}">
        <p14:creationId xmlns:p14="http://schemas.microsoft.com/office/powerpoint/2010/main" val="2539924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0216" y="518983"/>
            <a:ext cx="8410575" cy="1085850"/>
          </a:xfrm>
          <a:prstGeom prst="rect">
            <a:avLst/>
          </a:prstGeom>
        </p:spPr>
      </p:pic>
      <p:sp>
        <p:nvSpPr>
          <p:cNvPr id="3" name="Content Placeholder 2"/>
          <p:cNvSpPr>
            <a:spLocks noGrp="1"/>
          </p:cNvSpPr>
          <p:nvPr>
            <p:ph idx="1"/>
          </p:nvPr>
        </p:nvSpPr>
        <p:spPr/>
        <p:txBody>
          <a:bodyPr>
            <a:normAutofit/>
          </a:bodyPr>
          <a:lstStyle/>
          <a:p>
            <a:pPr algn="just"/>
            <a:r>
              <a:rPr lang="en-US" dirty="0"/>
              <a:t>In Chapter 2, we introduced Overnight Auto Service, a small auto repair shop formed on January 20, 2011. Early in this chapter, we journalized and posted all of Overnight’s balance sheet transactions through January 27. </a:t>
            </a:r>
          </a:p>
          <a:p>
            <a:pPr algn="just"/>
            <a:r>
              <a:rPr lang="en-US" dirty="0"/>
              <a:t>At this point we will illustrate the manner in which Overnight’s January income statement transactions were handled and continue into February with additional transactions. Three transactions involving revenue and expenses were recorded by Overnight on January 31, 2011. </a:t>
            </a:r>
          </a:p>
        </p:txBody>
      </p:sp>
    </p:spTree>
    <p:extLst>
      <p:ext uri="{BB962C8B-B14F-4D97-AF65-F5344CB8AC3E}">
        <p14:creationId xmlns:p14="http://schemas.microsoft.com/office/powerpoint/2010/main" val="1385104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0173"/>
            <a:ext cx="10515600" cy="5616790"/>
          </a:xfrm>
        </p:spPr>
        <p:txBody>
          <a:bodyPr/>
          <a:lstStyle/>
          <a:p>
            <a:pPr algn="just"/>
            <a:r>
              <a:rPr lang="en-US" dirty="0"/>
              <a:t>The following illustrations provide an analysis of each transaction. </a:t>
            </a:r>
          </a:p>
          <a:p>
            <a:pPr algn="just"/>
            <a:r>
              <a:rPr lang="en-US" b="1" dirty="0"/>
              <a:t>Jan. 31 </a:t>
            </a:r>
            <a:r>
              <a:rPr lang="en-US" dirty="0"/>
              <a:t>Recorded revenue of $2,200, all of which was received in cash.</a:t>
            </a:r>
          </a:p>
          <a:p>
            <a:endParaRPr lang="en-US" dirty="0"/>
          </a:p>
        </p:txBody>
      </p:sp>
      <p:pic>
        <p:nvPicPr>
          <p:cNvPr id="4" name="Picture 3"/>
          <p:cNvPicPr>
            <a:picLocks noChangeAspect="1"/>
          </p:cNvPicPr>
          <p:nvPr/>
        </p:nvPicPr>
        <p:blipFill>
          <a:blip r:embed="rId2"/>
          <a:stretch>
            <a:fillRect/>
          </a:stretch>
        </p:blipFill>
        <p:spPr>
          <a:xfrm>
            <a:off x="2061518" y="1663398"/>
            <a:ext cx="8382000" cy="4733925"/>
          </a:xfrm>
          <a:prstGeom prst="rect">
            <a:avLst/>
          </a:prstGeom>
        </p:spPr>
      </p:pic>
    </p:spTree>
    <p:extLst>
      <p:ext uri="{BB962C8B-B14F-4D97-AF65-F5344CB8AC3E}">
        <p14:creationId xmlns:p14="http://schemas.microsoft.com/office/powerpoint/2010/main" val="1800886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90443" y="601362"/>
            <a:ext cx="9352738" cy="5641504"/>
          </a:xfrm>
          <a:prstGeom prst="rect">
            <a:avLst/>
          </a:prstGeom>
        </p:spPr>
      </p:pic>
    </p:spTree>
    <p:extLst>
      <p:ext uri="{BB962C8B-B14F-4D97-AF65-F5344CB8AC3E}">
        <p14:creationId xmlns:p14="http://schemas.microsoft.com/office/powerpoint/2010/main" val="3909671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7203" y="576649"/>
            <a:ext cx="9258202" cy="5559125"/>
          </a:xfrm>
          <a:prstGeom prst="rect">
            <a:avLst/>
          </a:prstGeom>
        </p:spPr>
      </p:pic>
    </p:spTree>
    <p:extLst>
      <p:ext uri="{BB962C8B-B14F-4D97-AF65-F5344CB8AC3E}">
        <p14:creationId xmlns:p14="http://schemas.microsoft.com/office/powerpoint/2010/main" val="3029727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85103" y="543698"/>
            <a:ext cx="9124909" cy="5649741"/>
          </a:xfrm>
          <a:prstGeom prst="rect">
            <a:avLst/>
          </a:prstGeom>
        </p:spPr>
      </p:pic>
    </p:spTree>
    <p:extLst>
      <p:ext uri="{BB962C8B-B14F-4D97-AF65-F5344CB8AC3E}">
        <p14:creationId xmlns:p14="http://schemas.microsoft.com/office/powerpoint/2010/main" val="4194076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82086" y="420130"/>
            <a:ext cx="8502174" cy="5846956"/>
          </a:xfrm>
          <a:prstGeom prst="rect">
            <a:avLst/>
          </a:prstGeom>
        </p:spPr>
      </p:pic>
    </p:spTree>
    <p:extLst>
      <p:ext uri="{BB962C8B-B14F-4D97-AF65-F5344CB8AC3E}">
        <p14:creationId xmlns:p14="http://schemas.microsoft.com/office/powerpoint/2010/main" val="2818787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86103" y="543697"/>
            <a:ext cx="7666135" cy="5970516"/>
          </a:xfrm>
          <a:prstGeom prst="rect">
            <a:avLst/>
          </a:prstGeom>
        </p:spPr>
      </p:pic>
    </p:spTree>
    <p:extLst>
      <p:ext uri="{BB962C8B-B14F-4D97-AF65-F5344CB8AC3E}">
        <p14:creationId xmlns:p14="http://schemas.microsoft.com/office/powerpoint/2010/main" val="215973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14069" y="403654"/>
            <a:ext cx="7987999" cy="5756833"/>
          </a:xfrm>
          <a:prstGeom prst="rect">
            <a:avLst/>
          </a:prstGeom>
        </p:spPr>
      </p:pic>
    </p:spTree>
    <p:extLst>
      <p:ext uri="{BB962C8B-B14F-4D97-AF65-F5344CB8AC3E}">
        <p14:creationId xmlns:p14="http://schemas.microsoft.com/office/powerpoint/2010/main" val="2356002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85320" y="398228"/>
            <a:ext cx="6615446" cy="5671643"/>
          </a:xfrm>
          <a:prstGeom prst="rect">
            <a:avLst/>
          </a:prstGeom>
        </p:spPr>
      </p:pic>
    </p:spTree>
    <p:extLst>
      <p:ext uri="{BB962C8B-B14F-4D97-AF65-F5344CB8AC3E}">
        <p14:creationId xmlns:p14="http://schemas.microsoft.com/office/powerpoint/2010/main" val="3695852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29393" y="494270"/>
            <a:ext cx="8389062" cy="5641504"/>
          </a:xfrm>
          <a:prstGeom prst="rect">
            <a:avLst/>
          </a:prstGeom>
        </p:spPr>
      </p:pic>
    </p:spTree>
    <p:extLst>
      <p:ext uri="{BB962C8B-B14F-4D97-AF65-F5344CB8AC3E}">
        <p14:creationId xmlns:p14="http://schemas.microsoft.com/office/powerpoint/2010/main" val="3549047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48714" y="432077"/>
            <a:ext cx="7769479" cy="5777837"/>
          </a:xfrm>
          <a:prstGeom prst="rect">
            <a:avLst/>
          </a:prstGeom>
        </p:spPr>
      </p:pic>
    </p:spTree>
    <p:extLst>
      <p:ext uri="{BB962C8B-B14F-4D97-AF65-F5344CB8AC3E}">
        <p14:creationId xmlns:p14="http://schemas.microsoft.com/office/powerpoint/2010/main" val="1061262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14846" y="486032"/>
            <a:ext cx="8057385" cy="5814499"/>
          </a:xfrm>
          <a:prstGeom prst="rect">
            <a:avLst/>
          </a:prstGeom>
        </p:spPr>
      </p:pic>
    </p:spTree>
    <p:extLst>
      <p:ext uri="{BB962C8B-B14F-4D97-AF65-F5344CB8AC3E}">
        <p14:creationId xmlns:p14="http://schemas.microsoft.com/office/powerpoint/2010/main" val="2727425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1794" y="82913"/>
            <a:ext cx="6820929" cy="6663875"/>
          </a:xfrm>
          <a:prstGeom prst="rect">
            <a:avLst/>
          </a:prstGeom>
        </p:spPr>
      </p:pic>
    </p:spTree>
    <p:extLst>
      <p:ext uri="{BB962C8B-B14F-4D97-AF65-F5344CB8AC3E}">
        <p14:creationId xmlns:p14="http://schemas.microsoft.com/office/powerpoint/2010/main" val="1017441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94918" y="238897"/>
            <a:ext cx="5753100" cy="352425"/>
          </a:xfrm>
          <a:prstGeom prst="rect">
            <a:avLst/>
          </a:prstGeom>
        </p:spPr>
      </p:pic>
      <p:pic>
        <p:nvPicPr>
          <p:cNvPr id="5" name="Picture 4"/>
          <p:cNvPicPr>
            <a:picLocks noChangeAspect="1"/>
          </p:cNvPicPr>
          <p:nvPr/>
        </p:nvPicPr>
        <p:blipFill>
          <a:blip r:embed="rId3"/>
          <a:stretch>
            <a:fillRect/>
          </a:stretch>
        </p:blipFill>
        <p:spPr>
          <a:xfrm>
            <a:off x="2509193" y="591322"/>
            <a:ext cx="5975780" cy="609600"/>
          </a:xfrm>
          <a:prstGeom prst="rect">
            <a:avLst/>
          </a:prstGeom>
        </p:spPr>
      </p:pic>
      <p:pic>
        <p:nvPicPr>
          <p:cNvPr id="6" name="Picture 5"/>
          <p:cNvPicPr>
            <a:picLocks noChangeAspect="1"/>
          </p:cNvPicPr>
          <p:nvPr/>
        </p:nvPicPr>
        <p:blipFill>
          <a:blip r:embed="rId4"/>
          <a:stretch>
            <a:fillRect/>
          </a:stretch>
        </p:blipFill>
        <p:spPr>
          <a:xfrm>
            <a:off x="2509193" y="1200923"/>
            <a:ext cx="5962650" cy="5529392"/>
          </a:xfrm>
          <a:prstGeom prst="rect">
            <a:avLst/>
          </a:prstGeom>
        </p:spPr>
      </p:pic>
    </p:spTree>
    <p:extLst>
      <p:ext uri="{BB962C8B-B14F-4D97-AF65-F5344CB8AC3E}">
        <p14:creationId xmlns:p14="http://schemas.microsoft.com/office/powerpoint/2010/main" val="2632066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06595" y="138112"/>
            <a:ext cx="6441989" cy="1095375"/>
          </a:xfrm>
          <a:prstGeom prst="rect">
            <a:avLst/>
          </a:prstGeom>
        </p:spPr>
      </p:pic>
      <p:pic>
        <p:nvPicPr>
          <p:cNvPr id="6" name="Picture 5"/>
          <p:cNvPicPr>
            <a:picLocks noChangeAspect="1"/>
          </p:cNvPicPr>
          <p:nvPr/>
        </p:nvPicPr>
        <p:blipFill>
          <a:blip r:embed="rId3"/>
          <a:stretch>
            <a:fillRect/>
          </a:stretch>
        </p:blipFill>
        <p:spPr>
          <a:xfrm>
            <a:off x="2306595" y="1233487"/>
            <a:ext cx="6441989" cy="5276850"/>
          </a:xfrm>
          <a:prstGeom prst="rect">
            <a:avLst/>
          </a:prstGeom>
        </p:spPr>
      </p:pic>
    </p:spTree>
    <p:extLst>
      <p:ext uri="{BB962C8B-B14F-4D97-AF65-F5344CB8AC3E}">
        <p14:creationId xmlns:p14="http://schemas.microsoft.com/office/powerpoint/2010/main" val="3030935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47784" y="1552983"/>
            <a:ext cx="6441989" cy="3818087"/>
          </a:xfrm>
          <a:prstGeom prst="rect">
            <a:avLst/>
          </a:prstGeom>
        </p:spPr>
      </p:pic>
      <p:pic>
        <p:nvPicPr>
          <p:cNvPr id="5" name="Picture 4"/>
          <p:cNvPicPr>
            <a:picLocks noChangeAspect="1"/>
          </p:cNvPicPr>
          <p:nvPr/>
        </p:nvPicPr>
        <p:blipFill>
          <a:blip r:embed="rId3"/>
          <a:stretch>
            <a:fillRect/>
          </a:stretch>
        </p:blipFill>
        <p:spPr>
          <a:xfrm>
            <a:off x="2347784" y="457608"/>
            <a:ext cx="6441989" cy="1095375"/>
          </a:xfrm>
          <a:prstGeom prst="rect">
            <a:avLst/>
          </a:prstGeom>
        </p:spPr>
      </p:pic>
    </p:spTree>
    <p:extLst>
      <p:ext uri="{BB962C8B-B14F-4D97-AF65-F5344CB8AC3E}">
        <p14:creationId xmlns:p14="http://schemas.microsoft.com/office/powerpoint/2010/main" val="28466638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42551" y="659027"/>
            <a:ext cx="8260361" cy="700216"/>
          </a:xfrm>
          <a:prstGeom prst="rect">
            <a:avLst/>
          </a:prstGeom>
        </p:spPr>
      </p:pic>
      <p:sp>
        <p:nvSpPr>
          <p:cNvPr id="5" name="Rectangle 4"/>
          <p:cNvSpPr/>
          <p:nvPr/>
        </p:nvSpPr>
        <p:spPr>
          <a:xfrm>
            <a:off x="807308" y="1359243"/>
            <a:ext cx="7776519" cy="2862322"/>
          </a:xfrm>
          <a:prstGeom prst="rect">
            <a:avLst/>
          </a:prstGeom>
        </p:spPr>
        <p:txBody>
          <a:bodyPr wrap="square">
            <a:spAutoFit/>
          </a:bodyPr>
          <a:lstStyle/>
          <a:p>
            <a:pPr marL="285750" indent="-285750" algn="just">
              <a:buFont typeface="Arial" panose="020B0604020202020204" pitchFamily="34" charset="0"/>
              <a:buChar char="•"/>
            </a:pPr>
            <a:r>
              <a:rPr lang="en-US" dirty="0"/>
              <a:t>Before using the account balances to prepare a balance sheet, it is desirable to prove that the total of accounts with </a:t>
            </a:r>
            <a:r>
              <a:rPr lang="en-US" dirty="0">
                <a:solidFill>
                  <a:srgbClr val="00B050"/>
                </a:solidFill>
              </a:rPr>
              <a:t>debit balances </a:t>
            </a:r>
            <a:r>
              <a:rPr lang="en-US" dirty="0"/>
              <a:t>is in fact equal to the total of accounts with </a:t>
            </a:r>
            <a:r>
              <a:rPr lang="en-US" dirty="0">
                <a:solidFill>
                  <a:srgbClr val="00B050"/>
                </a:solidFill>
              </a:rPr>
              <a:t>credit balances</a:t>
            </a:r>
            <a:r>
              <a:rPr lang="en-US" dirty="0"/>
              <a:t>. </a:t>
            </a:r>
            <a:r>
              <a:rPr lang="en-US" b="1" dirty="0">
                <a:solidFill>
                  <a:srgbClr val="FF0000"/>
                </a:solidFill>
              </a:rPr>
              <a:t>This proof of the equality of debit and credit balances is called a trial balance.</a:t>
            </a:r>
            <a:r>
              <a:rPr lang="en-US" b="1" dirty="0">
                <a:solidFill>
                  <a:srgbClr val="7030A0"/>
                </a:solidFill>
              </a:rPr>
              <a:t> </a:t>
            </a:r>
          </a:p>
          <a:p>
            <a:pPr marL="285750" indent="-285750" algn="just">
              <a:buFont typeface="Arial" panose="020B0604020202020204" pitchFamily="34" charset="0"/>
              <a:buChar char="•"/>
            </a:pPr>
            <a:r>
              <a:rPr lang="en-US" dirty="0">
                <a:solidFill>
                  <a:srgbClr val="00B0F0"/>
                </a:solidFill>
              </a:rPr>
              <a:t>A trial balance is a two-column schedule listing the names and balances of all the accounts in the order in which they appear in the ledger ; the debit balances are listed in the left-hand column and the credit balances in the right-hand column</a:t>
            </a:r>
            <a:r>
              <a:rPr lang="en-US" dirty="0"/>
              <a:t>. </a:t>
            </a:r>
          </a:p>
          <a:p>
            <a:pPr marL="285750" indent="-285750" algn="just">
              <a:buFont typeface="Arial" panose="020B0604020202020204" pitchFamily="34" charset="0"/>
              <a:buChar char="•"/>
            </a:pPr>
            <a:r>
              <a:rPr lang="en-US" dirty="0"/>
              <a:t>The totals of the two columns should agree. A trial balance taken from Overnight Auto’s ledger accounts is shown in Exhibit 3–9 . </a:t>
            </a:r>
          </a:p>
        </p:txBody>
      </p:sp>
    </p:spTree>
    <p:extLst>
      <p:ext uri="{BB962C8B-B14F-4D97-AF65-F5344CB8AC3E}">
        <p14:creationId xmlns:p14="http://schemas.microsoft.com/office/powerpoint/2010/main" val="664806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05017" y="568410"/>
            <a:ext cx="9737124" cy="5626444"/>
          </a:xfrm>
          <a:prstGeom prst="rect">
            <a:avLst/>
          </a:prstGeom>
        </p:spPr>
      </p:pic>
    </p:spTree>
    <p:extLst>
      <p:ext uri="{BB962C8B-B14F-4D97-AF65-F5344CB8AC3E}">
        <p14:creationId xmlns:p14="http://schemas.microsoft.com/office/powerpoint/2010/main" val="2447808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1892" y="535459"/>
            <a:ext cx="6076950" cy="419100"/>
          </a:xfrm>
          <a:prstGeom prst="rect">
            <a:avLst/>
          </a:prstGeom>
        </p:spPr>
      </p:pic>
      <p:sp>
        <p:nvSpPr>
          <p:cNvPr id="5" name="Rectangle 4"/>
          <p:cNvSpPr/>
          <p:nvPr/>
        </p:nvSpPr>
        <p:spPr>
          <a:xfrm>
            <a:off x="601363" y="954559"/>
            <a:ext cx="8114270" cy="3139321"/>
          </a:xfrm>
          <a:prstGeom prst="rect">
            <a:avLst/>
          </a:prstGeom>
        </p:spPr>
        <p:txBody>
          <a:bodyPr wrap="square">
            <a:spAutoFit/>
          </a:bodyPr>
          <a:lstStyle/>
          <a:p>
            <a:r>
              <a:rPr lang="en-US" dirty="0"/>
              <a:t>The trial balance provides proof that the ledger is in balance. The agreement of the debit and credit totals of the trial balance gives assurance that: </a:t>
            </a:r>
          </a:p>
          <a:p>
            <a:pPr marL="342900" indent="-342900">
              <a:buAutoNum type="arabicPeriod"/>
            </a:pPr>
            <a:r>
              <a:rPr lang="en-US" dirty="0"/>
              <a:t>Equal debits and credits have been recorded for all transactions. </a:t>
            </a:r>
          </a:p>
          <a:p>
            <a:pPr marL="342900" indent="-342900">
              <a:buAutoNum type="arabicPeriod"/>
            </a:pPr>
            <a:r>
              <a:rPr lang="en-US" dirty="0"/>
              <a:t>The addition of the account balances in the trial balance has been performed correctly.</a:t>
            </a:r>
          </a:p>
          <a:p>
            <a:pPr algn="just"/>
            <a:r>
              <a:rPr lang="en-US" dirty="0"/>
              <a:t>Suppose that the debit and credit totals of the trial balance do not agree. This situation indicates that one or more errors have been made. Typical of such errors are (1) the posting of a debit as a credit, or vice versa; (2) arithmetic mistakes in determining account balances; (3) clerical errors in copying account balances into the trial balance; (4) listing a debit balance in the credit column of the trial balance, or vice versa; and (5) errors in addition of the trial balance. </a:t>
            </a:r>
          </a:p>
        </p:txBody>
      </p:sp>
    </p:spTree>
    <p:extLst>
      <p:ext uri="{BB962C8B-B14F-4D97-AF65-F5344CB8AC3E}">
        <p14:creationId xmlns:p14="http://schemas.microsoft.com/office/powerpoint/2010/main" val="138476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TotalTime>
  <Words>1575</Words>
  <Application>Microsoft Office PowerPoint</Application>
  <PresentationFormat>Widescreen</PresentationFormat>
  <Paragraphs>47</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AF1001 Fundamentals of Accounting  (BSE-3rd Semester)</vt:lpstr>
      <vt:lpstr>PowerPoint Presentation</vt:lpstr>
      <vt:lpstr>Steps in Accounting Cycle: </vt:lpstr>
      <vt:lpstr>THE ROLE OF ACCOUNTING RECORDS</vt:lpstr>
      <vt:lpstr>PowerPoint Presentation</vt:lpstr>
      <vt:lpstr>PowerPoint Presentation</vt:lpstr>
      <vt:lpstr>PowerPoint Presentation</vt:lpstr>
      <vt:lpstr>PowerPoint Presentation</vt:lpstr>
      <vt:lpstr>Step 2: POSTING JOURNAL ENTRIES TO THE LEDGER ACCOUNTS (AND HOW TO “READ” A JOURNAL ENTRY)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AF1001 Fundamentals of Accounting  (BSE-3rd Semester)</dc:title>
  <dc:creator>DELL</dc:creator>
  <cp:lastModifiedBy>sami ullah</cp:lastModifiedBy>
  <cp:revision>70</cp:revision>
  <dcterms:created xsi:type="dcterms:W3CDTF">2024-08-25T14:58:19Z</dcterms:created>
  <dcterms:modified xsi:type="dcterms:W3CDTF">2025-02-27T13:07:42Z</dcterms:modified>
</cp:coreProperties>
</file>