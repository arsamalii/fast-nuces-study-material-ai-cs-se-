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7" r:id="rId2"/>
    <p:sldId id="286" r:id="rId3"/>
    <p:sldId id="287" r:id="rId4"/>
    <p:sldId id="288" r:id="rId5"/>
    <p:sldId id="289" r:id="rId6"/>
    <p:sldId id="290" r:id="rId7"/>
    <p:sldId id="291" r:id="rId8"/>
    <p:sldId id="292" r:id="rId9"/>
    <p:sldId id="293" r:id="rId10"/>
    <p:sldId id="294" r:id="rId11"/>
    <p:sldId id="295" r:id="rId12"/>
    <p:sldId id="296" r:id="rId13"/>
    <p:sldId id="297" r:id="rId14"/>
    <p:sldId id="298" r:id="rId15"/>
    <p:sldId id="299" r:id="rId16"/>
    <p:sldId id="3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713" autoAdjust="0"/>
    <p:restoredTop sz="94660"/>
  </p:normalViewPr>
  <p:slideViewPr>
    <p:cSldViewPr snapToGrid="0">
      <p:cViewPr varScale="1">
        <p:scale>
          <a:sx n="109" d="100"/>
          <a:sy n="109" d="100"/>
        </p:scale>
        <p:origin x="114" y="4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18BE1-9129-441D-A0C5-2B896745D7F4}" type="datetimeFigureOut">
              <a:rPr lang="en-US" smtClean="0"/>
              <a:t>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6A7E0F-4FBA-41A8-9F1A-2A42CF470E3B}" type="slidenum">
              <a:rPr lang="en-US" smtClean="0"/>
              <a:t>‹#›</a:t>
            </a:fld>
            <a:endParaRPr lang="en-US"/>
          </a:p>
        </p:txBody>
      </p:sp>
    </p:spTree>
    <p:extLst>
      <p:ext uri="{BB962C8B-B14F-4D97-AF65-F5344CB8AC3E}">
        <p14:creationId xmlns:p14="http://schemas.microsoft.com/office/powerpoint/2010/main" val="4293835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B3A1FCA-C52F-4C50-B55E-CF166DA1E9EB}"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3994683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A1FCA-C52F-4C50-B55E-CF166DA1E9EB}"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4084820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3A1FCA-C52F-4C50-B55E-CF166DA1E9EB}"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232416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3A1FCA-C52F-4C50-B55E-CF166DA1E9EB}" type="datetimeFigureOut">
              <a:rPr lang="en-US" smtClean="0"/>
              <a:t>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999909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3A1FCA-C52F-4C50-B55E-CF166DA1E9EB}" type="datetimeFigureOut">
              <a:rPr lang="en-US" smtClean="0"/>
              <a:t>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1041475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3A1FCA-C52F-4C50-B55E-CF166DA1E9EB}" type="datetimeFigureOut">
              <a:rPr lang="en-US" smtClean="0"/>
              <a:t>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7527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3A1FCA-C52F-4C50-B55E-CF166DA1E9EB}" type="datetimeFigureOut">
              <a:rPr lang="en-US" smtClean="0"/>
              <a:t>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430223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3A1FCA-C52F-4C50-B55E-CF166DA1E9EB}" type="datetimeFigureOut">
              <a:rPr lang="en-US" smtClean="0"/>
              <a:t>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183452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3A1FCA-C52F-4C50-B55E-CF166DA1E9EB}" type="datetimeFigureOut">
              <a:rPr lang="en-US" smtClean="0"/>
              <a:t>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3358300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A1FCA-C52F-4C50-B55E-CF166DA1E9EB}"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854847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A1FCA-C52F-4C50-B55E-CF166DA1E9EB}"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948767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A1FCA-C52F-4C50-B55E-CF166DA1E9EB}" type="datetimeFigureOut">
              <a:rPr lang="en-US" smtClean="0"/>
              <a:t>2/19/2025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A03359-C665-475E-A98C-15B4203E2306}" type="slidenum">
              <a:rPr lang="en-US" smtClean="0"/>
              <a:t>‹#›</a:t>
            </a:fld>
            <a:endParaRPr lang="en-US"/>
          </a:p>
        </p:txBody>
      </p:sp>
    </p:spTree>
    <p:extLst>
      <p:ext uri="{BB962C8B-B14F-4D97-AF65-F5344CB8AC3E}">
        <p14:creationId xmlns:p14="http://schemas.microsoft.com/office/powerpoint/2010/main" val="1044358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AF1001 Fundamentals of Accounting </a:t>
            </a:r>
            <a:br>
              <a:rPr lang="en-US" b="1" dirty="0"/>
            </a:br>
            <a:r>
              <a:rPr lang="en-US" b="1" dirty="0"/>
              <a:t>(BSE-3rd Semester)</a:t>
            </a:r>
          </a:p>
        </p:txBody>
      </p:sp>
      <p:sp>
        <p:nvSpPr>
          <p:cNvPr id="3" name="Subtitle 2"/>
          <p:cNvSpPr>
            <a:spLocks noGrp="1"/>
          </p:cNvSpPr>
          <p:nvPr>
            <p:ph type="subTitle" idx="1"/>
          </p:nvPr>
        </p:nvSpPr>
        <p:spPr/>
        <p:txBody>
          <a:bodyPr/>
          <a:lstStyle/>
          <a:p>
            <a:pPr algn="l"/>
            <a:r>
              <a:rPr lang="en-US" dirty="0"/>
              <a:t>Mr. Sami </a:t>
            </a:r>
            <a:r>
              <a:rPr lang="en-US" dirty="0" err="1"/>
              <a:t>Ullah</a:t>
            </a:r>
            <a:r>
              <a:rPr lang="en-US" dirty="0"/>
              <a:t> </a:t>
            </a:r>
          </a:p>
          <a:p>
            <a:pPr algn="l"/>
            <a:r>
              <a:rPr lang="en-US" dirty="0"/>
              <a:t>Lecturer NU Fast Peshawar</a:t>
            </a:r>
          </a:p>
        </p:txBody>
      </p:sp>
    </p:spTree>
    <p:extLst>
      <p:ext uri="{BB962C8B-B14F-4D97-AF65-F5344CB8AC3E}">
        <p14:creationId xmlns:p14="http://schemas.microsoft.com/office/powerpoint/2010/main" val="3377136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Rule of Debit and Credit </a:t>
            </a:r>
            <a:r>
              <a:rPr lang="en-US" dirty="0"/>
              <a:t>(Rules for recording Business transaction)</a:t>
            </a:r>
          </a:p>
        </p:txBody>
      </p:sp>
      <p:sp>
        <p:nvSpPr>
          <p:cNvPr id="3" name="Content Placeholder 2"/>
          <p:cNvSpPr>
            <a:spLocks noGrp="1"/>
          </p:cNvSpPr>
          <p:nvPr>
            <p:ph idx="1"/>
          </p:nvPr>
        </p:nvSpPr>
        <p:spPr/>
        <p:txBody>
          <a:bodyPr/>
          <a:lstStyle/>
          <a:p>
            <a:pPr algn="just"/>
            <a:r>
              <a:rPr lang="en-US" dirty="0"/>
              <a:t>A ledger account (also known as T-account) consists of two sides – a left side and a right side. The left side is commonly referred to as debit side and the right side is commonly referred to as credit side. In practice, the term debit is denoted by “</a:t>
            </a:r>
            <a:r>
              <a:rPr lang="en-US" dirty="0" err="1"/>
              <a:t>Dr</a:t>
            </a:r>
            <a:r>
              <a:rPr lang="en-US" dirty="0"/>
              <a:t>” and the term credit is denoted by “Cr”.</a:t>
            </a:r>
          </a:p>
          <a:p>
            <a:pPr algn="just"/>
            <a:r>
              <a:rPr lang="en-US" dirty="0"/>
              <a:t>In the rest of the discussion we shall use the terms debit and credit rather than left and right.</a:t>
            </a:r>
          </a:p>
          <a:p>
            <a:endParaRPr lang="en-US" dirty="0"/>
          </a:p>
        </p:txBody>
      </p:sp>
    </p:spTree>
    <p:extLst>
      <p:ext uri="{BB962C8B-B14F-4D97-AF65-F5344CB8AC3E}">
        <p14:creationId xmlns:p14="http://schemas.microsoft.com/office/powerpoint/2010/main" val="2165551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2124"/>
            <a:ext cx="10515600" cy="5764839"/>
          </a:xfrm>
        </p:spPr>
        <p:txBody>
          <a:bodyPr>
            <a:normAutofit/>
          </a:bodyPr>
          <a:lstStyle/>
          <a:p>
            <a:pPr algn="just"/>
            <a:r>
              <a:rPr lang="en-US" dirty="0"/>
              <a:t>When a financial transaction occurs, it affects at least two accounts.</a:t>
            </a:r>
          </a:p>
          <a:p>
            <a:pPr algn="just"/>
            <a:r>
              <a:rPr lang="en-US" dirty="0"/>
              <a:t>For example, purchase of machinery for cash is a financial transaction that increases machinery and decreases cash because machinery comes in and cash goes out of business. </a:t>
            </a:r>
          </a:p>
          <a:p>
            <a:pPr algn="just"/>
            <a:r>
              <a:rPr lang="en-US" dirty="0"/>
              <a:t>The increase in machinery and decrease in cash must be recorded in the machinery account and the cash account respectively. </a:t>
            </a:r>
          </a:p>
          <a:p>
            <a:pPr algn="just"/>
            <a:r>
              <a:rPr lang="en-US" dirty="0"/>
              <a:t>As stated earlier, every ledger account has a debit and a credit side. Now the question is that on which side the increase or decrease in an account is to be recorded. </a:t>
            </a:r>
          </a:p>
          <a:p>
            <a:pPr algn="just"/>
            <a:r>
              <a:rPr lang="en-US" dirty="0"/>
              <a:t>The answer lies in the learning of </a:t>
            </a:r>
            <a:r>
              <a:rPr lang="en-US" b="1" dirty="0"/>
              <a:t>normal balances of accounts</a:t>
            </a:r>
            <a:r>
              <a:rPr lang="en-US" dirty="0"/>
              <a:t> and the </a:t>
            </a:r>
            <a:r>
              <a:rPr lang="en-US" b="1" dirty="0"/>
              <a:t>rules of debit and credit</a:t>
            </a:r>
            <a:r>
              <a:rPr lang="en-US" dirty="0"/>
              <a:t>.</a:t>
            </a:r>
          </a:p>
          <a:p>
            <a:endParaRPr lang="en-US" dirty="0"/>
          </a:p>
        </p:txBody>
      </p:sp>
    </p:spTree>
    <p:extLst>
      <p:ext uri="{BB962C8B-B14F-4D97-AF65-F5344CB8AC3E}">
        <p14:creationId xmlns:p14="http://schemas.microsoft.com/office/powerpoint/2010/main" val="4071769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Normal balance of accounts</a:t>
            </a:r>
            <a:endParaRPr lang="en-US" dirty="0"/>
          </a:p>
        </p:txBody>
      </p:sp>
      <p:sp>
        <p:nvSpPr>
          <p:cNvPr id="3" name="Content Placeholder 2"/>
          <p:cNvSpPr>
            <a:spLocks noGrp="1"/>
          </p:cNvSpPr>
          <p:nvPr>
            <p:ph idx="1"/>
          </p:nvPr>
        </p:nvSpPr>
        <p:spPr>
          <a:xfrm>
            <a:off x="838200" y="1690688"/>
            <a:ext cx="10515600" cy="4486275"/>
          </a:xfrm>
        </p:spPr>
        <p:txBody>
          <a:bodyPr>
            <a:normAutofit lnSpcReduction="10000"/>
          </a:bodyPr>
          <a:lstStyle/>
          <a:p>
            <a:pPr algn="just"/>
            <a:r>
              <a:rPr lang="en-US" dirty="0"/>
              <a:t>The understanding of </a:t>
            </a:r>
            <a:r>
              <a:rPr lang="en-US" b="1" dirty="0"/>
              <a:t>normal balance of accounts</a:t>
            </a:r>
            <a:r>
              <a:rPr lang="en-US" dirty="0"/>
              <a:t> helps understand the rules of debit and credit easily. If the normal balance of an account is </a:t>
            </a:r>
            <a:r>
              <a:rPr lang="en-US" dirty="0">
                <a:solidFill>
                  <a:schemeClr val="accent5"/>
                </a:solidFill>
              </a:rPr>
              <a:t>debit</a:t>
            </a:r>
            <a:r>
              <a:rPr lang="en-US" dirty="0"/>
              <a:t>, we shall record any increase in that account on the </a:t>
            </a:r>
            <a:r>
              <a:rPr lang="en-US" dirty="0">
                <a:solidFill>
                  <a:schemeClr val="accent5"/>
                </a:solidFill>
              </a:rPr>
              <a:t>debit side </a:t>
            </a:r>
            <a:r>
              <a:rPr lang="en-US" dirty="0"/>
              <a:t>and any decrease on the </a:t>
            </a:r>
            <a:r>
              <a:rPr lang="en-US" dirty="0">
                <a:solidFill>
                  <a:schemeClr val="accent5"/>
                </a:solidFill>
              </a:rPr>
              <a:t>credit side</a:t>
            </a:r>
            <a:r>
              <a:rPr lang="en-US" dirty="0"/>
              <a:t>. If, on the other hand, the normal balance of an account is </a:t>
            </a:r>
            <a:r>
              <a:rPr lang="en-US" dirty="0">
                <a:solidFill>
                  <a:srgbClr val="00B050"/>
                </a:solidFill>
              </a:rPr>
              <a:t>credit,</a:t>
            </a:r>
            <a:r>
              <a:rPr lang="en-US" dirty="0"/>
              <a:t> we shall record any increase in that account on the </a:t>
            </a:r>
            <a:r>
              <a:rPr lang="en-US" dirty="0">
                <a:solidFill>
                  <a:srgbClr val="00B050"/>
                </a:solidFill>
              </a:rPr>
              <a:t>credit side </a:t>
            </a:r>
            <a:r>
              <a:rPr lang="en-US" dirty="0"/>
              <a:t>and any decrease on the </a:t>
            </a:r>
            <a:r>
              <a:rPr lang="en-US" dirty="0">
                <a:solidFill>
                  <a:srgbClr val="00B050"/>
                </a:solidFill>
              </a:rPr>
              <a:t>debit side</a:t>
            </a:r>
            <a:r>
              <a:rPr lang="en-US" dirty="0"/>
              <a:t>.</a:t>
            </a:r>
          </a:p>
          <a:p>
            <a:pPr algn="just"/>
            <a:r>
              <a:rPr lang="en-US" dirty="0"/>
              <a:t>The normal balance of all </a:t>
            </a:r>
            <a:r>
              <a:rPr lang="en-US" dirty="0">
                <a:solidFill>
                  <a:srgbClr val="00B0F0"/>
                </a:solidFill>
              </a:rPr>
              <a:t>asset and expense </a:t>
            </a:r>
            <a:r>
              <a:rPr lang="en-US" dirty="0"/>
              <a:t>accounts is </a:t>
            </a:r>
            <a:r>
              <a:rPr lang="en-US" dirty="0">
                <a:solidFill>
                  <a:srgbClr val="00B0F0"/>
                </a:solidFill>
              </a:rPr>
              <a:t>debit</a:t>
            </a:r>
            <a:r>
              <a:rPr lang="en-US" dirty="0"/>
              <a:t> whereas the normal balance of all </a:t>
            </a:r>
            <a:r>
              <a:rPr lang="en-US" dirty="0">
                <a:solidFill>
                  <a:srgbClr val="FF0000"/>
                </a:solidFill>
              </a:rPr>
              <a:t>liabilities </a:t>
            </a:r>
            <a:r>
              <a:rPr lang="en-US" dirty="0"/>
              <a:t>and </a:t>
            </a:r>
            <a:r>
              <a:rPr lang="en-US" dirty="0">
                <a:solidFill>
                  <a:srgbClr val="FF0000"/>
                </a:solidFill>
              </a:rPr>
              <a:t>equity (or capital)</a:t>
            </a:r>
            <a:r>
              <a:rPr lang="en-US" dirty="0"/>
              <a:t> accounts is </a:t>
            </a:r>
            <a:r>
              <a:rPr lang="en-US" dirty="0">
                <a:solidFill>
                  <a:srgbClr val="FF0000"/>
                </a:solidFill>
              </a:rPr>
              <a:t>credit. </a:t>
            </a:r>
            <a:r>
              <a:rPr lang="en-US" dirty="0"/>
              <a:t>The normal balance of a contra account is always opposite to the main account to which the particular contra account relates.</a:t>
            </a:r>
          </a:p>
          <a:p>
            <a:pPr algn="just"/>
            <a:endParaRPr lang="en-US" dirty="0"/>
          </a:p>
          <a:p>
            <a:endParaRPr lang="en-US" dirty="0"/>
          </a:p>
        </p:txBody>
      </p:sp>
    </p:spTree>
    <p:extLst>
      <p:ext uri="{BB962C8B-B14F-4D97-AF65-F5344CB8AC3E}">
        <p14:creationId xmlns:p14="http://schemas.microsoft.com/office/powerpoint/2010/main" val="2687829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Rules of debit and credit 	</a:t>
            </a:r>
            <a:endParaRPr lang="en-US" dirty="0"/>
          </a:p>
        </p:txBody>
      </p:sp>
      <p:sp>
        <p:nvSpPr>
          <p:cNvPr id="3" name="Content Placeholder 2"/>
          <p:cNvSpPr>
            <a:spLocks noGrp="1"/>
          </p:cNvSpPr>
          <p:nvPr>
            <p:ph idx="1"/>
          </p:nvPr>
        </p:nvSpPr>
        <p:spPr/>
        <p:txBody>
          <a:bodyPr/>
          <a:lstStyle/>
          <a:p>
            <a:r>
              <a:rPr lang="en-US" b="1" dirty="0"/>
              <a:t>(1). Asset accounts:</a:t>
            </a:r>
          </a:p>
          <a:p>
            <a:r>
              <a:rPr lang="en-US" b="1" dirty="0"/>
              <a:t>Normal balance:</a:t>
            </a:r>
            <a:r>
              <a:rPr lang="en-US" dirty="0"/>
              <a:t> Debit</a:t>
            </a:r>
          </a:p>
          <a:p>
            <a:r>
              <a:rPr lang="en-US" b="1" dirty="0"/>
              <a:t>Rule:</a:t>
            </a:r>
            <a:r>
              <a:rPr lang="en-US" dirty="0"/>
              <a:t> An increase is recorded on the debit side and a decrease is recorded on the credit side of all asset accounts.</a:t>
            </a:r>
          </a:p>
          <a:p>
            <a:r>
              <a:rPr lang="en-US" b="1" dirty="0"/>
              <a:t>(2). Expense accounts:</a:t>
            </a:r>
          </a:p>
          <a:p>
            <a:r>
              <a:rPr lang="en-US" b="1" dirty="0"/>
              <a:t>Normal balance:</a:t>
            </a:r>
            <a:r>
              <a:rPr lang="en-US" dirty="0"/>
              <a:t> Debit</a:t>
            </a:r>
          </a:p>
          <a:p>
            <a:r>
              <a:rPr lang="en-US" b="1" dirty="0"/>
              <a:t>Rule: </a:t>
            </a:r>
            <a:r>
              <a:rPr lang="en-US" dirty="0"/>
              <a:t>An increase is recorded on the debit side and a decrease is recorded on the credit side of all expense accounts.</a:t>
            </a:r>
          </a:p>
          <a:p>
            <a:endParaRPr lang="en-US" dirty="0"/>
          </a:p>
        </p:txBody>
      </p:sp>
    </p:spTree>
    <p:extLst>
      <p:ext uri="{BB962C8B-B14F-4D97-AF65-F5344CB8AC3E}">
        <p14:creationId xmlns:p14="http://schemas.microsoft.com/office/powerpoint/2010/main" val="3396055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78794"/>
            <a:ext cx="10515600" cy="5198169"/>
          </a:xfrm>
        </p:spPr>
        <p:txBody>
          <a:bodyPr/>
          <a:lstStyle/>
          <a:p>
            <a:r>
              <a:rPr lang="en-US" b="1"/>
              <a:t>(3). </a:t>
            </a:r>
            <a:r>
              <a:rPr lang="en-US" b="1" dirty="0"/>
              <a:t>Liability accounts:</a:t>
            </a:r>
          </a:p>
          <a:p>
            <a:r>
              <a:rPr lang="en-US" b="1" dirty="0"/>
              <a:t>Normal balance:</a:t>
            </a:r>
            <a:r>
              <a:rPr lang="en-US" dirty="0"/>
              <a:t> Credit</a:t>
            </a:r>
          </a:p>
          <a:p>
            <a:r>
              <a:rPr lang="en-US" b="1" dirty="0"/>
              <a:t>Rule: </a:t>
            </a:r>
            <a:r>
              <a:rPr lang="en-US" dirty="0"/>
              <a:t>An increase is recorded on the credit side and a decrease is recorded on the debit side of all liability accounts.</a:t>
            </a:r>
          </a:p>
          <a:p>
            <a:r>
              <a:rPr lang="en-US" b="1" dirty="0"/>
              <a:t>(4). Revenue/Income accounts:</a:t>
            </a:r>
          </a:p>
          <a:p>
            <a:r>
              <a:rPr lang="en-US" b="1" dirty="0"/>
              <a:t>Normal balance:</a:t>
            </a:r>
            <a:r>
              <a:rPr lang="en-US" dirty="0"/>
              <a:t> Credit</a:t>
            </a:r>
          </a:p>
          <a:p>
            <a:r>
              <a:rPr lang="en-US" b="1" dirty="0"/>
              <a:t>Rule: </a:t>
            </a:r>
            <a:r>
              <a:rPr lang="en-US" dirty="0"/>
              <a:t>An increase is recorded on the credit side and a decrease is recorded on the debit side of all revenue accounts.</a:t>
            </a:r>
          </a:p>
          <a:p>
            <a:endParaRPr lang="en-US" dirty="0"/>
          </a:p>
        </p:txBody>
      </p:sp>
    </p:spTree>
    <p:extLst>
      <p:ext uri="{BB962C8B-B14F-4D97-AF65-F5344CB8AC3E}">
        <p14:creationId xmlns:p14="http://schemas.microsoft.com/office/powerpoint/2010/main" val="1273201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6823"/>
            <a:ext cx="10515600" cy="5520140"/>
          </a:xfrm>
        </p:spPr>
        <p:txBody>
          <a:bodyPr>
            <a:normAutofit/>
          </a:bodyPr>
          <a:lstStyle/>
          <a:p>
            <a:r>
              <a:rPr lang="en-US" b="1" dirty="0"/>
              <a:t>(5). Capital/Equity accounts:</a:t>
            </a:r>
          </a:p>
          <a:p>
            <a:r>
              <a:rPr lang="en-US" b="1" dirty="0"/>
              <a:t>Normal balance:</a:t>
            </a:r>
            <a:r>
              <a:rPr lang="en-US" dirty="0"/>
              <a:t> Credit</a:t>
            </a:r>
          </a:p>
          <a:p>
            <a:r>
              <a:rPr lang="en-US" b="1" dirty="0"/>
              <a:t>Rule: </a:t>
            </a:r>
            <a:r>
              <a:rPr lang="en-US" dirty="0"/>
              <a:t>An increase is recorded on the credit side and a decrease is recorded on the debit side of all equity accounts.</a:t>
            </a:r>
          </a:p>
          <a:p>
            <a:r>
              <a:rPr lang="en-US" b="1" dirty="0"/>
              <a:t>(6) Contra accounts:</a:t>
            </a:r>
          </a:p>
          <a:p>
            <a:r>
              <a:rPr lang="en-US" b="1" dirty="0"/>
              <a:t>Normal balance:</a:t>
            </a:r>
            <a:r>
              <a:rPr lang="en-US" dirty="0"/>
              <a:t> Always opposite to the relevant normal account. The normal balance of a contra account can be a debit balance or a credit balance</a:t>
            </a:r>
          </a:p>
          <a:p>
            <a:r>
              <a:rPr lang="en-US" i="1" dirty="0"/>
              <a:t>An example:</a:t>
            </a:r>
            <a:r>
              <a:rPr lang="en-US" b="1" dirty="0"/>
              <a:t> </a:t>
            </a:r>
            <a:r>
              <a:rPr lang="en-US" dirty="0"/>
              <a:t>Accounts receivable is an asset account that normally has a debit balance. The allowance for doubtful accounts is a contra account to the accounts receivable and normally has a credit (opposite) balance.</a:t>
            </a:r>
          </a:p>
          <a:p>
            <a:endParaRPr lang="en-US" dirty="0"/>
          </a:p>
        </p:txBody>
      </p:sp>
    </p:spTree>
    <p:extLst>
      <p:ext uri="{BB962C8B-B14F-4D97-AF65-F5344CB8AC3E}">
        <p14:creationId xmlns:p14="http://schemas.microsoft.com/office/powerpoint/2010/main" val="2983997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7882"/>
            <a:ext cx="10515600" cy="5739081"/>
          </a:xfrm>
        </p:spPr>
        <p:txBody>
          <a:bodyPr>
            <a:normAutofit/>
          </a:bodyPr>
          <a:lstStyle/>
          <a:p>
            <a:r>
              <a:rPr lang="en-US" dirty="0"/>
              <a:t>Other examples of contra accounts include:</a:t>
            </a:r>
          </a:p>
          <a:p>
            <a:pPr lvl="0"/>
            <a:r>
              <a:rPr lang="en-US" dirty="0"/>
              <a:t>accumulated depreciation account – a contra asset account</a:t>
            </a:r>
          </a:p>
          <a:p>
            <a:pPr lvl="0"/>
            <a:r>
              <a:rPr lang="en-US" dirty="0"/>
              <a:t>sales returns and allowances account – a contra revenue account</a:t>
            </a:r>
          </a:p>
          <a:p>
            <a:pPr lvl="0"/>
            <a:r>
              <a:rPr lang="en-US" dirty="0"/>
              <a:t>sales discount account – a contra revenue account</a:t>
            </a:r>
          </a:p>
          <a:p>
            <a:pPr lvl="0"/>
            <a:r>
              <a:rPr lang="en-US" dirty="0"/>
              <a:t>drawings account – a contra equity account</a:t>
            </a:r>
          </a:p>
          <a:p>
            <a:pPr lvl="0"/>
            <a:r>
              <a:rPr lang="en-US" dirty="0"/>
              <a:t>treasury stock account – a contra equity account</a:t>
            </a:r>
          </a:p>
          <a:p>
            <a:pPr lvl="0"/>
            <a:r>
              <a:rPr lang="en-US" dirty="0"/>
              <a:t>bonds discount account – a contra liability account</a:t>
            </a:r>
          </a:p>
          <a:p>
            <a:pPr algn="just"/>
            <a:r>
              <a:rPr lang="en-US" dirty="0"/>
              <a:t>For example, if the balance in </a:t>
            </a:r>
            <a:r>
              <a:rPr lang="en-US" b="1" i="1" dirty="0"/>
              <a:t>building account</a:t>
            </a:r>
            <a:r>
              <a:rPr lang="en-US" dirty="0"/>
              <a:t> is $500,000 and the balance in </a:t>
            </a:r>
            <a:r>
              <a:rPr lang="en-US" b="1" i="1" dirty="0"/>
              <a:t>accumulated depreciation – building</a:t>
            </a:r>
            <a:r>
              <a:rPr lang="en-US" dirty="0"/>
              <a:t> account is $150,000, the building would be reported at $350,000 (= $500,000 – $150,000) in the balance sheet.</a:t>
            </a:r>
          </a:p>
          <a:p>
            <a:endParaRPr lang="en-US" dirty="0"/>
          </a:p>
        </p:txBody>
      </p:sp>
    </p:spTree>
    <p:extLst>
      <p:ext uri="{BB962C8B-B14F-4D97-AF65-F5344CB8AC3E}">
        <p14:creationId xmlns:p14="http://schemas.microsoft.com/office/powerpoint/2010/main" val="304653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8034"/>
            <a:ext cx="10515600" cy="5648929"/>
          </a:xfrm>
        </p:spPr>
        <p:txBody>
          <a:bodyPr/>
          <a:lstStyle/>
          <a:p>
            <a:pPr algn="just"/>
            <a:r>
              <a:rPr lang="en-US" b="1" dirty="0"/>
              <a:t>Rule:</a:t>
            </a:r>
            <a:r>
              <a:rPr lang="en-US" dirty="0"/>
              <a:t> If the normal balance of the contra account is debit, the increase will be recorded on the debit side and the decrease will be recorded on the credit side. If, on the other hand, the normal balance of the contra account is credit, the increase is recorded on the credit side and the decrease is recorded on the debit side.</a:t>
            </a:r>
          </a:p>
          <a:p>
            <a:endParaRPr lang="en-US" dirty="0"/>
          </a:p>
        </p:txBody>
      </p:sp>
    </p:spTree>
    <p:extLst>
      <p:ext uri="{BB962C8B-B14F-4D97-AF65-F5344CB8AC3E}">
        <p14:creationId xmlns:p14="http://schemas.microsoft.com/office/powerpoint/2010/main" val="4173530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 summary of the whole discussion about rules of debit and credit is given below:</a:t>
            </a:r>
            <a:br>
              <a:rPr lang="en-US" b="1" dirty="0"/>
            </a:br>
            <a:endParaRPr lang="en-US" b="1" dirty="0"/>
          </a:p>
        </p:txBody>
      </p:sp>
      <p:pic>
        <p:nvPicPr>
          <p:cNvPr id="4" name="Content Placeholder 3" descr="https://www.accountingformanagement.org/wp-content/uploads/2015/08/rules-of-debit-and-credit-img1.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7888" y="1416676"/>
            <a:ext cx="8886422" cy="4623516"/>
          </a:xfrm>
          <a:prstGeom prst="rect">
            <a:avLst/>
          </a:prstGeom>
          <a:noFill/>
          <a:ln>
            <a:noFill/>
          </a:ln>
        </p:spPr>
      </p:pic>
    </p:spTree>
    <p:extLst>
      <p:ext uri="{BB962C8B-B14F-4D97-AF65-F5344CB8AC3E}">
        <p14:creationId xmlns:p14="http://schemas.microsoft.com/office/powerpoint/2010/main" val="333093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0608"/>
            <a:ext cx="10515600" cy="5816355"/>
          </a:xfrm>
        </p:spPr>
        <p:txBody>
          <a:bodyPr/>
          <a:lstStyle/>
          <a:p>
            <a:r>
              <a:rPr lang="en-US" b="1" dirty="0"/>
              <a:t>Example:</a:t>
            </a:r>
          </a:p>
          <a:p>
            <a:r>
              <a:rPr lang="en-US" dirty="0"/>
              <a:t>The following transactions are related to Small Traders:</a:t>
            </a:r>
          </a:p>
          <a:p>
            <a:pPr lvl="0"/>
            <a:r>
              <a:rPr lang="en-US" dirty="0"/>
              <a:t>Started business with cash $95,000.</a:t>
            </a:r>
          </a:p>
          <a:p>
            <a:pPr lvl="0"/>
            <a:r>
              <a:rPr lang="en-US" dirty="0"/>
              <a:t>Furniture purchased for cash to be used in business $8,000.</a:t>
            </a:r>
          </a:p>
          <a:p>
            <a:pPr lvl="0"/>
            <a:r>
              <a:rPr lang="en-US" dirty="0"/>
              <a:t>Purchased goods for cash $40,000.</a:t>
            </a:r>
          </a:p>
          <a:p>
            <a:pPr lvl="0"/>
            <a:r>
              <a:rPr lang="en-US" dirty="0"/>
              <a:t>Purchased goods on credit from Big Traders $57,000.</a:t>
            </a:r>
          </a:p>
          <a:p>
            <a:pPr lvl="0"/>
            <a:r>
              <a:rPr lang="en-US" dirty="0"/>
              <a:t>Sold goods for cash $5,000.</a:t>
            </a:r>
          </a:p>
          <a:p>
            <a:pPr lvl="0"/>
            <a:r>
              <a:rPr lang="en-US" dirty="0"/>
              <a:t>Purchased equipment for business $4,000.</a:t>
            </a:r>
          </a:p>
          <a:p>
            <a:pPr lvl="0"/>
            <a:r>
              <a:rPr lang="en-US" dirty="0"/>
              <a:t>Sold goods on credit to John Retailers $1,500.</a:t>
            </a:r>
          </a:p>
          <a:p>
            <a:pPr lvl="0"/>
            <a:r>
              <a:rPr lang="en-US" dirty="0"/>
              <a:t>Paid salary to employees $1,200</a:t>
            </a:r>
          </a:p>
          <a:p>
            <a:endParaRPr lang="en-US" dirty="0"/>
          </a:p>
        </p:txBody>
      </p:sp>
    </p:spTree>
    <p:extLst>
      <p:ext uri="{BB962C8B-B14F-4D97-AF65-F5344CB8AC3E}">
        <p14:creationId xmlns:p14="http://schemas.microsoft.com/office/powerpoint/2010/main" val="2908937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8186"/>
            <a:ext cx="10515600" cy="5558777"/>
          </a:xfrm>
        </p:spPr>
        <p:txBody>
          <a:bodyPr/>
          <a:lstStyle/>
          <a:p>
            <a:r>
              <a:rPr lang="en-US" b="1" dirty="0"/>
              <a:t>Required:</a:t>
            </a:r>
            <a:r>
              <a:rPr lang="en-US" dirty="0"/>
              <a:t> Identify the accounts involved in above transactions and state the nature of each account. Also mention how increases or decreases in accounts resulting from above transactions should be recorded.</a:t>
            </a:r>
            <a:br>
              <a:rPr lang="en-US" dirty="0"/>
            </a:br>
            <a:endParaRPr lang="en-US" dirty="0"/>
          </a:p>
        </p:txBody>
      </p:sp>
    </p:spTree>
    <p:extLst>
      <p:ext uri="{BB962C8B-B14F-4D97-AF65-F5344CB8AC3E}">
        <p14:creationId xmlns:p14="http://schemas.microsoft.com/office/powerpoint/2010/main" val="262767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ules-of-debit-and-credit-img2"/>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82592" y="103032"/>
            <a:ext cx="7379593" cy="6542468"/>
          </a:xfrm>
          <a:prstGeom prst="rect">
            <a:avLst/>
          </a:prstGeom>
          <a:noFill/>
          <a:ln>
            <a:noFill/>
          </a:ln>
        </p:spPr>
      </p:pic>
    </p:spTree>
    <p:extLst>
      <p:ext uri="{BB962C8B-B14F-4D97-AF65-F5344CB8AC3E}">
        <p14:creationId xmlns:p14="http://schemas.microsoft.com/office/powerpoint/2010/main" val="3884696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u="sng" dirty="0"/>
              <a:t>Five Basic Questions for Transaction Analysis:</a:t>
            </a:r>
            <a:br>
              <a:rPr lang="en-US" dirty="0"/>
            </a:br>
            <a:r>
              <a:rPr lang="en-US" dirty="0"/>
              <a:t>1. What's going on?</a:t>
            </a:r>
            <a:br>
              <a:rPr lang="en-US" dirty="0"/>
            </a:br>
            <a:r>
              <a:rPr lang="en-US" dirty="0"/>
              <a:t>2. What accounts are affected?</a:t>
            </a:r>
            <a:br>
              <a:rPr lang="en-US" dirty="0"/>
            </a:br>
            <a:r>
              <a:rPr lang="en-US" dirty="0"/>
              <a:t>3. How are they affected?</a:t>
            </a:r>
            <a:br>
              <a:rPr lang="en-US" dirty="0"/>
            </a:br>
            <a:r>
              <a:rPr lang="en-US" dirty="0"/>
              <a:t>4. Does the balance sheet balance?</a:t>
            </a:r>
            <a:br>
              <a:rPr lang="en-US" dirty="0"/>
            </a:br>
            <a:r>
              <a:rPr lang="en-US" dirty="0"/>
              <a:t>5. Does the analysis make sense?</a:t>
            </a:r>
          </a:p>
          <a:p>
            <a:endParaRPr lang="en-US" dirty="0"/>
          </a:p>
        </p:txBody>
      </p:sp>
    </p:spTree>
    <p:extLst>
      <p:ext uri="{BB962C8B-B14F-4D97-AF65-F5344CB8AC3E}">
        <p14:creationId xmlns:p14="http://schemas.microsoft.com/office/powerpoint/2010/main" val="3321795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Accrual Accounting vs. Cash Basis Accounting</a:t>
            </a:r>
            <a:endParaRPr lang="en-US" dirty="0"/>
          </a:p>
        </p:txBody>
      </p:sp>
      <p:sp>
        <p:nvSpPr>
          <p:cNvPr id="3" name="Content Placeholder 2"/>
          <p:cNvSpPr>
            <a:spLocks noGrp="1"/>
          </p:cNvSpPr>
          <p:nvPr>
            <p:ph idx="1"/>
          </p:nvPr>
        </p:nvSpPr>
        <p:spPr/>
        <p:txBody>
          <a:bodyPr>
            <a:normAutofit fontScale="92500"/>
          </a:bodyPr>
          <a:lstStyle/>
          <a:p>
            <a:pPr algn="just"/>
            <a:r>
              <a:rPr lang="en-US" dirty="0"/>
              <a:t>The main difference between accrual and cash basis accounting lies in the timing of when revenue and expenses are recognized. The cash method is a more immediate recognition of revenue and expenses, while the accrual method focuses on anticipated revenue and expenses.</a:t>
            </a:r>
          </a:p>
          <a:p>
            <a:r>
              <a:rPr lang="en-US" b="1" dirty="0"/>
              <a:t>Accrual Basis Accounting </a:t>
            </a:r>
          </a:p>
          <a:p>
            <a:pPr algn="just"/>
            <a:r>
              <a:rPr lang="en-US" dirty="0"/>
              <a:t>Revenue is accounted for when it is earned. Typically, revenue is recorded</a:t>
            </a:r>
            <a:r>
              <a:rPr lang="en-US" i="1" dirty="0"/>
              <a:t> before</a:t>
            </a:r>
            <a:r>
              <a:rPr lang="en-US" dirty="0"/>
              <a:t> any money changes hands. Unlike the cash method, the accrual method records revenue when a product or service is delivered to a customer with the expectation that money will be paid in the future. Expenses of goods and services are recorded despite no cash being paid out for those expenses.</a:t>
            </a:r>
          </a:p>
          <a:p>
            <a:endParaRPr lang="en-US" dirty="0"/>
          </a:p>
        </p:txBody>
      </p:sp>
    </p:spTree>
    <p:extLst>
      <p:ext uri="{BB962C8B-B14F-4D97-AF65-F5344CB8AC3E}">
        <p14:creationId xmlns:p14="http://schemas.microsoft.com/office/powerpoint/2010/main" val="7917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5321" y="743800"/>
            <a:ext cx="10515600" cy="4351338"/>
          </a:xfrm>
        </p:spPr>
        <p:txBody>
          <a:bodyPr/>
          <a:lstStyle/>
          <a:p>
            <a:r>
              <a:rPr lang="en-US" b="1" dirty="0"/>
              <a:t>Cash Basis Accounting</a:t>
            </a:r>
          </a:p>
          <a:p>
            <a:pPr algn="just"/>
            <a:r>
              <a:rPr lang="en-US" dirty="0"/>
              <a:t>Revenue is reported on the income statement only when cash is received. Expenses are only recorded when cash is paid out. </a:t>
            </a:r>
          </a:p>
          <a:p>
            <a:pPr algn="just"/>
            <a:r>
              <a:rPr lang="en-US" dirty="0"/>
              <a:t>The cash method is mostly used by small businesses and for personal finances.</a:t>
            </a:r>
          </a:p>
          <a:p>
            <a:endParaRPr lang="en-US" dirty="0"/>
          </a:p>
        </p:txBody>
      </p:sp>
    </p:spTree>
    <p:extLst>
      <p:ext uri="{BB962C8B-B14F-4D97-AF65-F5344CB8AC3E}">
        <p14:creationId xmlns:p14="http://schemas.microsoft.com/office/powerpoint/2010/main" val="3759249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1130</Words>
  <Application>Microsoft Office PowerPoint</Application>
  <PresentationFormat>Widescreen</PresentationFormat>
  <Paragraphs>62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AF1001 Fundamentals of Accounting  (BSE-3rd Semester)</vt:lpstr>
      <vt:lpstr>Rule of Debit and Credit (Rules for recording Business transaction)</vt:lpstr>
      <vt:lpstr>PowerPoint Presentation</vt:lpstr>
      <vt:lpstr>Normal balance of accounts</vt:lpstr>
      <vt:lpstr>Rules of debit and credit  </vt:lpstr>
      <vt:lpstr>PowerPoint Presentation</vt:lpstr>
      <vt:lpstr>PowerPoint Presentation</vt:lpstr>
      <vt:lpstr>PowerPoint Presentation</vt:lpstr>
      <vt:lpstr>PowerPoint Presentation</vt:lpstr>
      <vt:lpstr>A summary of the whole discussion about rules of debit and credit is given below: </vt:lpstr>
      <vt:lpstr>PowerPoint Presentation</vt:lpstr>
      <vt:lpstr>PowerPoint Presentation</vt:lpstr>
      <vt:lpstr>PowerPoint Presentation</vt:lpstr>
      <vt:lpstr>PowerPoint Presentation</vt:lpstr>
      <vt:lpstr>Accrual Accounting vs. Cash Basis Accounting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AF1001 Fundamentals of Accounting  (BSE-3rd Semester)</dc:title>
  <dc:creator>DELL</dc:creator>
  <cp:lastModifiedBy>sami ullah</cp:lastModifiedBy>
  <cp:revision>40</cp:revision>
  <dcterms:created xsi:type="dcterms:W3CDTF">2024-08-25T14:58:19Z</dcterms:created>
  <dcterms:modified xsi:type="dcterms:W3CDTF">2025-02-19T05:48:19Z</dcterms:modified>
</cp:coreProperties>
</file>