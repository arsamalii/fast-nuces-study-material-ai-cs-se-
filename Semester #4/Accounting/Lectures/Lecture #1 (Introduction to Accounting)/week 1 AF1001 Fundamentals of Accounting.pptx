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2" r:id="rId5"/>
    <p:sldId id="283" r:id="rId6"/>
    <p:sldId id="284" r:id="rId7"/>
    <p:sldId id="263" r:id="rId8"/>
    <p:sldId id="264" r:id="rId9"/>
    <p:sldId id="265" r:id="rId10"/>
    <p:sldId id="259" r:id="rId11"/>
    <p:sldId id="260" r:id="rId12"/>
    <p:sldId id="261" r:id="rId13"/>
    <p:sldId id="271" r:id="rId14"/>
    <p:sldId id="285" r:id="rId15"/>
    <p:sldId id="286" r:id="rId16"/>
    <p:sldId id="287" r:id="rId17"/>
    <p:sldId id="288" r:id="rId18"/>
    <p:sldId id="289" r:id="rId19"/>
    <p:sldId id="266" r:id="rId20"/>
    <p:sldId id="267" r:id="rId21"/>
    <p:sldId id="268" r:id="rId22"/>
    <p:sldId id="269" r:id="rId23"/>
    <p:sldId id="270"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116" d="100"/>
          <a:sy n="116" d="100"/>
        </p:scale>
        <p:origin x="2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D9F4CA0-EE7E-49A9-B605-B003B513AFDA}"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389378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F4CA0-EE7E-49A9-B605-B003B513AFDA}"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1482927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9F4CA0-EE7E-49A9-B605-B003B513AFDA}"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1491624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9F4CA0-EE7E-49A9-B605-B003B513AFDA}"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47646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9F4CA0-EE7E-49A9-B605-B003B513AFDA}" type="datetimeFigureOut">
              <a:rPr lang="en-US" smtClean="0"/>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222849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D9F4CA0-EE7E-49A9-B605-B003B513AFDA}" type="datetimeFigureOut">
              <a:rPr lang="en-US" smtClean="0"/>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1083313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9F4CA0-EE7E-49A9-B605-B003B513AFDA}" type="datetimeFigureOut">
              <a:rPr lang="en-US" smtClean="0"/>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1681039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F4CA0-EE7E-49A9-B605-B003B513AFDA}"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956690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F4CA0-EE7E-49A9-B605-B003B513AFDA}"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792201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F4CA0-EE7E-49A9-B605-B003B513AFDA}"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103731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F4CA0-EE7E-49A9-B605-B003B513AFDA}"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1925-0DAC-496B-946E-819214E46E71}" type="slidenum">
              <a:rPr lang="en-US" smtClean="0"/>
              <a:t>‹#›</a:t>
            </a:fld>
            <a:endParaRPr lang="en-US"/>
          </a:p>
        </p:txBody>
      </p:sp>
    </p:spTree>
    <p:extLst>
      <p:ext uri="{BB962C8B-B14F-4D97-AF65-F5344CB8AC3E}">
        <p14:creationId xmlns:p14="http://schemas.microsoft.com/office/powerpoint/2010/main" val="3256706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F4CA0-EE7E-49A9-B605-B003B513AFDA}" type="datetimeFigureOut">
              <a:rPr lang="en-US" smtClean="0"/>
              <a:t>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021925-0DAC-496B-946E-819214E46E71}" type="slidenum">
              <a:rPr lang="en-US" smtClean="0"/>
              <a:t>‹#›</a:t>
            </a:fld>
            <a:endParaRPr lang="en-US"/>
          </a:p>
        </p:txBody>
      </p:sp>
    </p:spTree>
    <p:extLst>
      <p:ext uri="{BB962C8B-B14F-4D97-AF65-F5344CB8AC3E}">
        <p14:creationId xmlns:p14="http://schemas.microsoft.com/office/powerpoint/2010/main" val="3882888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AF1001 Fundamentals of Accounting </a:t>
            </a:r>
            <a:br>
              <a:rPr lang="en-US" b="1" dirty="0" smtClean="0"/>
            </a:br>
            <a:r>
              <a:rPr lang="en-US" b="1" dirty="0" smtClean="0"/>
              <a:t>(BSE-3rd Semester)</a:t>
            </a:r>
            <a:endParaRPr lang="en-US" b="1" dirty="0"/>
          </a:p>
        </p:txBody>
      </p:sp>
      <p:sp>
        <p:nvSpPr>
          <p:cNvPr id="3" name="Subtitle 2"/>
          <p:cNvSpPr>
            <a:spLocks noGrp="1"/>
          </p:cNvSpPr>
          <p:nvPr>
            <p:ph type="subTitle" idx="1"/>
          </p:nvPr>
        </p:nvSpPr>
        <p:spPr/>
        <p:txBody>
          <a:bodyPr/>
          <a:lstStyle/>
          <a:p>
            <a:pPr algn="l"/>
            <a:r>
              <a:rPr lang="en-US" dirty="0" smtClean="0"/>
              <a:t>Mr. Sami </a:t>
            </a:r>
            <a:r>
              <a:rPr lang="en-US" dirty="0" err="1" smtClean="0"/>
              <a:t>Ullah</a:t>
            </a:r>
            <a:r>
              <a:rPr lang="en-US" dirty="0" smtClean="0"/>
              <a:t> </a:t>
            </a:r>
          </a:p>
          <a:p>
            <a:pPr algn="l"/>
            <a:r>
              <a:rPr lang="en-US" dirty="0" smtClean="0"/>
              <a:t>Lecturer NU </a:t>
            </a:r>
            <a:r>
              <a:rPr lang="en-US" smtClean="0"/>
              <a:t>Fast </a:t>
            </a:r>
            <a:r>
              <a:rPr lang="en-US" smtClean="0"/>
              <a:t>Peshawar</a:t>
            </a:r>
            <a:endParaRPr lang="en-US" dirty="0" smtClean="0"/>
          </a:p>
        </p:txBody>
      </p:sp>
    </p:spTree>
    <p:extLst>
      <p:ext uri="{BB962C8B-B14F-4D97-AF65-F5344CB8AC3E}">
        <p14:creationId xmlns:p14="http://schemas.microsoft.com/office/powerpoint/2010/main" val="6763483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656618" y="964872"/>
            <a:ext cx="7598535" cy="5087155"/>
          </a:xfrm>
          <a:prstGeom prst="rect">
            <a:avLst/>
          </a:prstGeom>
        </p:spPr>
      </p:pic>
    </p:spTree>
    <p:extLst>
      <p:ext uri="{BB962C8B-B14F-4D97-AF65-F5344CB8AC3E}">
        <p14:creationId xmlns:p14="http://schemas.microsoft.com/office/powerpoint/2010/main" val="553169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Accounting?</a:t>
            </a:r>
            <a:endParaRPr lang="en-US" dirty="0"/>
          </a:p>
        </p:txBody>
      </p:sp>
      <p:sp>
        <p:nvSpPr>
          <p:cNvPr id="5" name="Content Placeholder 4"/>
          <p:cNvSpPr>
            <a:spLocks noGrp="1"/>
          </p:cNvSpPr>
          <p:nvPr>
            <p:ph idx="1"/>
          </p:nvPr>
        </p:nvSpPr>
        <p:spPr/>
        <p:txBody>
          <a:bodyPr/>
          <a:lstStyle/>
          <a:p>
            <a:r>
              <a:rPr lang="en-US" b="1" dirty="0"/>
              <a:t>Accounting</a:t>
            </a:r>
            <a:r>
              <a:rPr lang="en-US" dirty="0"/>
              <a:t> is the process of</a:t>
            </a:r>
            <a:r>
              <a:rPr lang="en-US" dirty="0" smtClean="0"/>
              <a:t>:</a:t>
            </a:r>
          </a:p>
          <a:p>
            <a:r>
              <a:rPr lang="en-US" dirty="0" smtClean="0"/>
              <a:t>Recording </a:t>
            </a:r>
            <a:r>
              <a:rPr lang="en-US" dirty="0"/>
              <a:t>financial transactions.</a:t>
            </a:r>
          </a:p>
          <a:p>
            <a:r>
              <a:rPr lang="en-US" dirty="0"/>
              <a:t>Classifying and categorizing these transactions.</a:t>
            </a:r>
          </a:p>
          <a:p>
            <a:r>
              <a:rPr lang="en-US" dirty="0"/>
              <a:t>Summarizing and analyzing the results.</a:t>
            </a:r>
          </a:p>
          <a:p>
            <a:r>
              <a:rPr lang="en-US" dirty="0"/>
              <a:t>Reporting on these activities to </a:t>
            </a:r>
            <a:r>
              <a:rPr lang="en-US" dirty="0" smtClean="0"/>
              <a:t>the relevant stakeholders. </a:t>
            </a:r>
            <a:endParaRPr lang="en-US" dirty="0"/>
          </a:p>
        </p:txBody>
      </p:sp>
    </p:spTree>
    <p:extLst>
      <p:ext uri="{BB962C8B-B14F-4D97-AF65-F5344CB8AC3E}">
        <p14:creationId xmlns:p14="http://schemas.microsoft.com/office/powerpoint/2010/main" val="74831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0006"/>
            <a:ext cx="10515600" cy="5326957"/>
          </a:xfrm>
        </p:spPr>
        <p:txBody>
          <a:bodyPr/>
          <a:lstStyle/>
          <a:p>
            <a:pPr algn="just"/>
            <a:r>
              <a:rPr lang="en-US" dirty="0">
                <a:latin typeface="Times New Roman" panose="02020603050405020304" pitchFamily="18" charset="0"/>
                <a:cs typeface="Times New Roman" panose="02020603050405020304" pitchFamily="18" charset="0"/>
              </a:rPr>
              <a:t>According to the American Accounting Association (AAA), accounting is the process of </a:t>
            </a:r>
            <a:r>
              <a:rPr lang="en-US" b="1" dirty="0">
                <a:solidFill>
                  <a:srgbClr val="00B050"/>
                </a:solidFill>
                <a:latin typeface="Times New Roman" panose="02020603050405020304" pitchFamily="18" charset="0"/>
                <a:cs typeface="Times New Roman" panose="02020603050405020304" pitchFamily="18" charset="0"/>
              </a:rPr>
              <a:t>identifying</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measuring</a:t>
            </a:r>
            <a:r>
              <a:rPr lang="en-US" dirty="0">
                <a:latin typeface="Times New Roman" panose="02020603050405020304" pitchFamily="18" charset="0"/>
                <a:cs typeface="Times New Roman" panose="02020603050405020304" pitchFamily="18" charset="0"/>
              </a:rPr>
              <a:t> and </a:t>
            </a:r>
            <a:r>
              <a:rPr lang="en-US" b="1" dirty="0" smtClean="0">
                <a:solidFill>
                  <a:srgbClr val="00B0F0"/>
                </a:solidFill>
                <a:latin typeface="Times New Roman" panose="02020603050405020304" pitchFamily="18" charset="0"/>
                <a:cs typeface="Times New Roman" panose="02020603050405020304" pitchFamily="18" charset="0"/>
              </a:rPr>
              <a:t>communicating</a:t>
            </a:r>
            <a:r>
              <a:rPr lang="en-US" dirty="0" smtClean="0">
                <a:latin typeface="Times New Roman" panose="02020603050405020304" pitchFamily="18" charset="0"/>
                <a:cs typeface="Times New Roman" panose="02020603050405020304" pitchFamily="18" charset="0"/>
              </a:rPr>
              <a:t> economic </a:t>
            </a:r>
            <a:r>
              <a:rPr lang="en-US" dirty="0">
                <a:latin typeface="Times New Roman" panose="02020603050405020304" pitchFamily="18" charset="0"/>
                <a:cs typeface="Times New Roman" panose="02020603050405020304" pitchFamily="18" charset="0"/>
              </a:rPr>
              <a:t>information to permit informed judgment and decision by users of the </a:t>
            </a:r>
            <a:r>
              <a:rPr lang="en-US" dirty="0" smtClean="0">
                <a:latin typeface="Times New Roman" panose="02020603050405020304" pitchFamily="18" charset="0"/>
                <a:cs typeface="Times New Roman" panose="02020603050405020304" pitchFamily="18" charset="0"/>
              </a:rPr>
              <a:t>information</a:t>
            </a:r>
          </a:p>
          <a:p>
            <a:pPr algn="just"/>
            <a:r>
              <a:rPr lang="en-US" dirty="0">
                <a:latin typeface="Times New Roman" panose="02020603050405020304" pitchFamily="18" charset="0"/>
                <a:cs typeface="Times New Roman" panose="02020603050405020304" pitchFamily="18" charset="0"/>
              </a:rPr>
              <a:t>Accounting is an information system that </a:t>
            </a:r>
            <a:r>
              <a:rPr lang="en-US" dirty="0">
                <a:solidFill>
                  <a:srgbClr val="00B0F0"/>
                </a:solidFill>
                <a:latin typeface="Times New Roman" panose="02020603050405020304" pitchFamily="18" charset="0"/>
                <a:cs typeface="Times New Roman" panose="02020603050405020304" pitchFamily="18" charset="0"/>
              </a:rPr>
              <a:t>identifies, records, and communicates the economic events </a:t>
            </a:r>
            <a:r>
              <a:rPr lang="en-US" dirty="0">
                <a:latin typeface="Times New Roman" panose="02020603050405020304" pitchFamily="18" charset="0"/>
                <a:cs typeface="Times New Roman" panose="02020603050405020304" pitchFamily="18" charset="0"/>
              </a:rPr>
              <a:t>of an organization to interested </a:t>
            </a:r>
            <a:r>
              <a:rPr lang="en-US" dirty="0" smtClean="0">
                <a:latin typeface="Times New Roman" panose="02020603050405020304" pitchFamily="18" charset="0"/>
                <a:cs typeface="Times New Roman" panose="02020603050405020304" pitchFamily="18" charset="0"/>
              </a:rPr>
              <a:t>users. </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165402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87886" y="592428"/>
            <a:ext cx="8293995" cy="5563673"/>
          </a:xfrm>
          <a:prstGeom prst="rect">
            <a:avLst/>
          </a:prstGeom>
        </p:spPr>
      </p:pic>
    </p:spTree>
    <p:extLst>
      <p:ext uri="{BB962C8B-B14F-4D97-AF65-F5344CB8AC3E}">
        <p14:creationId xmlns:p14="http://schemas.microsoft.com/office/powerpoint/2010/main" val="31768412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Is Accounting Art or Science?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Accounting is </a:t>
            </a:r>
            <a:r>
              <a:rPr lang="en-US" b="1" dirty="0">
                <a:latin typeface="Times New Roman" panose="02020603050405020304" pitchFamily="18" charset="0"/>
                <a:cs typeface="Times New Roman" panose="02020603050405020304" pitchFamily="18" charset="0"/>
              </a:rPr>
              <a:t>both an art and a science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It is an art because it involves creative judgment in presenting financial findings in a structured way. It is also an art of recording, classifying and summarizing financial transactions. </a:t>
            </a:r>
          </a:p>
          <a:p>
            <a:pPr algn="just"/>
            <a:r>
              <a:rPr lang="en-US" dirty="0">
                <a:latin typeface="Times New Roman" panose="02020603050405020304" pitchFamily="18" charset="0"/>
                <a:cs typeface="Times New Roman" panose="02020603050405020304" pitchFamily="18" charset="0"/>
              </a:rPr>
              <a:t>Accounting is a science because it is structured knowledge based on certain basic principles. It comprises of rules, principles, concepts, convention and standards</a:t>
            </a:r>
          </a:p>
        </p:txBody>
      </p:sp>
    </p:spTree>
    <p:extLst>
      <p:ext uri="{BB962C8B-B14F-4D97-AF65-F5344CB8AC3E}">
        <p14:creationId xmlns:p14="http://schemas.microsoft.com/office/powerpoint/2010/main" val="4017036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accounting process</a:t>
            </a:r>
            <a:endParaRPr lang="en-US" b="1" dirty="0"/>
          </a:p>
        </p:txBody>
      </p:sp>
      <p:sp>
        <p:nvSpPr>
          <p:cNvPr id="4" name="Rectangle 3"/>
          <p:cNvSpPr/>
          <p:nvPr/>
        </p:nvSpPr>
        <p:spPr>
          <a:xfrm>
            <a:off x="978794" y="1545465"/>
            <a:ext cx="9581882" cy="4955203"/>
          </a:xfrm>
          <a:prstGeom prst="rect">
            <a:avLst/>
          </a:prstGeom>
        </p:spPr>
        <p:txBody>
          <a:bodyPr wrap="square">
            <a:spAutoFit/>
          </a:bodyPr>
          <a:lstStyle/>
          <a:p>
            <a:pPr algn="just"/>
            <a:r>
              <a:rPr lang="en-US" sz="2000" dirty="0" smtClean="0">
                <a:latin typeface="Times New Roman" panose="02020603050405020304" pitchFamily="18" charset="0"/>
                <a:cs typeface="Times New Roman" panose="02020603050405020304" pitchFamily="18" charset="0"/>
              </a:rPr>
              <a:t>Accounting consists of three basic activities—it  </a:t>
            </a:r>
            <a:r>
              <a:rPr lang="en-US" sz="2000" dirty="0" smtClean="0">
                <a:solidFill>
                  <a:srgbClr val="C00000"/>
                </a:solidFill>
                <a:latin typeface="Times New Roman" panose="02020603050405020304" pitchFamily="18" charset="0"/>
                <a:cs typeface="Times New Roman" panose="02020603050405020304" pitchFamily="18" charset="0"/>
              </a:rPr>
              <a:t>identifies</a:t>
            </a:r>
            <a:r>
              <a:rPr lang="en-US" sz="2000" dirty="0" smtClean="0">
                <a:latin typeface="Times New Roman" panose="02020603050405020304" pitchFamily="18" charset="0"/>
                <a:cs typeface="Times New Roman" panose="02020603050405020304" pitchFamily="18" charset="0"/>
              </a:rPr>
              <a:t>,  </a:t>
            </a:r>
            <a:r>
              <a:rPr lang="en-US" sz="2000" dirty="0" smtClean="0">
                <a:solidFill>
                  <a:srgbClr val="C00000"/>
                </a:solidFill>
                <a:latin typeface="Times New Roman" panose="02020603050405020304" pitchFamily="18" charset="0"/>
                <a:cs typeface="Times New Roman" panose="02020603050405020304" pitchFamily="18" charset="0"/>
              </a:rPr>
              <a:t>records</a:t>
            </a:r>
            <a:r>
              <a:rPr lang="en-US" sz="2000" dirty="0" smtClean="0">
                <a:latin typeface="Times New Roman" panose="02020603050405020304" pitchFamily="18" charset="0"/>
                <a:cs typeface="Times New Roman" panose="02020603050405020304" pitchFamily="18" charset="0"/>
              </a:rPr>
              <a:t>, and </a:t>
            </a:r>
            <a:r>
              <a:rPr lang="en-US" sz="2000" dirty="0" smtClean="0">
                <a:solidFill>
                  <a:srgbClr val="C00000"/>
                </a:solidFill>
                <a:latin typeface="Times New Roman" panose="02020603050405020304" pitchFamily="18" charset="0"/>
                <a:cs typeface="Times New Roman" panose="02020603050405020304" pitchFamily="18" charset="0"/>
              </a:rPr>
              <a:t>communicates</a:t>
            </a:r>
            <a:r>
              <a:rPr lang="en-US" sz="2000" dirty="0" smtClean="0">
                <a:latin typeface="Times New Roman" panose="02020603050405020304" pitchFamily="18" charset="0"/>
                <a:cs typeface="Times New Roman" panose="02020603050405020304" pitchFamily="18" charset="0"/>
              </a:rPr>
              <a:t> the economic events of an organization to interested users. </a:t>
            </a:r>
          </a:p>
          <a:p>
            <a:pPr algn="just"/>
            <a:endParaRPr lang="en-US" sz="2000" b="1" dirty="0" smtClean="0">
              <a:solidFill>
                <a:srgbClr val="FF0000"/>
              </a:solidFill>
              <a:latin typeface="Times New Roman" panose="02020603050405020304" pitchFamily="18" charset="0"/>
              <a:cs typeface="Times New Roman" panose="02020603050405020304" pitchFamily="18" charset="0"/>
            </a:endParaRPr>
          </a:p>
          <a:p>
            <a:pPr algn="just"/>
            <a:r>
              <a:rPr lang="en-US" sz="2000" b="1" dirty="0" smtClean="0">
                <a:solidFill>
                  <a:srgbClr val="FF0000"/>
                </a:solidFill>
                <a:latin typeface="Times New Roman" panose="02020603050405020304" pitchFamily="18" charset="0"/>
                <a:cs typeface="Times New Roman" panose="02020603050405020304" pitchFamily="18" charset="0"/>
              </a:rPr>
              <a:t>Three Activities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As a starting point to the accounting process, a company identifies the economic events relevant to its business. </a:t>
            </a:r>
            <a:r>
              <a:rPr lang="en-US" sz="2000" dirty="0" smtClean="0">
                <a:solidFill>
                  <a:srgbClr val="C00000"/>
                </a:solidFill>
                <a:latin typeface="Times New Roman" panose="02020603050405020304" pitchFamily="18" charset="0"/>
                <a:cs typeface="Times New Roman" panose="02020603050405020304" pitchFamily="18" charset="0"/>
              </a:rPr>
              <a:t>Examples of economic events are the sale of snack chips by PepsiCo, the provision of cell phone services by AT&amp;T (American Telephone and Telegraph Co.), and the payment of wages by Facebook.</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Once a company like PepsiCo identifies economic events, it records those events in order to provide a history of its financial activities. </a:t>
            </a:r>
            <a:r>
              <a:rPr lang="en-US" sz="2000" dirty="0" smtClean="0">
                <a:solidFill>
                  <a:srgbClr val="C00000"/>
                </a:solidFill>
                <a:latin typeface="Times New Roman" panose="02020603050405020304" pitchFamily="18" charset="0"/>
                <a:cs typeface="Times New Roman" panose="02020603050405020304" pitchFamily="18" charset="0"/>
              </a:rPr>
              <a:t>Recording consists of keeping a  systematic,  chronological diary of events, measured in dollars and cents.</a:t>
            </a:r>
            <a:r>
              <a:rPr lang="en-US" sz="2000" dirty="0" smtClean="0">
                <a:latin typeface="Times New Roman" panose="02020603050405020304" pitchFamily="18" charset="0"/>
                <a:cs typeface="Times New Roman" panose="02020603050405020304" pitchFamily="18" charset="0"/>
              </a:rPr>
              <a:t> In recording, PepsiCo also classifies and summarizes economic events.</a:t>
            </a:r>
          </a:p>
          <a:p>
            <a:pPr algn="just"/>
            <a:endParaRPr lang="en-US" dirty="0">
              <a:latin typeface="Times New Roman" panose="02020603050405020304" pitchFamily="18"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33850070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The Accounting</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process (Contd.)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65160"/>
            <a:ext cx="10515600" cy="5151549"/>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Finally, PepsiCo</a:t>
            </a:r>
            <a:r>
              <a:rPr lang="en-US" sz="2400" dirty="0">
                <a:solidFill>
                  <a:srgbClr val="C00000"/>
                </a:solidFill>
                <a:latin typeface="Times New Roman" panose="02020603050405020304" pitchFamily="18" charset="0"/>
                <a:cs typeface="Times New Roman" panose="02020603050405020304" pitchFamily="18" charset="0"/>
              </a:rPr>
              <a:t> communicates </a:t>
            </a:r>
            <a:r>
              <a:rPr lang="en-US" sz="2400" dirty="0">
                <a:latin typeface="Times New Roman" panose="02020603050405020304" pitchFamily="18" charset="0"/>
                <a:cs typeface="Times New Roman" panose="02020603050405020304" pitchFamily="18" charset="0"/>
              </a:rPr>
              <a:t>the collected information to interested users by means of accounting reports. The most common of these reports are called financial statements. To make the reported financial information meaningful, PepsiCo reports the recorded data in a standardized way. It accumulates information resulting from similar transactions.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For example, PepsiCo accumulates all sales transactions over a certain period of time and reports the data as one amount in the company’s financial statements. Such data are said to be reported in the aggregate. By presenting the recorded data in the aggregate, the accounting process simplifies a multitude of transactions and makes a series of activities understandable and meaningful.</a:t>
            </a:r>
          </a:p>
          <a:p>
            <a:pPr algn="just"/>
            <a:r>
              <a:rPr lang="en-US" sz="2400" dirty="0" smtClean="0">
                <a:latin typeface="Times New Roman" panose="02020603050405020304" pitchFamily="18" charset="0"/>
                <a:cs typeface="Times New Roman" panose="02020603050405020304" pitchFamily="18" charset="0"/>
              </a:rPr>
              <a:t>A vital element in communicating economic events is the accountant’s ability to  analyze  and  interpret the reported information. </a:t>
            </a:r>
          </a:p>
          <a:p>
            <a:pPr algn="just"/>
            <a:r>
              <a:rPr lang="en-US" sz="2400" dirty="0" smtClean="0">
                <a:latin typeface="Times New Roman" panose="02020603050405020304" pitchFamily="18" charset="0"/>
                <a:cs typeface="Times New Roman" panose="02020603050405020304" pitchFamily="18" charset="0"/>
              </a:rPr>
              <a:t>Analysis involves use of ratios, percentages, graphs, and charts to highlight significant  financial  trends and relationships. Interpretation involves  explaining the uses,  meaning,  and limitations of reported data.</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7362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1237" y="5181824"/>
            <a:ext cx="8061101" cy="600790"/>
          </a:xfrm>
        </p:spPr>
        <p:txBody>
          <a:bodyPr>
            <a:normAutofit/>
          </a:bodyPr>
          <a:lstStyle/>
          <a:p>
            <a:r>
              <a:rPr lang="en-US" sz="2400" dirty="0" smtClean="0"/>
              <a:t>Illustration 1.1 Activities in accounting process</a:t>
            </a:r>
            <a:endParaRPr lang="en-US" sz="2400" dirty="0"/>
          </a:p>
        </p:txBody>
      </p:sp>
      <p:pic>
        <p:nvPicPr>
          <p:cNvPr id="4" name="Content Placeholder 3"/>
          <p:cNvPicPr>
            <a:picLocks noGrp="1" noChangeAspect="1"/>
          </p:cNvPicPr>
          <p:nvPr>
            <p:ph idx="1"/>
          </p:nvPr>
        </p:nvPicPr>
        <p:blipFill>
          <a:blip r:embed="rId2"/>
          <a:stretch>
            <a:fillRect/>
          </a:stretch>
        </p:blipFill>
        <p:spPr>
          <a:xfrm>
            <a:off x="838201" y="643945"/>
            <a:ext cx="9773992" cy="4198512"/>
          </a:xfrm>
          <a:prstGeom prst="rect">
            <a:avLst/>
          </a:prstGeom>
        </p:spPr>
      </p:pic>
    </p:spTree>
    <p:extLst>
      <p:ext uri="{BB962C8B-B14F-4D97-AF65-F5344CB8AC3E}">
        <p14:creationId xmlns:p14="http://schemas.microsoft.com/office/powerpoint/2010/main" val="21948501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Purpose of Accounting:</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purpose of accounting</a:t>
            </a:r>
            <a:r>
              <a:rPr lang="en-US" dirty="0"/>
              <a:t> is to</a:t>
            </a:r>
            <a:r>
              <a:rPr lang="en-US" dirty="0" smtClean="0"/>
              <a:t>:</a:t>
            </a:r>
          </a:p>
          <a:p>
            <a:pPr algn="just"/>
            <a:r>
              <a:rPr lang="en-US" dirty="0" smtClean="0">
                <a:solidFill>
                  <a:srgbClr val="00B0F0"/>
                </a:solidFill>
              </a:rPr>
              <a:t>Accumulate </a:t>
            </a:r>
            <a:r>
              <a:rPr lang="en-US" dirty="0">
                <a:solidFill>
                  <a:srgbClr val="00B0F0"/>
                </a:solidFill>
              </a:rPr>
              <a:t>and report financial information about a </a:t>
            </a:r>
            <a:r>
              <a:rPr lang="en-US" dirty="0" smtClean="0">
                <a:solidFill>
                  <a:srgbClr val="00B0F0"/>
                </a:solidFill>
              </a:rPr>
              <a:t>business.</a:t>
            </a:r>
            <a:endParaRPr lang="en-US" dirty="0">
              <a:solidFill>
                <a:srgbClr val="00B0F0"/>
              </a:solidFill>
            </a:endParaRPr>
          </a:p>
          <a:p>
            <a:pPr algn="just"/>
            <a:r>
              <a:rPr lang="en-US" dirty="0">
                <a:solidFill>
                  <a:srgbClr val="FF0000"/>
                </a:solidFill>
              </a:rPr>
              <a:t>Help stakeholders and shareholders make rational </a:t>
            </a:r>
            <a:r>
              <a:rPr lang="en-US" dirty="0" smtClean="0">
                <a:solidFill>
                  <a:srgbClr val="FF0000"/>
                </a:solidFill>
              </a:rPr>
              <a:t>decisions</a:t>
            </a:r>
            <a:r>
              <a:rPr lang="en-US" dirty="0" smtClean="0"/>
              <a:t>.</a:t>
            </a:r>
            <a:endParaRPr lang="en-US" dirty="0"/>
          </a:p>
          <a:p>
            <a:pPr algn="just"/>
            <a:r>
              <a:rPr lang="en-US" dirty="0">
                <a:solidFill>
                  <a:srgbClr val="00B050"/>
                </a:solidFill>
              </a:rPr>
              <a:t>Provide information about a company's results of operations, </a:t>
            </a:r>
            <a:r>
              <a:rPr lang="en-US" dirty="0" smtClean="0">
                <a:solidFill>
                  <a:srgbClr val="00B050"/>
                </a:solidFill>
              </a:rPr>
              <a:t>financial position</a:t>
            </a:r>
            <a:r>
              <a:rPr lang="en-US" dirty="0">
                <a:solidFill>
                  <a:srgbClr val="00B050"/>
                </a:solidFill>
              </a:rPr>
              <a:t>, solvency, liquidity, cash flows, and other economic </a:t>
            </a:r>
            <a:r>
              <a:rPr lang="en-US" dirty="0" smtClean="0">
                <a:solidFill>
                  <a:srgbClr val="00B050"/>
                </a:solidFill>
              </a:rPr>
              <a:t>information.</a:t>
            </a:r>
            <a:endParaRPr lang="en-US" dirty="0">
              <a:solidFill>
                <a:srgbClr val="00B050"/>
              </a:solidFill>
            </a:endParaRPr>
          </a:p>
          <a:p>
            <a:pPr algn="just"/>
            <a:r>
              <a:rPr lang="en-US" dirty="0"/>
              <a:t>Assist managers in making decisions related to operations, investments, and other activities necessary for running the business </a:t>
            </a:r>
            <a:r>
              <a:rPr lang="en-US" dirty="0" smtClean="0"/>
              <a:t>successfully.</a:t>
            </a:r>
            <a:endParaRPr lang="en-US" dirty="0"/>
          </a:p>
          <a:p>
            <a:pPr algn="just"/>
            <a:r>
              <a:rPr lang="en-US" dirty="0"/>
              <a:t>Record and report a company’s financial transactions, financial performance, and cash </a:t>
            </a:r>
            <a:r>
              <a:rPr lang="en-US" dirty="0" smtClean="0"/>
              <a:t>flows.</a:t>
            </a:r>
          </a:p>
          <a:p>
            <a:pPr algn="just"/>
            <a:r>
              <a:rPr lang="en-US" dirty="0" smtClean="0"/>
              <a:t>The main purpose of accounting includes to prepare end of the period financial statements includes: Balance sheet, income statement, cash flows statement, owners equity statement, and retained earning statement etc.  </a:t>
            </a:r>
            <a:endParaRPr lang="en-US" dirty="0"/>
          </a:p>
          <a:p>
            <a:endParaRPr lang="en-US" dirty="0"/>
          </a:p>
        </p:txBody>
      </p:sp>
    </p:spTree>
    <p:extLst>
      <p:ext uri="{BB962C8B-B14F-4D97-AF65-F5344CB8AC3E}">
        <p14:creationId xmlns:p14="http://schemas.microsoft.com/office/powerpoint/2010/main" val="33984600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Functions of </a:t>
            </a:r>
            <a:r>
              <a:rPr lang="en-US" b="1" dirty="0" smtClean="0"/>
              <a:t>Accounting </a:t>
            </a:r>
            <a:endParaRPr lang="en-US" dirty="0"/>
          </a:p>
        </p:txBody>
      </p:sp>
      <p:sp>
        <p:nvSpPr>
          <p:cNvPr id="3" name="Content Placeholder 2"/>
          <p:cNvSpPr>
            <a:spLocks noGrp="1"/>
          </p:cNvSpPr>
          <p:nvPr>
            <p:ph idx="1"/>
          </p:nvPr>
        </p:nvSpPr>
        <p:spPr/>
        <p:txBody>
          <a:bodyPr/>
          <a:lstStyle/>
          <a:p>
            <a:pPr algn="just"/>
            <a:r>
              <a:rPr lang="en-US" b="1" u="sng" dirty="0"/>
              <a:t>Recording:</a:t>
            </a:r>
            <a:r>
              <a:rPr lang="en-US" dirty="0"/>
              <a:t> Recording of economic information which is of financial character is the primary function of financial accounting. It involves analyzing individual business transaction as and when it occurs, such as, what has taken place? Identifying the nature of account that involves. Ascertaining the rules of debits and credits etc. After the business transactions being analyzed, they are to be recorded systematically in a book called the book </a:t>
            </a:r>
            <a:r>
              <a:rPr lang="en-US" dirty="0" smtClean="0"/>
              <a:t>of </a:t>
            </a:r>
            <a:r>
              <a:rPr lang="en-US" dirty="0"/>
              <a:t>original entry. The whole process of recording a business transaction is called Journalizing. When used separated journals, they are referred as subsidiary journals.</a:t>
            </a:r>
          </a:p>
          <a:p>
            <a:endParaRPr lang="en-US" dirty="0"/>
          </a:p>
        </p:txBody>
      </p:sp>
    </p:spTree>
    <p:extLst>
      <p:ext uri="{BB962C8B-B14F-4D97-AF65-F5344CB8AC3E}">
        <p14:creationId xmlns:p14="http://schemas.microsoft.com/office/powerpoint/2010/main" val="10978030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5307"/>
            <a:ext cx="10515600" cy="5571656"/>
          </a:xfrm>
        </p:spPr>
        <p:txBody>
          <a:bodyPr/>
          <a:lstStyle/>
          <a:p>
            <a:pPr marL="0" indent="0" algn="just">
              <a:buNone/>
            </a:pPr>
            <a:r>
              <a:rPr lang="en-US" b="1" dirty="0" smtClean="0"/>
              <a:t>Functions of Accounting Contd.</a:t>
            </a:r>
          </a:p>
          <a:p>
            <a:pPr marL="0" indent="0" algn="just">
              <a:buNone/>
            </a:pPr>
            <a:endParaRPr lang="en-US" b="1" dirty="0" smtClean="0"/>
          </a:p>
          <a:p>
            <a:pPr algn="just"/>
            <a:r>
              <a:rPr lang="en-US" b="1" u="sng" dirty="0" smtClean="0"/>
              <a:t>Classifying</a:t>
            </a:r>
            <a:r>
              <a:rPr lang="en-US" b="1" u="sng" dirty="0"/>
              <a:t>:</a:t>
            </a:r>
            <a:r>
              <a:rPr lang="en-US" dirty="0"/>
              <a:t> Classifying of financial information is concerned with systematic analysis of the </a:t>
            </a:r>
            <a:r>
              <a:rPr lang="en-US" dirty="0" smtClean="0"/>
              <a:t>recorded </a:t>
            </a:r>
            <a:r>
              <a:rPr lang="en-US" dirty="0"/>
              <a:t>data. It involves posting of journalized transactions in the concerning ledger accounts by grouping them into the accounts that are of similar nature and balancing thereof. It is worth mentioning here, the advent of computers has aided this process significantly. Ledger accounts are balanced automatically when using a particular program developed for financial accounting purpose.</a:t>
            </a:r>
          </a:p>
          <a:p>
            <a:endParaRPr lang="en-US" dirty="0"/>
          </a:p>
        </p:txBody>
      </p:sp>
    </p:spTree>
    <p:extLst>
      <p:ext uri="{BB962C8B-B14F-4D97-AF65-F5344CB8AC3E}">
        <p14:creationId xmlns:p14="http://schemas.microsoft.com/office/powerpoint/2010/main" val="20112864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Accounting (Contd.)</a:t>
            </a:r>
            <a:endParaRPr lang="en-US" dirty="0"/>
          </a:p>
        </p:txBody>
      </p:sp>
      <p:sp>
        <p:nvSpPr>
          <p:cNvPr id="3" name="Content Placeholder 2"/>
          <p:cNvSpPr>
            <a:spLocks noGrp="1"/>
          </p:cNvSpPr>
          <p:nvPr>
            <p:ph idx="1"/>
          </p:nvPr>
        </p:nvSpPr>
        <p:spPr>
          <a:xfrm>
            <a:off x="838200" y="1416676"/>
            <a:ext cx="10515600" cy="4760287"/>
          </a:xfrm>
        </p:spPr>
        <p:txBody>
          <a:bodyPr>
            <a:normAutofit lnSpcReduction="10000"/>
          </a:bodyPr>
          <a:lstStyle/>
          <a:p>
            <a:r>
              <a:rPr lang="en-US" b="1" u="sng" dirty="0"/>
              <a:t>Summarizing:</a:t>
            </a:r>
            <a:r>
              <a:rPr lang="en-US" dirty="0"/>
              <a:t> The transactions, having been posted and classified in accordance with the concerning ledgers, are then summarized in a particular manner in order to prepare the following statements. </a:t>
            </a:r>
            <a:r>
              <a:rPr lang="en-US" i="1" dirty="0"/>
              <a:t>Trial Balance, Income Statement and Balance sheet.</a:t>
            </a:r>
            <a:endParaRPr lang="en-US" dirty="0"/>
          </a:p>
          <a:p>
            <a:r>
              <a:rPr lang="en-US" b="1" u="sng" dirty="0" smtClean="0"/>
              <a:t>Interpreting/Analyzing:</a:t>
            </a:r>
            <a:r>
              <a:rPr lang="en-US" dirty="0"/>
              <a:t> This function involves analysis and interpretation of financial data. Since accounting is regarded as a business language, it provides necessary and the required information to its users through which the profitability and the financial position of a business may be ascertained, which in turn will be very much useful for planning and establishing various policies.</a:t>
            </a:r>
          </a:p>
          <a:p>
            <a:r>
              <a:rPr lang="en-US" b="1" u="sng" dirty="0"/>
              <a:t>Communicating:</a:t>
            </a:r>
            <a:r>
              <a:rPr lang="en-US" dirty="0"/>
              <a:t> After having been analyzed and well interpreted, the financial information is communicated to the intended users. </a:t>
            </a:r>
          </a:p>
          <a:p>
            <a:endParaRPr lang="en-US" dirty="0"/>
          </a:p>
        </p:txBody>
      </p:sp>
    </p:spTree>
    <p:extLst>
      <p:ext uri="{BB962C8B-B14F-4D97-AF65-F5344CB8AC3E}">
        <p14:creationId xmlns:p14="http://schemas.microsoft.com/office/powerpoint/2010/main" val="2310603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43698" y="996779"/>
            <a:ext cx="8362950" cy="657225"/>
          </a:xfrm>
          <a:prstGeom prst="rect">
            <a:avLst/>
          </a:prstGeom>
        </p:spPr>
      </p:pic>
      <p:sp>
        <p:nvSpPr>
          <p:cNvPr id="3" name="Content Placeholder 2"/>
          <p:cNvSpPr>
            <a:spLocks noGrp="1"/>
          </p:cNvSpPr>
          <p:nvPr>
            <p:ph idx="1"/>
          </p:nvPr>
        </p:nvSpPr>
        <p:spPr/>
        <p:txBody>
          <a:bodyPr/>
          <a:lstStyle/>
          <a:p>
            <a:pPr algn="just"/>
            <a:r>
              <a:rPr lang="en-US" b="1" dirty="0">
                <a:solidFill>
                  <a:srgbClr val="00B0F0"/>
                </a:solidFill>
              </a:rPr>
              <a:t>The primary objective of accounting is to provide information that is useful for </a:t>
            </a:r>
            <a:r>
              <a:rPr lang="en-US" b="1" dirty="0" smtClean="0">
                <a:solidFill>
                  <a:srgbClr val="00B0F0"/>
                </a:solidFill>
              </a:rPr>
              <a:t>decision making </a:t>
            </a:r>
            <a:r>
              <a:rPr lang="en-US" b="1" dirty="0">
                <a:solidFill>
                  <a:srgbClr val="00B0F0"/>
                </a:solidFill>
              </a:rPr>
              <a:t>purposes. </a:t>
            </a:r>
            <a:r>
              <a:rPr lang="en-US" dirty="0"/>
              <a:t>From the very start, we emphasize that accounting is not an end, but rather it is a means to an end. </a:t>
            </a:r>
            <a:endParaRPr lang="en-US" dirty="0" smtClean="0"/>
          </a:p>
          <a:p>
            <a:pPr algn="just"/>
            <a:r>
              <a:rPr lang="en-US" b="1" dirty="0" smtClean="0">
                <a:solidFill>
                  <a:srgbClr val="7030A0"/>
                </a:solidFill>
              </a:rPr>
              <a:t>The </a:t>
            </a:r>
            <a:r>
              <a:rPr lang="en-US" b="1" dirty="0">
                <a:solidFill>
                  <a:srgbClr val="7030A0"/>
                </a:solidFill>
              </a:rPr>
              <a:t>final product of </a:t>
            </a:r>
            <a:r>
              <a:rPr lang="en-US" b="1" dirty="0" smtClean="0">
                <a:solidFill>
                  <a:srgbClr val="7030A0"/>
                </a:solidFill>
              </a:rPr>
              <a:t>accounting </a:t>
            </a:r>
            <a:r>
              <a:rPr lang="en-US" b="1" dirty="0">
                <a:solidFill>
                  <a:srgbClr val="7030A0"/>
                </a:solidFill>
              </a:rPr>
              <a:t>information is the decision that is enhanced by the use of that information</a:t>
            </a:r>
            <a:r>
              <a:rPr lang="en-US" dirty="0"/>
              <a:t>, whether the decision is made by owners, </a:t>
            </a:r>
            <a:r>
              <a:rPr lang="en-US" dirty="0" smtClean="0"/>
              <a:t>management</a:t>
            </a:r>
            <a:r>
              <a:rPr lang="en-US" dirty="0"/>
              <a:t>, creditors, governmental regulatory bodies, labor unions, or the many other groups that have an interest in the financial performance of an enterprise. </a:t>
            </a:r>
          </a:p>
        </p:txBody>
      </p:sp>
    </p:spTree>
    <p:extLst>
      <p:ext uri="{BB962C8B-B14F-4D97-AF65-F5344CB8AC3E}">
        <p14:creationId xmlns:p14="http://schemas.microsoft.com/office/powerpoint/2010/main" val="1983443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6968" y="706009"/>
            <a:ext cx="10515600" cy="1325563"/>
          </a:xfrm>
        </p:spPr>
        <p:txBody>
          <a:bodyPr>
            <a:noAutofit/>
          </a:bodyPr>
          <a:lstStyle/>
          <a:p>
            <a:pPr algn="just"/>
            <a:r>
              <a:rPr lang="en-US" sz="2400" dirty="0" smtClean="0"/>
              <a:t>The following figures, illustrates how economic activities flow into the accounting process. The accounting process produces accounting information used by decision makers in making economic decisions and taking specific actions. These decisions and actions result in economic activities that continue the cycle. </a:t>
            </a:r>
            <a:endParaRPr lang="en-US" sz="2400" dirty="0"/>
          </a:p>
        </p:txBody>
      </p:sp>
      <p:pic>
        <p:nvPicPr>
          <p:cNvPr id="4" name="Content Placeholder 3"/>
          <p:cNvPicPr>
            <a:picLocks noGrp="1" noChangeAspect="1"/>
          </p:cNvPicPr>
          <p:nvPr>
            <p:ph idx="1"/>
          </p:nvPr>
        </p:nvPicPr>
        <p:blipFill>
          <a:blip r:embed="rId2"/>
          <a:stretch>
            <a:fillRect/>
          </a:stretch>
        </p:blipFill>
        <p:spPr>
          <a:xfrm>
            <a:off x="2904430" y="2031572"/>
            <a:ext cx="5295746" cy="4351338"/>
          </a:xfrm>
          <a:prstGeom prst="rect">
            <a:avLst/>
          </a:prstGeom>
        </p:spPr>
      </p:pic>
    </p:spTree>
    <p:extLst>
      <p:ext uri="{BB962C8B-B14F-4D97-AF65-F5344CB8AC3E}">
        <p14:creationId xmlns:p14="http://schemas.microsoft.com/office/powerpoint/2010/main" val="1865584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Accounting Information </a:t>
            </a:r>
            <a:endParaRPr lang="en-US" b="1" dirty="0"/>
          </a:p>
        </p:txBody>
      </p:sp>
      <p:sp>
        <p:nvSpPr>
          <p:cNvPr id="3" name="Content Placeholder 2"/>
          <p:cNvSpPr>
            <a:spLocks noGrp="1"/>
          </p:cNvSpPr>
          <p:nvPr>
            <p:ph idx="1"/>
          </p:nvPr>
        </p:nvSpPr>
        <p:spPr>
          <a:xfrm>
            <a:off x="838200" y="1441622"/>
            <a:ext cx="10515600" cy="4967416"/>
          </a:xfrm>
        </p:spPr>
        <p:txBody>
          <a:bodyPr>
            <a:normAutofit lnSpcReduction="10000"/>
          </a:bodyPr>
          <a:lstStyle/>
          <a:p>
            <a:pPr algn="just"/>
            <a:r>
              <a:rPr lang="en-US" b="1" dirty="0"/>
              <a:t>Financial accounting </a:t>
            </a:r>
            <a:r>
              <a:rPr lang="en-US" dirty="0"/>
              <a:t>involves recording and clarifying business transactions along with preparation and presentation of financial statements. Financial accounting follows GAAP principles and focuses on historical data. For example, a financial accountant may analyze the financial records of the previous quarter to make recommendations for changes in the next quarter. </a:t>
            </a:r>
            <a:endParaRPr lang="en-US" dirty="0" smtClean="0"/>
          </a:p>
          <a:p>
            <a:pPr algn="just"/>
            <a:r>
              <a:rPr lang="en-US" dirty="0"/>
              <a:t>Financial accounting information is designed primarily to assist investors and creditors in deciding where to place their scarce investment resources. </a:t>
            </a:r>
            <a:endParaRPr lang="en-US" dirty="0" smtClean="0"/>
          </a:p>
          <a:p>
            <a:pPr algn="just"/>
            <a:r>
              <a:rPr lang="en-US" b="1" dirty="0"/>
              <a:t>Financial accounting information also is used by managers and in income tax returns. </a:t>
            </a:r>
            <a:r>
              <a:rPr lang="en-US" dirty="0"/>
              <a:t>In fact, financial accounting information is used for so many different purposes that it often is called “general-purpose” accounting information. </a:t>
            </a:r>
          </a:p>
        </p:txBody>
      </p:sp>
    </p:spTree>
    <p:extLst>
      <p:ext uri="{BB962C8B-B14F-4D97-AF65-F5344CB8AC3E}">
        <p14:creationId xmlns:p14="http://schemas.microsoft.com/office/powerpoint/2010/main" val="26191038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633" y="68563"/>
            <a:ext cx="10515600" cy="1325563"/>
          </a:xfrm>
        </p:spPr>
        <p:txBody>
          <a:bodyPr/>
          <a:lstStyle/>
          <a:p>
            <a:r>
              <a:rPr lang="en-US" dirty="0" smtClean="0"/>
              <a:t>Contd.</a:t>
            </a:r>
            <a:endParaRPr lang="en-US" dirty="0"/>
          </a:p>
        </p:txBody>
      </p:sp>
      <p:sp>
        <p:nvSpPr>
          <p:cNvPr id="3" name="Content Placeholder 2"/>
          <p:cNvSpPr>
            <a:spLocks noGrp="1"/>
          </p:cNvSpPr>
          <p:nvPr>
            <p:ph idx="1"/>
          </p:nvPr>
        </p:nvSpPr>
        <p:spPr>
          <a:xfrm>
            <a:off x="838200" y="1136822"/>
            <a:ext cx="10515600" cy="5247502"/>
          </a:xfrm>
        </p:spPr>
        <p:txBody>
          <a:bodyPr>
            <a:normAutofit/>
          </a:bodyPr>
          <a:lstStyle/>
          <a:p>
            <a:r>
              <a:rPr lang="en-US" b="1" i="0" dirty="0" smtClean="0">
                <a:solidFill>
                  <a:srgbClr val="2D2D2D"/>
                </a:solidFill>
                <a:effectLst/>
                <a:latin typeface="Indeed Sans"/>
              </a:rPr>
              <a:t>2. Management accounting</a:t>
            </a:r>
          </a:p>
          <a:p>
            <a:pPr algn="just"/>
            <a:r>
              <a:rPr lang="en-US" dirty="0" smtClean="0"/>
              <a:t>Management </a:t>
            </a:r>
            <a:r>
              <a:rPr lang="en-US" dirty="0"/>
              <a:t>(or managerial) accounting involves the development and interpretation of accounting information intended specifically to assist </a:t>
            </a:r>
            <a:r>
              <a:rPr lang="en-US" dirty="0" smtClean="0"/>
              <a:t>management </a:t>
            </a:r>
            <a:r>
              <a:rPr lang="en-US" dirty="0"/>
              <a:t>in operating the business. Managers use this information in setting the company’s overall goals, evaluating the performance of departments and individuals, deciding whether to introduce a new line of products, and making virtually all types of managerial decisions</a:t>
            </a:r>
            <a:r>
              <a:rPr lang="en-US" b="0" i="0" dirty="0" smtClean="0">
                <a:solidFill>
                  <a:srgbClr val="2D2D2D"/>
                </a:solidFill>
                <a:effectLst/>
                <a:latin typeface="Indeed Sans"/>
              </a:rPr>
              <a:t>.</a:t>
            </a:r>
          </a:p>
          <a:p>
            <a:pPr algn="just"/>
            <a:r>
              <a:rPr lang="en-US" dirty="0"/>
              <a:t>For example, they need to know the amount of money in the company’s bank accounts; the types, quantities, and dollar amounts of merchandise in the company’s </a:t>
            </a:r>
            <a:r>
              <a:rPr lang="en-US" dirty="0" smtClean="0"/>
              <a:t>warehouse</a:t>
            </a:r>
            <a:r>
              <a:rPr lang="en-US" dirty="0"/>
              <a:t>; and the amounts owed to specific creditors. </a:t>
            </a:r>
            <a:endParaRPr lang="en-US" dirty="0" smtClean="0"/>
          </a:p>
          <a:p>
            <a:endParaRPr lang="en-US" dirty="0"/>
          </a:p>
        </p:txBody>
      </p:sp>
    </p:spTree>
    <p:extLst>
      <p:ext uri="{BB962C8B-B14F-4D97-AF65-F5344CB8AC3E}">
        <p14:creationId xmlns:p14="http://schemas.microsoft.com/office/powerpoint/2010/main" val="17574919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0941"/>
            <a:ext cx="10515600" cy="1325563"/>
          </a:xfrm>
        </p:spPr>
        <p:txBody>
          <a:bodyPr/>
          <a:lstStyle/>
          <a:p>
            <a:r>
              <a:rPr lang="en-US" dirty="0" smtClean="0"/>
              <a:t>Contd.</a:t>
            </a:r>
            <a:endParaRPr lang="en-US" dirty="0"/>
          </a:p>
        </p:txBody>
      </p:sp>
      <p:sp>
        <p:nvSpPr>
          <p:cNvPr id="3" name="Content Placeholder 2"/>
          <p:cNvSpPr>
            <a:spLocks noGrp="1"/>
          </p:cNvSpPr>
          <p:nvPr>
            <p:ph idx="1"/>
          </p:nvPr>
        </p:nvSpPr>
        <p:spPr>
          <a:xfrm>
            <a:off x="838200" y="1219200"/>
            <a:ext cx="10515600" cy="4957763"/>
          </a:xfrm>
        </p:spPr>
        <p:txBody>
          <a:bodyPr>
            <a:normAutofit fontScale="92500" lnSpcReduction="10000"/>
          </a:bodyPr>
          <a:lstStyle/>
          <a:p>
            <a:r>
              <a:rPr lang="en-US" b="1" dirty="0" smtClean="0"/>
              <a:t>Tax </a:t>
            </a:r>
            <a:r>
              <a:rPr lang="en-US" b="1" dirty="0"/>
              <a:t>A</a:t>
            </a:r>
            <a:r>
              <a:rPr lang="en-US" b="1" dirty="0" smtClean="0"/>
              <a:t>ccounting</a:t>
            </a:r>
          </a:p>
          <a:p>
            <a:pPr algn="just"/>
            <a:r>
              <a:rPr lang="en-US" b="1" dirty="0"/>
              <a:t>The preparation of income tax returns is a specialized field within accounting. </a:t>
            </a:r>
            <a:r>
              <a:rPr lang="en-US" dirty="0"/>
              <a:t>To a great extent, tax returns are based on financial accounting information. </a:t>
            </a:r>
            <a:r>
              <a:rPr lang="en-US" dirty="0" smtClean="0"/>
              <a:t>However</a:t>
            </a:r>
            <a:r>
              <a:rPr lang="en-US" dirty="0"/>
              <a:t>, the information often is adjusted or reorganized to conform with income tax reporting requirements</a:t>
            </a:r>
            <a:r>
              <a:rPr lang="en-US" dirty="0" smtClean="0"/>
              <a:t>. </a:t>
            </a:r>
          </a:p>
          <a:p>
            <a:pPr algn="just"/>
            <a:r>
              <a:rPr lang="en-US" dirty="0"/>
              <a:t>Although tax information is important for a company’s successful operations and is related to financial and management accounting information, it results from a different system and complies with specialized legal requirements that relate to a company’s responsibility to pay an appropriate amount of taxes. </a:t>
            </a:r>
            <a:endParaRPr lang="en-US" dirty="0" smtClean="0"/>
          </a:p>
          <a:p>
            <a:pPr algn="just"/>
            <a:r>
              <a:rPr lang="en-US" b="1" dirty="0" smtClean="0"/>
              <a:t>Laws </a:t>
            </a:r>
            <a:r>
              <a:rPr lang="en-US" b="1" dirty="0"/>
              <a:t>and regulations </a:t>
            </a:r>
            <a:r>
              <a:rPr lang="en-US" b="1" dirty="0" smtClean="0"/>
              <a:t>governing </a:t>
            </a:r>
            <a:r>
              <a:rPr lang="en-US" b="1" dirty="0"/>
              <a:t>taxation </a:t>
            </a:r>
            <a:r>
              <a:rPr lang="en-US" dirty="0"/>
              <a:t>are often different from those underlying the preparation of financial and </a:t>
            </a:r>
            <a:r>
              <a:rPr lang="en-US" dirty="0" smtClean="0"/>
              <a:t>management </a:t>
            </a:r>
            <a:r>
              <a:rPr lang="en-US" dirty="0"/>
              <a:t>accounting information, so it should not be a surprise that the resulting figures and reports are different</a:t>
            </a:r>
            <a:r>
              <a:rPr lang="en-US" dirty="0" smtClean="0"/>
              <a:t>.</a:t>
            </a:r>
          </a:p>
          <a:p>
            <a:endParaRPr lang="en-US" dirty="0"/>
          </a:p>
        </p:txBody>
      </p:sp>
    </p:spTree>
    <p:extLst>
      <p:ext uri="{BB962C8B-B14F-4D97-AF65-F5344CB8AC3E}">
        <p14:creationId xmlns:p14="http://schemas.microsoft.com/office/powerpoint/2010/main" val="14783803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Who Uses Accounting Data?</a:t>
            </a:r>
            <a:endParaRPr lang="en-US" b="1"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Financial information that users need depends upon the kinds of decisions they make. There are two broad groups of users of financial information: </a:t>
            </a:r>
            <a:r>
              <a:rPr lang="en-US" dirty="0" smtClean="0">
                <a:solidFill>
                  <a:srgbClr val="C00000"/>
                </a:solidFill>
                <a:latin typeface="Times New Roman" panose="02020603050405020304" pitchFamily="18" charset="0"/>
                <a:cs typeface="Times New Roman" panose="02020603050405020304" pitchFamily="18" charset="0"/>
              </a:rPr>
              <a:t>internal users </a:t>
            </a:r>
            <a:r>
              <a:rPr lang="en-US" dirty="0" smtClean="0">
                <a:latin typeface="Times New Roman" panose="02020603050405020304" pitchFamily="18" charset="0"/>
                <a:cs typeface="Times New Roman" panose="02020603050405020304" pitchFamily="18" charset="0"/>
              </a:rPr>
              <a:t>and </a:t>
            </a:r>
            <a:r>
              <a:rPr lang="en-US" dirty="0" smtClean="0">
                <a:solidFill>
                  <a:srgbClr val="C00000"/>
                </a:solidFill>
                <a:latin typeface="Times New Roman" panose="02020603050405020304" pitchFamily="18" charset="0"/>
                <a:cs typeface="Times New Roman" panose="02020603050405020304" pitchFamily="18" charset="0"/>
              </a:rPr>
              <a:t>external users</a:t>
            </a:r>
            <a:r>
              <a:rPr lang="en-US" dirty="0" smtClean="0">
                <a:latin typeface="Times New Roman" panose="02020603050405020304" pitchFamily="18" charset="0"/>
                <a:cs typeface="Times New Roman" panose="02020603050405020304" pitchFamily="18" charset="0"/>
              </a:rPr>
              <a:t>.</a:t>
            </a:r>
          </a:p>
          <a:p>
            <a:r>
              <a:rPr lang="en-US" b="1" dirty="0" smtClean="0">
                <a:solidFill>
                  <a:srgbClr val="C00000"/>
                </a:solidFill>
              </a:rPr>
              <a:t>Internal Users: </a:t>
            </a:r>
          </a:p>
          <a:p>
            <a:pPr algn="just"/>
            <a:r>
              <a:rPr lang="en-US" dirty="0" smtClean="0">
                <a:latin typeface="Times New Roman" panose="02020603050405020304" pitchFamily="18" charset="0"/>
                <a:cs typeface="Times New Roman" panose="02020603050405020304" pitchFamily="18" charset="0"/>
              </a:rPr>
              <a:t>Internal users of accounting information are managers who plan, organize, and run the business. These include marketing managers, production supervisors, finance directors, and company officers.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98898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8808" y="5478038"/>
            <a:ext cx="7017913" cy="600790"/>
          </a:xfrm>
        </p:spPr>
        <p:txBody>
          <a:bodyPr>
            <a:normAutofit/>
          </a:bodyPr>
          <a:lstStyle/>
          <a:p>
            <a:r>
              <a:rPr lang="en-US" sz="2000" dirty="0" smtClean="0">
                <a:latin typeface="Times New Roman" panose="02020603050405020304" pitchFamily="18" charset="0"/>
                <a:cs typeface="Times New Roman" panose="02020603050405020304" pitchFamily="18" charset="0"/>
              </a:rPr>
              <a:t>Illustration 1.2: Questions that internal users ask</a:t>
            </a:r>
            <a:endParaRPr lang="en-US" sz="2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469557" y="584970"/>
            <a:ext cx="11045168" cy="5061658"/>
          </a:xfrm>
          <a:prstGeom prst="rect">
            <a:avLst/>
          </a:prstGeom>
        </p:spPr>
      </p:pic>
    </p:spTree>
    <p:extLst>
      <p:ext uri="{BB962C8B-B14F-4D97-AF65-F5344CB8AC3E}">
        <p14:creationId xmlns:p14="http://schemas.microsoft.com/office/powerpoint/2010/main" val="18178324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USERS</a:t>
            </a:r>
            <a:endParaRPr lang="en-US" dirty="0"/>
          </a:p>
        </p:txBody>
      </p:sp>
      <p:sp>
        <p:nvSpPr>
          <p:cNvPr id="3" name="Content Placeholder 2"/>
          <p:cNvSpPr>
            <a:spLocks noGrp="1"/>
          </p:cNvSpPr>
          <p:nvPr>
            <p:ph idx="1"/>
          </p:nvPr>
        </p:nvSpPr>
        <p:spPr/>
        <p:txBody>
          <a:bodyPr/>
          <a:lstStyle/>
          <a:p>
            <a:r>
              <a:rPr lang="en-US" dirty="0" smtClean="0"/>
              <a:t>External users are individuals and organizations outside a company who want financial information about the company. </a:t>
            </a:r>
          </a:p>
          <a:p>
            <a:pPr algn="just"/>
            <a:r>
              <a:rPr lang="en-US" dirty="0" smtClean="0"/>
              <a:t>The two most common types of external users are </a:t>
            </a:r>
            <a:r>
              <a:rPr lang="en-US" dirty="0" smtClean="0">
                <a:solidFill>
                  <a:srgbClr val="C00000"/>
                </a:solidFill>
              </a:rPr>
              <a:t>investors</a:t>
            </a:r>
            <a:r>
              <a:rPr lang="en-US" dirty="0" smtClean="0"/>
              <a:t> and </a:t>
            </a:r>
            <a:r>
              <a:rPr lang="en-US" dirty="0" smtClean="0">
                <a:solidFill>
                  <a:srgbClr val="C00000"/>
                </a:solidFill>
              </a:rPr>
              <a:t>creditors</a:t>
            </a:r>
            <a:r>
              <a:rPr lang="en-US" dirty="0" smtClean="0"/>
              <a:t>. Investors (owners) use accounting information to decide whether to buy, hold, or sell ownership shares of a company. </a:t>
            </a:r>
          </a:p>
          <a:p>
            <a:pPr algn="just"/>
            <a:r>
              <a:rPr lang="en-US" dirty="0" smtClean="0"/>
              <a:t>Creditors (such as suppliers and bankers) use accounting information to evaluate the risks of granting credit or lending money.</a:t>
            </a:r>
            <a:endParaRPr lang="en-US" dirty="0"/>
          </a:p>
        </p:txBody>
      </p:sp>
    </p:spTree>
    <p:extLst>
      <p:ext uri="{BB962C8B-B14F-4D97-AF65-F5344CB8AC3E}">
        <p14:creationId xmlns:p14="http://schemas.microsoft.com/office/powerpoint/2010/main" val="10007147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891" y="5555312"/>
            <a:ext cx="6182367" cy="652306"/>
          </a:xfrm>
        </p:spPr>
        <p:txBody>
          <a:bodyPr>
            <a:normAutofit/>
          </a:bodyPr>
          <a:lstStyle/>
          <a:p>
            <a:r>
              <a:rPr lang="en-US" sz="2400" dirty="0" smtClean="0"/>
              <a:t>Illustration 1.3 Questions that external users ask </a:t>
            </a:r>
            <a:endParaRPr lang="en-US" dirty="0"/>
          </a:p>
        </p:txBody>
      </p:sp>
      <p:pic>
        <p:nvPicPr>
          <p:cNvPr id="4" name="Content Placeholder 3"/>
          <p:cNvPicPr>
            <a:picLocks noGrp="1" noChangeAspect="1"/>
          </p:cNvPicPr>
          <p:nvPr>
            <p:ph idx="1"/>
          </p:nvPr>
        </p:nvPicPr>
        <p:blipFill>
          <a:blip r:embed="rId2"/>
          <a:stretch>
            <a:fillRect/>
          </a:stretch>
        </p:blipFill>
        <p:spPr>
          <a:xfrm>
            <a:off x="913892" y="601362"/>
            <a:ext cx="10535426" cy="4782007"/>
          </a:xfrm>
          <a:prstGeom prst="rect">
            <a:avLst/>
          </a:prstGeom>
        </p:spPr>
      </p:pic>
    </p:spTree>
    <p:extLst>
      <p:ext uri="{BB962C8B-B14F-4D97-AF65-F5344CB8AC3E}">
        <p14:creationId xmlns:p14="http://schemas.microsoft.com/office/powerpoint/2010/main" val="3842249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Accounting?/Motivation behind accounting </a:t>
            </a:r>
            <a:endParaRPr lang="en-US" dirty="0"/>
          </a:p>
        </p:txBody>
      </p:sp>
      <p:sp>
        <p:nvSpPr>
          <p:cNvPr id="3" name="Content Placeholder 2"/>
          <p:cNvSpPr>
            <a:spLocks noGrp="1"/>
          </p:cNvSpPr>
          <p:nvPr>
            <p:ph idx="1"/>
          </p:nvPr>
        </p:nvSpPr>
        <p:spPr>
          <a:xfrm>
            <a:off x="838200" y="1584101"/>
            <a:ext cx="10515600" cy="4592862"/>
          </a:xfrm>
        </p:spPr>
        <p:txBody>
          <a:bodyPr>
            <a:normAutofit fontScale="85000" lnSpcReduction="10000"/>
          </a:bodyPr>
          <a:lstStyle/>
          <a:p>
            <a:pPr algn="just"/>
            <a:r>
              <a:rPr lang="en-US" dirty="0" smtClean="0"/>
              <a:t>Studying accounting as a software engineering or computer science student offers several benefits that can enhance your career and technical skills:</a:t>
            </a:r>
          </a:p>
          <a:p>
            <a:pPr algn="just"/>
            <a:r>
              <a:rPr lang="en-US" b="1" dirty="0" smtClean="0"/>
              <a:t>Understanding Business Operations</a:t>
            </a:r>
            <a:r>
              <a:rPr lang="en-US" dirty="0" smtClean="0"/>
              <a:t>: Accounting provides insights into how businesses operate financially. This knowledge can help you understand the financial implications of the software solutions you develop, making you better equipped to design systems that align with business needs.</a:t>
            </a:r>
          </a:p>
          <a:p>
            <a:pPr algn="just"/>
            <a:r>
              <a:rPr lang="en-US" b="1" dirty="0" smtClean="0"/>
              <a:t>Financial Literacy</a:t>
            </a:r>
            <a:r>
              <a:rPr lang="en-US" dirty="0" smtClean="0"/>
              <a:t>: Being financially literate allows you to make informed decisions, both in personal finance and within a business context. Whether you’re managing a startup, working in a tech company, or considering investments, understanding accounting principles will help you make sound financial decisions.</a:t>
            </a:r>
          </a:p>
          <a:p>
            <a:pPr algn="just"/>
            <a:r>
              <a:rPr lang="en-US" b="1" dirty="0" smtClean="0"/>
              <a:t>Efficient Decision-Making</a:t>
            </a:r>
            <a:r>
              <a:rPr lang="en-US" dirty="0" smtClean="0"/>
              <a:t>: Accounting teaches you how to analyze financial data, which can improve your decision-making skills. This is valuable when managing projects, budgeting for resources, or evaluating the financial viability of new technologies.</a:t>
            </a:r>
          </a:p>
        </p:txBody>
      </p:sp>
    </p:spTree>
    <p:extLst>
      <p:ext uri="{BB962C8B-B14F-4D97-AF65-F5344CB8AC3E}">
        <p14:creationId xmlns:p14="http://schemas.microsoft.com/office/powerpoint/2010/main" val="41451635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Contd.</a:t>
            </a:r>
            <a:endParaRPr lang="en-US" dirty="0"/>
          </a:p>
        </p:txBody>
      </p:sp>
      <p:sp>
        <p:nvSpPr>
          <p:cNvPr id="3" name="Content Placeholder 2"/>
          <p:cNvSpPr>
            <a:spLocks noGrp="1"/>
          </p:cNvSpPr>
          <p:nvPr>
            <p:ph idx="1"/>
          </p:nvPr>
        </p:nvSpPr>
        <p:spPr>
          <a:xfrm>
            <a:off x="269789" y="1325563"/>
            <a:ext cx="10515600" cy="5004986"/>
          </a:xfrm>
        </p:spPr>
        <p:txBody>
          <a:bodyPr>
            <a:normAutofit fontScale="92500" lnSpcReduction="10000"/>
          </a:bodyPr>
          <a:lstStyle/>
          <a:p>
            <a:pPr algn="just"/>
            <a:r>
              <a:rPr lang="en-US" b="1" dirty="0" smtClean="0"/>
              <a:t>Interdisciplinary Collaboration</a:t>
            </a:r>
            <a:r>
              <a:rPr lang="en-US" dirty="0" smtClean="0"/>
              <a:t>: In many tech companies, you'll work closely with finance teams. Understanding accounting can improve communication and collaboration, as you’ll be better able to understand their concerns and contributions to projects.</a:t>
            </a:r>
          </a:p>
          <a:p>
            <a:pPr algn="just"/>
            <a:r>
              <a:rPr lang="en-US" b="1" dirty="0" smtClean="0"/>
              <a:t>Software Development in Finance</a:t>
            </a:r>
            <a:r>
              <a:rPr lang="en-US" dirty="0" smtClean="0"/>
              <a:t>: If you’re developing software for financial applications, such as accounting software, payment systems, or financial analysis tools, a background in accounting will help you better understand the requirements and challenges of these domains.</a:t>
            </a:r>
          </a:p>
          <a:p>
            <a:pPr algn="just"/>
            <a:r>
              <a:rPr lang="en-US" b="1" dirty="0" smtClean="0"/>
              <a:t>Fintech (Financial Technology)</a:t>
            </a:r>
            <a:r>
              <a:rPr lang="en-US" dirty="0" smtClean="0"/>
              <a:t>: Accounting knowledge can open doors to careers in financial technology (</a:t>
            </a:r>
            <a:r>
              <a:rPr lang="en-US" dirty="0" err="1" smtClean="0"/>
              <a:t>fintech</a:t>
            </a:r>
            <a:r>
              <a:rPr lang="en-US" dirty="0" smtClean="0"/>
              <a:t>), data analysis, and other fields where understanding both technology and finance is essential.</a:t>
            </a:r>
          </a:p>
          <a:p>
            <a:pPr algn="just"/>
            <a:r>
              <a:rPr lang="en-US" b="1" dirty="0" smtClean="0"/>
              <a:t>FYP: </a:t>
            </a:r>
            <a:r>
              <a:rPr lang="en-US" dirty="0" smtClean="0"/>
              <a:t>This course will help you if you take on a final year project in area of accounting.</a:t>
            </a:r>
            <a:endParaRPr lang="en-US" b="1" dirty="0" smtClean="0"/>
          </a:p>
          <a:p>
            <a:endParaRPr lang="en-US" dirty="0" smtClean="0"/>
          </a:p>
          <a:p>
            <a:endParaRPr lang="en-US" dirty="0"/>
          </a:p>
        </p:txBody>
      </p:sp>
    </p:spTree>
    <p:extLst>
      <p:ext uri="{BB962C8B-B14F-4D97-AF65-F5344CB8AC3E}">
        <p14:creationId xmlns:p14="http://schemas.microsoft.com/office/powerpoint/2010/main" val="8712975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TotalTime>
  <Words>1252</Words>
  <Application>Microsoft Office PowerPoint</Application>
  <PresentationFormat>Widescreen</PresentationFormat>
  <Paragraphs>82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Indeed Sans</vt:lpstr>
      <vt:lpstr>Times New Roman</vt:lpstr>
      <vt:lpstr>Office Theme</vt:lpstr>
      <vt:lpstr>AF1001 Fundamentals of Accounting  (BSE-3rd Semester)</vt:lpstr>
      <vt:lpstr>PowerPoint Presentation</vt:lpstr>
      <vt:lpstr>What is Accounting?</vt:lpstr>
      <vt:lpstr>PowerPoint Presentation</vt:lpstr>
      <vt:lpstr>PowerPoint Presentation</vt:lpstr>
      <vt:lpstr>Is Accounting Art or Science?</vt:lpstr>
      <vt:lpstr>The accounting process</vt:lpstr>
      <vt:lpstr>The Accounting process (Contd.)</vt:lpstr>
      <vt:lpstr>Illustration 1.1 Activities in accounting process</vt:lpstr>
      <vt:lpstr>Purpose of Accounting:</vt:lpstr>
      <vt:lpstr>Functions of Accounting </vt:lpstr>
      <vt:lpstr>PowerPoint Presentation</vt:lpstr>
      <vt:lpstr>Functions of Accounting (Contd.)</vt:lpstr>
      <vt:lpstr>PowerPoint Presentation</vt:lpstr>
      <vt:lpstr>The following figures, illustrates how economic activities flow into the accounting process. The accounting process produces accounting information used by decision makers in making economic decisions and taking specific actions. These decisions and actions result in economic activities that continue the cycle. </vt:lpstr>
      <vt:lpstr>Types of Accounting Information </vt:lpstr>
      <vt:lpstr>Contd.</vt:lpstr>
      <vt:lpstr>Contd.</vt:lpstr>
      <vt:lpstr>Who Uses Accounting Data?</vt:lpstr>
      <vt:lpstr>Illustration 1.2: Questions that internal users ask</vt:lpstr>
      <vt:lpstr>EXTERNAL USERS</vt:lpstr>
      <vt:lpstr>Illustration 1.3 Questions that external users ask </vt:lpstr>
      <vt:lpstr>Why Accounting?/Motivation behind accounting </vt:lpstr>
      <vt:lpstr>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AF1001 Fundamentals of Accounting  (BSE-3rd Semester)</dc:title>
  <dc:creator>DELL</dc:creator>
  <cp:lastModifiedBy>sami ullah</cp:lastModifiedBy>
  <cp:revision>68</cp:revision>
  <dcterms:created xsi:type="dcterms:W3CDTF">2024-08-19T16:32:46Z</dcterms:created>
  <dcterms:modified xsi:type="dcterms:W3CDTF">2025-02-04T13:52:52Z</dcterms:modified>
</cp:coreProperties>
</file>