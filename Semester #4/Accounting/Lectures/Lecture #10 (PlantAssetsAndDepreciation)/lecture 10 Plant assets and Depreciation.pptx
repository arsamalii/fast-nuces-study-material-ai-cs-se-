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3" r:id="rId21"/>
    <p:sldId id="276"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8" d="100"/>
          <a:sy n="118" d="100"/>
        </p:scale>
        <p:origin x="140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AF1001 Fundamentals of Accounting </a:t>
            </a:r>
            <a:br>
              <a:rPr lang="en-US" b="1" dirty="0"/>
            </a:br>
            <a:r>
              <a:rPr lang="en-US" b="1" dirty="0"/>
              <a:t>(BSE-3rd Semester)</a:t>
            </a:r>
          </a:p>
        </p:txBody>
      </p:sp>
      <p:sp>
        <p:nvSpPr>
          <p:cNvPr id="3" name="Subtitle 2"/>
          <p:cNvSpPr>
            <a:spLocks noGrp="1"/>
          </p:cNvSpPr>
          <p:nvPr>
            <p:ph type="subTitle" idx="1"/>
          </p:nvPr>
        </p:nvSpPr>
        <p:spPr>
          <a:xfrm>
            <a:off x="1143000" y="3667941"/>
            <a:ext cx="6858000" cy="1655762"/>
          </a:xfrm>
        </p:spPr>
        <p:txBody>
          <a:bodyPr>
            <a:normAutofit fontScale="85000" lnSpcReduction="20000"/>
          </a:bodyPr>
          <a:lstStyle/>
          <a:p>
            <a:pPr algn="l"/>
            <a:endParaRPr lang="en-US" dirty="0"/>
          </a:p>
          <a:p>
            <a:pPr algn="l"/>
            <a:r>
              <a:rPr lang="en-US" dirty="0"/>
              <a:t>Mr. Sami </a:t>
            </a:r>
            <a:r>
              <a:rPr lang="en-US" dirty="0" err="1"/>
              <a:t>Ullah</a:t>
            </a:r>
            <a:r>
              <a:rPr lang="en-US" dirty="0"/>
              <a:t> </a:t>
            </a:r>
          </a:p>
          <a:p>
            <a:pPr algn="l"/>
            <a:r>
              <a:rPr lang="en-US" dirty="0"/>
              <a:t>Lecturer </a:t>
            </a:r>
          </a:p>
          <a:p>
            <a:pPr algn="l"/>
            <a:r>
              <a:rPr lang="en-US" dirty="0"/>
              <a:t>NUCES -FAST Peshawar</a:t>
            </a:r>
          </a:p>
        </p:txBody>
      </p:sp>
    </p:spTree>
    <p:extLst>
      <p:ext uri="{BB962C8B-B14F-4D97-AF65-F5344CB8AC3E}">
        <p14:creationId xmlns:p14="http://schemas.microsoft.com/office/powerpoint/2010/main" val="3193046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Depreciation</a:t>
            </a:r>
            <a:endParaRPr lang="en-US" dirty="0"/>
          </a:p>
        </p:txBody>
      </p:sp>
      <p:sp>
        <p:nvSpPr>
          <p:cNvPr id="3" name="Content Placeholder 2"/>
          <p:cNvSpPr>
            <a:spLocks noGrp="1"/>
          </p:cNvSpPr>
          <p:nvPr>
            <p:ph idx="1"/>
          </p:nvPr>
        </p:nvSpPr>
        <p:spPr/>
        <p:txBody>
          <a:bodyPr/>
          <a:lstStyle/>
          <a:p>
            <a:pPr algn="just"/>
            <a:r>
              <a:rPr lang="en-US" b="1" dirty="0"/>
              <a:t>Depreciation is the process of allocating to expense the cost of a plant asset over its useful (service) life in a rational and systematic manner. </a:t>
            </a:r>
            <a:r>
              <a:rPr lang="en-US" dirty="0"/>
              <a:t>Cost allocation enables companies to properly match expenses with revenues in accordance with the expense recognition principle, as shown in Illustration 10-5.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a:stretch>
            <a:fillRect/>
          </a:stretch>
        </p:blipFill>
        <p:spPr bwMode="auto">
          <a:xfrm>
            <a:off x="457200" y="2209800"/>
            <a:ext cx="8229600" cy="2918404"/>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533400" y="990600"/>
            <a:ext cx="1809750" cy="93345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r>
              <a:rPr lang="en-US" dirty="0"/>
              <a:t>It is important to understand that depreciation is a process of cost allocation. It is not a process of asset valuation.</a:t>
            </a:r>
          </a:p>
          <a:p>
            <a:pPr algn="just"/>
            <a:r>
              <a:rPr lang="en-US" dirty="0"/>
              <a:t>Depreciation applies to three classes of plant assets: </a:t>
            </a:r>
            <a:r>
              <a:rPr lang="en-US" b="1" dirty="0"/>
              <a:t>land improvements, buildings, and equipment.</a:t>
            </a:r>
          </a:p>
          <a:p>
            <a:pPr algn="just"/>
            <a:r>
              <a:rPr lang="en-US" b="1" dirty="0"/>
              <a:t>Depreciation does not apply to land </a:t>
            </a:r>
            <a:r>
              <a:rPr lang="en-US" dirty="0"/>
              <a:t>because its usefulness and revenue-producing ability generally remain intact over time.</a:t>
            </a:r>
            <a:endParaRPr lang="en-US"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610600" cy="6096000"/>
          </a:xfrm>
        </p:spPr>
        <p:txBody>
          <a:bodyPr>
            <a:normAutofit lnSpcReduction="10000"/>
          </a:bodyPr>
          <a:lstStyle/>
          <a:p>
            <a:pPr algn="just"/>
            <a:r>
              <a:rPr lang="en-US" dirty="0"/>
              <a:t>During a depreciable asset’s useful life, its revenue-producing ability declines because of </a:t>
            </a:r>
            <a:r>
              <a:rPr lang="en-US" b="1" dirty="0"/>
              <a:t>wear and tear</a:t>
            </a:r>
            <a:r>
              <a:rPr lang="en-US" dirty="0"/>
              <a:t>.</a:t>
            </a:r>
          </a:p>
          <a:p>
            <a:pPr algn="just"/>
            <a:r>
              <a:rPr lang="en-US" dirty="0"/>
              <a:t>Revenue-producing ability may also decline because of </a:t>
            </a:r>
            <a:r>
              <a:rPr lang="en-US" b="1" dirty="0"/>
              <a:t>obsolescence.</a:t>
            </a:r>
            <a:r>
              <a:rPr lang="en-US" dirty="0"/>
              <a:t> Obsolescence is the process of becoming out of date before the asset physically wears out.</a:t>
            </a:r>
          </a:p>
          <a:p>
            <a:pPr algn="just"/>
            <a:r>
              <a:rPr lang="en-US" b="1" dirty="0"/>
              <a:t>Recognizing depreciation on an asset does not result in an accumulation of cash for replacement of the asset. </a:t>
            </a:r>
            <a:r>
              <a:rPr lang="en-US" dirty="0"/>
              <a:t>The balance in Accumulated Depreciation represents the total amount of the asset’s cost that the company has charged to expense.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382000" cy="5897563"/>
          </a:xfrm>
        </p:spPr>
        <p:txBody>
          <a:bodyPr/>
          <a:lstStyle/>
          <a:p>
            <a:pPr algn="just"/>
            <a:r>
              <a:rPr lang="en-US" b="1" dirty="0"/>
              <a:t>Factors in Computing Depreciation </a:t>
            </a:r>
          </a:p>
          <a:p>
            <a:pPr algn="just"/>
            <a:r>
              <a:rPr lang="en-US" dirty="0"/>
              <a:t>Three factors affect the computation of depreciation, as shown in Illustration 10-6.</a:t>
            </a:r>
          </a:p>
        </p:txBody>
      </p:sp>
      <p:pic>
        <p:nvPicPr>
          <p:cNvPr id="2050" name="Picture 2"/>
          <p:cNvPicPr>
            <a:picLocks noChangeAspect="1" noChangeArrowheads="1"/>
          </p:cNvPicPr>
          <p:nvPr/>
        </p:nvPicPr>
        <p:blipFill>
          <a:blip r:embed="rId2" cstate="print"/>
          <a:srcRect/>
          <a:stretch>
            <a:fillRect/>
          </a:stretch>
        </p:blipFill>
        <p:spPr bwMode="auto">
          <a:xfrm>
            <a:off x="304800" y="2743200"/>
            <a:ext cx="8534400" cy="3810000"/>
          </a:xfrm>
          <a:prstGeom prst="rect">
            <a:avLst/>
          </a:prstGeom>
          <a:noFill/>
          <a:ln w="9525">
            <a:noFill/>
            <a:miter lim="800000"/>
            <a:headEnd/>
            <a:tailEnd/>
          </a:ln>
        </p:spPr>
      </p:pic>
      <p:pic>
        <p:nvPicPr>
          <p:cNvPr id="2052" name="Picture 4"/>
          <p:cNvPicPr>
            <a:picLocks noChangeAspect="1" noChangeArrowheads="1"/>
          </p:cNvPicPr>
          <p:nvPr/>
        </p:nvPicPr>
        <p:blipFill>
          <a:blip r:embed="rId3" cstate="print"/>
          <a:srcRect/>
          <a:stretch>
            <a:fillRect/>
          </a:stretch>
        </p:blipFill>
        <p:spPr bwMode="auto">
          <a:xfrm>
            <a:off x="6400800" y="1981200"/>
            <a:ext cx="2162175" cy="8382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6629400"/>
          </a:xfrm>
        </p:spPr>
        <p:txBody>
          <a:bodyPr>
            <a:normAutofit fontScale="92500" lnSpcReduction="20000"/>
          </a:bodyPr>
          <a:lstStyle/>
          <a:p>
            <a:pPr algn="just"/>
            <a:r>
              <a:rPr lang="en-US" b="1" dirty="0"/>
              <a:t>1. Cost. </a:t>
            </a:r>
            <a:r>
              <a:rPr lang="en-US" dirty="0"/>
              <a:t>Earlier, we explained the issues affecting the cost of a depreciable asset. Recall that companies record plant assets at cost, in accordance with the historical cost principle.</a:t>
            </a:r>
          </a:p>
          <a:p>
            <a:pPr algn="just"/>
            <a:r>
              <a:rPr lang="en-US" b="1" dirty="0"/>
              <a:t>2. Useful life. </a:t>
            </a:r>
            <a:r>
              <a:rPr lang="en-US" dirty="0"/>
              <a:t>Useful life is an estimate of the expected productive life, also called service life, of the asset for its owner. Useful life may be expressed in terms of time, units of activity (such as machine hours), or units of output.</a:t>
            </a:r>
          </a:p>
          <a:p>
            <a:pPr algn="just"/>
            <a:r>
              <a:rPr lang="en-US" b="1" dirty="0"/>
              <a:t>3. Salvage value. </a:t>
            </a:r>
            <a:r>
              <a:rPr lang="en-US" dirty="0"/>
              <a:t>Salvage value is an estimate of the asset’s value at the end of its useful life. This value may be based on the asset’s worth as scrap or on its expected trade-in value. Like useful life, salvage value is an estimate. In making the estimate, management considers how it plans to dispose of the asset and its experience with similar assets.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Depreciation Methods</a:t>
            </a:r>
          </a:p>
        </p:txBody>
      </p:sp>
      <p:sp>
        <p:nvSpPr>
          <p:cNvPr id="3" name="Content Placeholder 2"/>
          <p:cNvSpPr>
            <a:spLocks noGrp="1"/>
          </p:cNvSpPr>
          <p:nvPr>
            <p:ph idx="1"/>
          </p:nvPr>
        </p:nvSpPr>
        <p:spPr/>
        <p:txBody>
          <a:bodyPr/>
          <a:lstStyle/>
          <a:p>
            <a:r>
              <a:rPr lang="en-US" dirty="0"/>
              <a:t>Depreciation is generally computed using one of the following methods: </a:t>
            </a:r>
          </a:p>
          <a:p>
            <a:r>
              <a:rPr lang="en-US" b="1" dirty="0"/>
              <a:t>1. Straight-line </a:t>
            </a:r>
          </a:p>
          <a:p>
            <a:r>
              <a:rPr lang="en-US" b="1" dirty="0"/>
              <a:t>2. Units-of-activity </a:t>
            </a:r>
          </a:p>
          <a:p>
            <a:r>
              <a:rPr lang="en-US" b="1" dirty="0"/>
              <a:t>3. Declining-balance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We will compare the three depreciation methods using the following data for a small delivery truck purchased by Barb’s Florists on January 1, 2017.</a:t>
            </a:r>
          </a:p>
        </p:txBody>
      </p:sp>
      <p:pic>
        <p:nvPicPr>
          <p:cNvPr id="3075" name="Picture 3"/>
          <p:cNvPicPr>
            <a:picLocks noChangeAspect="1" noChangeArrowheads="1"/>
          </p:cNvPicPr>
          <p:nvPr/>
        </p:nvPicPr>
        <p:blipFill>
          <a:blip r:embed="rId2" cstate="print"/>
          <a:srcRect/>
          <a:stretch>
            <a:fillRect/>
          </a:stretch>
        </p:blipFill>
        <p:spPr bwMode="auto">
          <a:xfrm>
            <a:off x="380999" y="3962400"/>
            <a:ext cx="8077201" cy="13716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STRAIGHT-LINE METHOD</a:t>
            </a:r>
          </a:p>
        </p:txBody>
      </p:sp>
      <p:sp>
        <p:nvSpPr>
          <p:cNvPr id="3" name="Content Placeholder 2"/>
          <p:cNvSpPr>
            <a:spLocks noGrp="1"/>
          </p:cNvSpPr>
          <p:nvPr>
            <p:ph idx="1"/>
          </p:nvPr>
        </p:nvSpPr>
        <p:spPr>
          <a:xfrm>
            <a:off x="381000" y="1219200"/>
            <a:ext cx="8305800" cy="4906963"/>
          </a:xfrm>
        </p:spPr>
        <p:txBody>
          <a:bodyPr>
            <a:normAutofit lnSpcReduction="10000"/>
          </a:bodyPr>
          <a:lstStyle/>
          <a:p>
            <a:pPr algn="just"/>
            <a:r>
              <a:rPr lang="en-US" dirty="0"/>
              <a:t>Under the straight-line method, companies expense the same amount of depreciation for each year of the asset’s useful life. It is measured solely by the passage of time.</a:t>
            </a:r>
          </a:p>
          <a:p>
            <a:pPr algn="just"/>
            <a:r>
              <a:rPr lang="en-US" dirty="0"/>
              <a:t>To compute depreciation expense under the straight-line method, companies need to determine depreciable cost. </a:t>
            </a:r>
          </a:p>
          <a:p>
            <a:pPr algn="just"/>
            <a:r>
              <a:rPr lang="en-US" b="1" dirty="0"/>
              <a:t>Depreciable cost </a:t>
            </a:r>
            <a:r>
              <a:rPr lang="en-US" dirty="0"/>
              <a:t>is the cost of the asset less its salvage value. It represents the total amount subject to depreciation.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705600"/>
          </a:xfrm>
        </p:spPr>
        <p:txBody>
          <a:bodyPr/>
          <a:lstStyle/>
          <a:p>
            <a:pPr algn="just"/>
            <a:r>
              <a:rPr lang="en-US" dirty="0"/>
              <a:t>Under the straight-line method, to determine annual depreciation expense, we divide depreciable cost by the asset’s useful life. Illustration 10-9 shows the computation of the first year’s depreciation expense for Barb’s Florists.</a:t>
            </a:r>
          </a:p>
        </p:txBody>
      </p:sp>
      <p:pic>
        <p:nvPicPr>
          <p:cNvPr id="4099" name="Picture 3"/>
          <p:cNvPicPr>
            <a:picLocks noChangeAspect="1" noChangeArrowheads="1"/>
          </p:cNvPicPr>
          <p:nvPr/>
        </p:nvPicPr>
        <p:blipFill>
          <a:blip r:embed="rId2" cstate="print"/>
          <a:srcRect/>
          <a:stretch>
            <a:fillRect/>
          </a:stretch>
        </p:blipFill>
        <p:spPr bwMode="auto">
          <a:xfrm>
            <a:off x="533400" y="3124200"/>
            <a:ext cx="8277225" cy="260032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Alternatively, we also can compute an annual rate of depreciation. In this case, the rate is 20% (100% / 5 years). When a company uses an annual straight-line rate, it applies the percentage rate to the depreciable cost of the asset. Illustration 10-10 shows a depreciation schedule using an annual rate.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cstate="print"/>
          <a:srcRect/>
          <a:stretch>
            <a:fillRect/>
          </a:stretch>
        </p:blipFill>
        <p:spPr bwMode="auto">
          <a:xfrm>
            <a:off x="381000" y="3188749"/>
            <a:ext cx="8458200" cy="3669251"/>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304800" y="304800"/>
            <a:ext cx="2895600" cy="28956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cstate="print"/>
          <a:srcRect/>
          <a:stretch>
            <a:fillRect/>
          </a:stretch>
        </p:blipFill>
        <p:spPr bwMode="auto">
          <a:xfrm>
            <a:off x="95903" y="1066800"/>
            <a:ext cx="8911986" cy="53340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UNITS-OF-ACTIVITY METHOD</a:t>
            </a:r>
          </a:p>
        </p:txBody>
      </p:sp>
      <p:sp>
        <p:nvSpPr>
          <p:cNvPr id="3" name="Content Placeholder 2"/>
          <p:cNvSpPr>
            <a:spLocks noGrp="1"/>
          </p:cNvSpPr>
          <p:nvPr>
            <p:ph idx="1"/>
          </p:nvPr>
        </p:nvSpPr>
        <p:spPr>
          <a:xfrm>
            <a:off x="0" y="1295400"/>
            <a:ext cx="8915400" cy="5181600"/>
          </a:xfrm>
        </p:spPr>
        <p:txBody>
          <a:bodyPr>
            <a:normAutofit fontScale="92500" lnSpcReduction="10000"/>
          </a:bodyPr>
          <a:lstStyle/>
          <a:p>
            <a:pPr algn="just"/>
            <a:r>
              <a:rPr lang="en-US" dirty="0"/>
              <a:t>Under the units-of-activity method, useful life is expressed in terms of the total units of production or use expected from the asset, rather than as a time period. The units-of-activity method is ideally suited to factory machinery. Alternative Terminology Another term often used is the units-of-production method.</a:t>
            </a:r>
          </a:p>
          <a:p>
            <a:pPr algn="just"/>
            <a:r>
              <a:rPr lang="en-US" dirty="0"/>
              <a:t>To illustrate, assume that Barb’s Florists drives its delivery truck 15,000 miles in the first year. Illustration 10-11 shows the units-of-activity formula and the computation of the first year’s depreciation expense.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cstate="print"/>
          <a:srcRect/>
          <a:stretch>
            <a:fillRect/>
          </a:stretch>
        </p:blipFill>
        <p:spPr bwMode="auto">
          <a:xfrm>
            <a:off x="199539" y="1828800"/>
            <a:ext cx="8710105" cy="3657600"/>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457199" y="685800"/>
            <a:ext cx="2804709" cy="9906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24200" y="228600"/>
            <a:ext cx="5867400" cy="3200400"/>
          </a:xfrm>
        </p:spPr>
        <p:txBody>
          <a:bodyPr/>
          <a:lstStyle/>
          <a:p>
            <a:pPr algn="just"/>
            <a:r>
              <a:rPr lang="en-US" dirty="0"/>
              <a:t>The units-of-activity depreciation schedule, using assumed mileage, is as follows.</a:t>
            </a:r>
          </a:p>
          <a:p>
            <a:endParaRPr lang="en-US" b="1" dirty="0"/>
          </a:p>
        </p:txBody>
      </p:sp>
      <p:pic>
        <p:nvPicPr>
          <p:cNvPr id="8195" name="Picture 3"/>
          <p:cNvPicPr>
            <a:picLocks noChangeAspect="1" noChangeArrowheads="1"/>
          </p:cNvPicPr>
          <p:nvPr/>
        </p:nvPicPr>
        <p:blipFill>
          <a:blip r:embed="rId2" cstate="print"/>
          <a:srcRect/>
          <a:stretch>
            <a:fillRect/>
          </a:stretch>
        </p:blipFill>
        <p:spPr bwMode="auto">
          <a:xfrm>
            <a:off x="433387" y="3838575"/>
            <a:ext cx="8277225" cy="3019425"/>
          </a:xfrm>
          <a:prstGeom prst="rect">
            <a:avLst/>
          </a:prstGeom>
          <a:noFill/>
          <a:ln w="9525">
            <a:noFill/>
            <a:miter lim="800000"/>
            <a:headEnd/>
            <a:tailEnd/>
          </a:ln>
        </p:spPr>
      </p:pic>
      <p:pic>
        <p:nvPicPr>
          <p:cNvPr id="8196" name="Picture 4"/>
          <p:cNvPicPr>
            <a:picLocks noChangeAspect="1" noChangeArrowheads="1"/>
          </p:cNvPicPr>
          <p:nvPr/>
        </p:nvPicPr>
        <p:blipFill>
          <a:blip r:embed="rId3" cstate="print"/>
          <a:srcRect/>
          <a:stretch>
            <a:fillRect/>
          </a:stretch>
        </p:blipFill>
        <p:spPr bwMode="auto">
          <a:xfrm>
            <a:off x="0" y="304800"/>
            <a:ext cx="3200400" cy="353377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DECLINING-BALANCE METHOD</a:t>
            </a:r>
          </a:p>
        </p:txBody>
      </p:sp>
      <p:sp>
        <p:nvSpPr>
          <p:cNvPr id="3" name="Content Placeholder 2"/>
          <p:cNvSpPr>
            <a:spLocks noGrp="1"/>
          </p:cNvSpPr>
          <p:nvPr>
            <p:ph idx="1"/>
          </p:nvPr>
        </p:nvSpPr>
        <p:spPr>
          <a:xfrm>
            <a:off x="0" y="1371600"/>
            <a:ext cx="8915400" cy="5181600"/>
          </a:xfrm>
        </p:spPr>
        <p:txBody>
          <a:bodyPr>
            <a:normAutofit fontScale="92500"/>
          </a:bodyPr>
          <a:lstStyle/>
          <a:p>
            <a:pPr algn="just"/>
            <a:r>
              <a:rPr lang="en-US" dirty="0"/>
              <a:t>The </a:t>
            </a:r>
            <a:r>
              <a:rPr lang="en-US" b="1" dirty="0"/>
              <a:t>declining-balance method </a:t>
            </a:r>
            <a:r>
              <a:rPr lang="en-US" dirty="0"/>
              <a:t>produces a decreasing annual depreciation expense over the asset’s useful life. The method is so named because the periodic depreciation is based on a </a:t>
            </a:r>
            <a:r>
              <a:rPr lang="en-US" b="1" dirty="0"/>
              <a:t>declining book value </a:t>
            </a:r>
            <a:r>
              <a:rPr lang="en-US" dirty="0"/>
              <a:t>(</a:t>
            </a:r>
            <a:r>
              <a:rPr lang="en-US" i="1" dirty="0">
                <a:solidFill>
                  <a:srgbClr val="FF0000"/>
                </a:solidFill>
              </a:rPr>
              <a:t>cost less accumulated depreciation</a:t>
            </a:r>
            <a:r>
              <a:rPr lang="en-US" dirty="0"/>
              <a:t>) of the asset. With this method, companies compute annual depreciation expense by multiplying the book value at the beginning of the year by the declining-balance depreciation rate. </a:t>
            </a:r>
            <a:r>
              <a:rPr lang="en-US" b="1" i="1" dirty="0">
                <a:solidFill>
                  <a:srgbClr val="00B050"/>
                </a:solidFill>
              </a:rPr>
              <a:t>The depreciation rate remains constant from year to year, but the book value to which the rate is applied declines each year.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lstStyle/>
          <a:p>
            <a:pPr algn="just"/>
            <a:r>
              <a:rPr lang="en-US" dirty="0"/>
              <a:t>A common declining-balance rate is double the straight-line rate. The method is often called the double-declining-balance method. If Barb’s Florists uses the double-declining-balance method, it uses a depreciation rate of 40% (2 * the straight-line rate of 20%). Illustration 10-13 shows the declining-balance formula and the computation of the first year’s depreciation on the delivery truck.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cstate="print"/>
          <a:srcRect/>
          <a:stretch>
            <a:fillRect/>
          </a:stretch>
        </p:blipFill>
        <p:spPr bwMode="auto">
          <a:xfrm>
            <a:off x="381000" y="152400"/>
            <a:ext cx="8229600" cy="1318606"/>
          </a:xfrm>
          <a:prstGeom prst="rect">
            <a:avLst/>
          </a:prstGeom>
          <a:noFill/>
          <a:ln w="9525">
            <a:noFill/>
            <a:miter lim="800000"/>
            <a:headEnd/>
            <a:tailEnd/>
          </a:ln>
        </p:spPr>
      </p:pic>
      <p:sp>
        <p:nvSpPr>
          <p:cNvPr id="5" name="Rectangle 4"/>
          <p:cNvSpPr/>
          <p:nvPr/>
        </p:nvSpPr>
        <p:spPr>
          <a:xfrm>
            <a:off x="838200" y="1676400"/>
            <a:ext cx="7924800" cy="461665"/>
          </a:xfrm>
          <a:prstGeom prst="rect">
            <a:avLst/>
          </a:prstGeom>
        </p:spPr>
        <p:txBody>
          <a:bodyPr wrap="square">
            <a:spAutoFit/>
          </a:bodyPr>
          <a:lstStyle/>
          <a:p>
            <a:r>
              <a:rPr lang="en-US" sz="2400" dirty="0"/>
              <a:t>The depreciation schedule under this method is as follows.</a:t>
            </a:r>
          </a:p>
        </p:txBody>
      </p:sp>
      <p:pic>
        <p:nvPicPr>
          <p:cNvPr id="9219" name="Picture 3"/>
          <p:cNvPicPr>
            <a:picLocks noChangeAspect="1" noChangeArrowheads="1"/>
          </p:cNvPicPr>
          <p:nvPr/>
        </p:nvPicPr>
        <p:blipFill>
          <a:blip r:embed="rId3" cstate="print"/>
          <a:srcRect/>
          <a:stretch>
            <a:fillRect/>
          </a:stretch>
        </p:blipFill>
        <p:spPr bwMode="auto">
          <a:xfrm>
            <a:off x="76200" y="2819400"/>
            <a:ext cx="8991600" cy="33528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28600" y="228600"/>
            <a:ext cx="8763000" cy="6248400"/>
          </a:xfrm>
        </p:spPr>
        <p:txBody>
          <a:bodyPr/>
          <a:lstStyle/>
          <a:p>
            <a:pPr algn="just"/>
            <a:r>
              <a:rPr lang="en-US" dirty="0"/>
              <a:t>The delivery equipment is 69% depreciated ($8,320 / $12,000) at the end of the second year. Under the straight-line method, the truck would be depreciated 40% ($4,800 / $12,000) at that time. Because the declining-balance method produces higher depreciation expense in the early years than in the later years, it is considered an accelerated-depreciation method.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COMPARISON OF METHODS</a:t>
            </a:r>
          </a:p>
        </p:txBody>
      </p:sp>
      <p:sp>
        <p:nvSpPr>
          <p:cNvPr id="3" name="Content Placeholder 2"/>
          <p:cNvSpPr>
            <a:spLocks noGrp="1"/>
          </p:cNvSpPr>
          <p:nvPr>
            <p:ph idx="1"/>
          </p:nvPr>
        </p:nvSpPr>
        <p:spPr>
          <a:xfrm>
            <a:off x="152400" y="1295400"/>
            <a:ext cx="8839200" cy="5257800"/>
          </a:xfrm>
        </p:spPr>
        <p:txBody>
          <a:bodyPr/>
          <a:lstStyle/>
          <a:p>
            <a:r>
              <a:rPr lang="en-US" dirty="0"/>
              <a:t>Illustration below compares annual and total depreciation expense under each of the three methods for Barb’s Florists.</a:t>
            </a:r>
          </a:p>
        </p:txBody>
      </p:sp>
      <p:pic>
        <p:nvPicPr>
          <p:cNvPr id="11266" name="Picture 2"/>
          <p:cNvPicPr>
            <a:picLocks noChangeAspect="1" noChangeArrowheads="1"/>
          </p:cNvPicPr>
          <p:nvPr/>
        </p:nvPicPr>
        <p:blipFill>
          <a:blip r:embed="rId2" cstate="print"/>
          <a:srcRect/>
          <a:stretch>
            <a:fillRect/>
          </a:stretch>
        </p:blipFill>
        <p:spPr bwMode="auto">
          <a:xfrm>
            <a:off x="533400" y="3048000"/>
            <a:ext cx="7924800" cy="337312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TotalTime>
  <Words>960</Words>
  <Application>Microsoft Office PowerPoint</Application>
  <PresentationFormat>On-screen Show (4:3)</PresentationFormat>
  <Paragraphs>41</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AF1001 Fundamentals of Accounting  (BSE-3rd Semester)</vt:lpstr>
      <vt:lpstr>Depreciation</vt:lpstr>
      <vt:lpstr>PowerPoint Presentation</vt:lpstr>
      <vt:lpstr>PowerPoint Presentation</vt:lpstr>
      <vt:lpstr>PowerPoint Presentation</vt:lpstr>
      <vt:lpstr>PowerPoint Presentation</vt:lpstr>
      <vt:lpstr>PowerPoint Presentation</vt:lpstr>
      <vt:lpstr>Depreciation Methods</vt:lpstr>
      <vt:lpstr>PowerPoint Presentation</vt:lpstr>
      <vt:lpstr>STRAIGHT-LINE METHOD</vt:lpstr>
      <vt:lpstr>PowerPoint Presentation</vt:lpstr>
      <vt:lpstr>PowerPoint Presentation</vt:lpstr>
      <vt:lpstr>PowerPoint Presentation</vt:lpstr>
      <vt:lpstr>PowerPoint Presentation</vt:lpstr>
      <vt:lpstr>UNITS-OF-ACTIVITY METHOD</vt:lpstr>
      <vt:lpstr>PowerPoint Presentation</vt:lpstr>
      <vt:lpstr>PowerPoint Presentation</vt:lpstr>
      <vt:lpstr>DECLINING-BALANCE METHOD</vt:lpstr>
      <vt:lpstr>PowerPoint Presentation</vt:lpstr>
      <vt:lpstr>PowerPoint Presentation</vt:lpstr>
      <vt:lpstr>PowerPoint Presentation</vt:lpstr>
      <vt:lpstr>COMPARISON OF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sami ullah</cp:lastModifiedBy>
  <cp:revision>10</cp:revision>
  <dcterms:created xsi:type="dcterms:W3CDTF">2006-08-16T00:00:00Z</dcterms:created>
  <dcterms:modified xsi:type="dcterms:W3CDTF">2025-04-15T10:26:29Z</dcterms:modified>
</cp:coreProperties>
</file>