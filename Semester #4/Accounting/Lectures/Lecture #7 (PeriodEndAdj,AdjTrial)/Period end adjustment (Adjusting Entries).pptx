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77" r:id="rId2"/>
    <p:sldId id="278" r:id="rId3"/>
    <p:sldId id="279" r:id="rId4"/>
    <p:sldId id="280" r:id="rId5"/>
    <p:sldId id="307" r:id="rId6"/>
    <p:sldId id="281" r:id="rId7"/>
    <p:sldId id="308" r:id="rId8"/>
    <p:sldId id="282" r:id="rId9"/>
    <p:sldId id="284" r:id="rId10"/>
    <p:sldId id="285" r:id="rId11"/>
    <p:sldId id="286" r:id="rId12"/>
    <p:sldId id="287" r:id="rId13"/>
    <p:sldId id="288" r:id="rId14"/>
    <p:sldId id="289" r:id="rId15"/>
    <p:sldId id="290" r:id="rId16"/>
    <p:sldId id="291" r:id="rId17"/>
    <p:sldId id="292" r:id="rId18"/>
    <p:sldId id="293" r:id="rId19"/>
    <p:sldId id="294" r:id="rId20"/>
    <p:sldId id="295" r:id="rId21"/>
    <p:sldId id="296" r:id="rId22"/>
    <p:sldId id="297" r:id="rId23"/>
    <p:sldId id="298" r:id="rId24"/>
    <p:sldId id="299" r:id="rId25"/>
    <p:sldId id="300" r:id="rId26"/>
    <p:sldId id="301" r:id="rId27"/>
    <p:sldId id="302" r:id="rId28"/>
    <p:sldId id="303" r:id="rId29"/>
    <p:sldId id="304" r:id="rId30"/>
    <p:sldId id="310" r:id="rId31"/>
    <p:sldId id="311" r:id="rId32"/>
    <p:sldId id="31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18BE1-9129-441D-A0C5-2B896745D7F4}" type="datetimeFigureOut">
              <a:rPr lang="en-US" smtClean="0"/>
              <a:t>10/17/2024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6A7E0F-4FBA-41A8-9F1A-2A42CF470E3B}" type="slidenum">
              <a:rPr lang="en-US" smtClean="0"/>
              <a:t>‹#›</a:t>
            </a:fld>
            <a:endParaRPr lang="en-US"/>
          </a:p>
        </p:txBody>
      </p:sp>
    </p:spTree>
    <p:extLst>
      <p:ext uri="{BB962C8B-B14F-4D97-AF65-F5344CB8AC3E}">
        <p14:creationId xmlns:p14="http://schemas.microsoft.com/office/powerpoint/2010/main" val="4293835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B3A1FCA-C52F-4C50-B55E-CF166DA1E9EB}" type="datetimeFigureOut">
              <a:rPr lang="en-US" smtClean="0"/>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3994683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3A1FCA-C52F-4C50-B55E-CF166DA1E9EB}" type="datetimeFigureOut">
              <a:rPr lang="en-US" smtClean="0"/>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4084820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3A1FCA-C52F-4C50-B55E-CF166DA1E9EB}" type="datetimeFigureOut">
              <a:rPr lang="en-US" smtClean="0"/>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2232416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B3A1FCA-C52F-4C50-B55E-CF166DA1E9EB}" type="datetimeFigureOut">
              <a:rPr lang="en-US" smtClean="0"/>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999909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3A1FCA-C52F-4C50-B55E-CF166DA1E9EB}" type="datetimeFigureOut">
              <a:rPr lang="en-US" smtClean="0"/>
              <a:t>10/17/2024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1041475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3A1FCA-C52F-4C50-B55E-CF166DA1E9EB}" type="datetimeFigureOut">
              <a:rPr lang="en-US" smtClean="0"/>
              <a:t>10/17/2024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275272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3A1FCA-C52F-4C50-B55E-CF166DA1E9EB}" type="datetimeFigureOut">
              <a:rPr lang="en-US" smtClean="0"/>
              <a:t>10/17/2024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430223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3A1FCA-C52F-4C50-B55E-CF166DA1E9EB}" type="datetimeFigureOut">
              <a:rPr lang="en-US" smtClean="0"/>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2183452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3A1FCA-C52F-4C50-B55E-CF166DA1E9EB}" type="datetimeFigureOut">
              <a:rPr lang="en-US" smtClean="0"/>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3358300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3A1FCA-C52F-4C50-B55E-CF166DA1E9EB}" type="datetimeFigureOut">
              <a:rPr lang="en-US" smtClean="0"/>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854847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3A1FCA-C52F-4C50-B55E-CF166DA1E9EB}" type="datetimeFigureOut">
              <a:rPr lang="en-US" smtClean="0"/>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2948767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3A1FCA-C52F-4C50-B55E-CF166DA1E9EB}" type="datetimeFigureOut">
              <a:rPr lang="en-US" smtClean="0"/>
              <a:t>10/17/2024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A03359-C665-475E-A98C-15B4203E2306}" type="slidenum">
              <a:rPr lang="en-US" smtClean="0"/>
              <a:t>‹#›</a:t>
            </a:fld>
            <a:endParaRPr lang="en-US"/>
          </a:p>
        </p:txBody>
      </p:sp>
    </p:spTree>
    <p:extLst>
      <p:ext uri="{BB962C8B-B14F-4D97-AF65-F5344CB8AC3E}">
        <p14:creationId xmlns:p14="http://schemas.microsoft.com/office/powerpoint/2010/main" val="1044358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AF1001 Fundamentals of Accounting </a:t>
            </a:r>
            <a:br>
              <a:rPr lang="en-US" b="1" dirty="0"/>
            </a:br>
            <a:r>
              <a:rPr lang="en-US" b="1" dirty="0"/>
              <a:t>(BSE-3rd Semester)</a:t>
            </a:r>
          </a:p>
        </p:txBody>
      </p:sp>
      <p:sp>
        <p:nvSpPr>
          <p:cNvPr id="3" name="Subtitle 2"/>
          <p:cNvSpPr>
            <a:spLocks noGrp="1"/>
          </p:cNvSpPr>
          <p:nvPr>
            <p:ph type="subTitle" idx="1"/>
          </p:nvPr>
        </p:nvSpPr>
        <p:spPr/>
        <p:txBody>
          <a:bodyPr>
            <a:normAutofit lnSpcReduction="10000"/>
          </a:bodyPr>
          <a:lstStyle/>
          <a:p>
            <a:pPr algn="l"/>
            <a:r>
              <a:rPr lang="en-US" dirty="0"/>
              <a:t>Mr. Sami </a:t>
            </a:r>
            <a:r>
              <a:rPr lang="en-US" dirty="0" err="1"/>
              <a:t>Ullah</a:t>
            </a:r>
            <a:r>
              <a:rPr lang="en-US" dirty="0"/>
              <a:t> </a:t>
            </a:r>
          </a:p>
          <a:p>
            <a:pPr algn="l"/>
            <a:r>
              <a:rPr lang="en-US" dirty="0" smtClean="0"/>
              <a:t>Lecturer </a:t>
            </a:r>
          </a:p>
          <a:p>
            <a:pPr algn="l"/>
            <a:r>
              <a:rPr lang="en-US" dirty="0" smtClean="0"/>
              <a:t>NUCES </a:t>
            </a:r>
            <a:r>
              <a:rPr lang="en-US" dirty="0"/>
              <a:t>Peshawar</a:t>
            </a:r>
          </a:p>
          <a:p>
            <a:pPr algn="l"/>
            <a:r>
              <a:rPr lang="en-US" dirty="0"/>
              <a:t>GCR Code:  iupp66m </a:t>
            </a:r>
          </a:p>
        </p:txBody>
      </p:sp>
    </p:spTree>
    <p:extLst>
      <p:ext uri="{BB962C8B-B14F-4D97-AF65-F5344CB8AC3E}">
        <p14:creationId xmlns:p14="http://schemas.microsoft.com/office/powerpoint/2010/main" val="3377136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3754" y="271849"/>
            <a:ext cx="9630032" cy="852616"/>
          </a:xfrm>
          <a:prstGeom prst="rect">
            <a:avLst/>
          </a:prstGeom>
        </p:spPr>
      </p:pic>
      <p:pic>
        <p:nvPicPr>
          <p:cNvPr id="2" name="Picture 1"/>
          <p:cNvPicPr>
            <a:picLocks noChangeAspect="1"/>
          </p:cNvPicPr>
          <p:nvPr/>
        </p:nvPicPr>
        <p:blipFill>
          <a:blip r:embed="rId3"/>
          <a:stretch>
            <a:fillRect/>
          </a:stretch>
        </p:blipFill>
        <p:spPr>
          <a:xfrm>
            <a:off x="585216" y="1669226"/>
            <a:ext cx="7143750" cy="657225"/>
          </a:xfrm>
          <a:prstGeom prst="rect">
            <a:avLst/>
          </a:prstGeom>
        </p:spPr>
      </p:pic>
      <p:sp>
        <p:nvSpPr>
          <p:cNvPr id="5" name="Rectangle 4"/>
          <p:cNvSpPr/>
          <p:nvPr/>
        </p:nvSpPr>
        <p:spPr>
          <a:xfrm>
            <a:off x="585216" y="2300417"/>
            <a:ext cx="10582656" cy="3416320"/>
          </a:xfrm>
          <a:prstGeom prst="rect">
            <a:avLst/>
          </a:prstGeom>
        </p:spPr>
        <p:txBody>
          <a:bodyPr wrap="square">
            <a:spAutoFit/>
          </a:bodyPr>
          <a:lstStyle/>
          <a:p>
            <a:pPr algn="just"/>
            <a:r>
              <a:rPr lang="en-US" sz="2400" dirty="0" smtClean="0"/>
              <a:t>There </a:t>
            </a:r>
            <a:r>
              <a:rPr lang="en-US" sz="2400" dirty="0"/>
              <a:t>is more to the measurement of business income than merely recording simple </a:t>
            </a:r>
            <a:r>
              <a:rPr lang="en-US" sz="2400" dirty="0" smtClean="0"/>
              <a:t>revenue </a:t>
            </a:r>
            <a:r>
              <a:rPr lang="en-US" sz="2400" dirty="0"/>
              <a:t>and expense transactions that affect only a single accounting period. </a:t>
            </a:r>
            <a:r>
              <a:rPr lang="en-US" sz="2400" b="1" dirty="0" smtClean="0">
                <a:solidFill>
                  <a:srgbClr val="FF0000"/>
                </a:solidFill>
              </a:rPr>
              <a:t>Certain transactions affect the revenue or expenses of two or more accounting periods</a:t>
            </a:r>
            <a:r>
              <a:rPr lang="en-US" sz="2400" b="1" dirty="0" smtClean="0"/>
              <a:t>. </a:t>
            </a:r>
            <a:r>
              <a:rPr lang="en-US" sz="2400" dirty="0" smtClean="0">
                <a:solidFill>
                  <a:schemeClr val="tx1">
                    <a:lumMod val="85000"/>
                    <a:lumOff val="15000"/>
                  </a:schemeClr>
                </a:solidFill>
              </a:rPr>
              <a:t>The purpose </a:t>
            </a:r>
            <a:r>
              <a:rPr lang="en-US" sz="2400" dirty="0">
                <a:solidFill>
                  <a:schemeClr val="tx1">
                    <a:lumMod val="85000"/>
                    <a:lumOff val="15000"/>
                  </a:schemeClr>
                </a:solidFill>
              </a:rPr>
              <a:t>of adjusting entries is to assign to each accounting period appropriate amounts of </a:t>
            </a:r>
            <a:r>
              <a:rPr lang="en-US" sz="2400" b="1" dirty="0">
                <a:solidFill>
                  <a:srgbClr val="00B050"/>
                </a:solidFill>
              </a:rPr>
              <a:t>revenue and expense</a:t>
            </a:r>
            <a:r>
              <a:rPr lang="en-US" sz="2400" dirty="0">
                <a:solidFill>
                  <a:schemeClr val="tx1">
                    <a:lumMod val="85000"/>
                    <a:lumOff val="15000"/>
                  </a:schemeClr>
                </a:solidFill>
              </a:rPr>
              <a:t>.</a:t>
            </a:r>
            <a:r>
              <a:rPr lang="en-US" sz="2400" dirty="0"/>
              <a:t> </a:t>
            </a:r>
            <a:endParaRPr lang="en-US" sz="2400" dirty="0" smtClean="0"/>
          </a:p>
          <a:p>
            <a:pPr algn="just"/>
            <a:endParaRPr lang="en-US" sz="2400" dirty="0">
              <a:solidFill>
                <a:srgbClr val="7030A0"/>
              </a:solidFill>
            </a:endParaRPr>
          </a:p>
          <a:p>
            <a:pPr algn="just"/>
            <a:r>
              <a:rPr lang="en-US" sz="2400" dirty="0" smtClean="0">
                <a:solidFill>
                  <a:srgbClr val="7030A0"/>
                </a:solidFill>
              </a:rPr>
              <a:t>For </a:t>
            </a:r>
            <a:r>
              <a:rPr lang="en-US" sz="2400" dirty="0">
                <a:solidFill>
                  <a:srgbClr val="7030A0"/>
                </a:solidFill>
              </a:rPr>
              <a:t>example, Overnight Auto Service purchased shop supplies that will be used for several months. Thus, an adjusting entry is required to record the expense associated with the shop supplies that Overnight uses each month. </a:t>
            </a:r>
          </a:p>
        </p:txBody>
      </p:sp>
      <p:sp>
        <p:nvSpPr>
          <p:cNvPr id="6" name="TextBox 5"/>
          <p:cNvSpPr txBox="1"/>
          <p:nvPr/>
        </p:nvSpPr>
        <p:spPr>
          <a:xfrm>
            <a:off x="402335" y="1268411"/>
            <a:ext cx="1205247" cy="523220"/>
          </a:xfrm>
          <a:prstGeom prst="rect">
            <a:avLst/>
          </a:prstGeom>
          <a:noFill/>
        </p:spPr>
        <p:txBody>
          <a:bodyPr wrap="square" rtlCol="0">
            <a:spAutoFit/>
          </a:bodyPr>
          <a:lstStyle/>
          <a:p>
            <a:r>
              <a:rPr lang="en-US" sz="2800" b="1" dirty="0" smtClean="0">
                <a:solidFill>
                  <a:srgbClr val="7030A0"/>
                </a:solidFill>
              </a:rPr>
              <a:t>Step-4</a:t>
            </a:r>
            <a:endParaRPr lang="en-US" sz="2800" b="1" dirty="0">
              <a:solidFill>
                <a:srgbClr val="7030A0"/>
              </a:solidFill>
            </a:endParaRPr>
          </a:p>
        </p:txBody>
      </p:sp>
    </p:spTree>
    <p:extLst>
      <p:ext uri="{BB962C8B-B14F-4D97-AF65-F5344CB8AC3E}">
        <p14:creationId xmlns:p14="http://schemas.microsoft.com/office/powerpoint/2010/main" val="1312739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7030A0"/>
                </a:solidFill>
              </a:rPr>
              <a:t>THE NEED FOR ADJUSTING ENTRIES</a:t>
            </a:r>
          </a:p>
        </p:txBody>
      </p:sp>
      <p:sp>
        <p:nvSpPr>
          <p:cNvPr id="3" name="Content Placeholder 2"/>
          <p:cNvSpPr>
            <a:spLocks noGrp="1"/>
          </p:cNvSpPr>
          <p:nvPr>
            <p:ph idx="1"/>
          </p:nvPr>
        </p:nvSpPr>
        <p:spPr/>
        <p:txBody>
          <a:bodyPr/>
          <a:lstStyle/>
          <a:p>
            <a:pPr algn="just"/>
            <a:r>
              <a:rPr lang="en-US" dirty="0">
                <a:solidFill>
                  <a:srgbClr val="C00000"/>
                </a:solidFill>
              </a:rPr>
              <a:t>For purposes of measuring income and preparing financial statements, the life of a business is divided into a series of accounting periods. This practice enables decision makers to compare the financial statements of successive periods and to identify significant trends. </a:t>
            </a:r>
            <a:endParaRPr lang="en-US" dirty="0" smtClean="0">
              <a:solidFill>
                <a:srgbClr val="C00000"/>
              </a:solidFill>
            </a:endParaRPr>
          </a:p>
          <a:p>
            <a:pPr algn="just"/>
            <a:r>
              <a:rPr lang="en-US" dirty="0">
                <a:solidFill>
                  <a:schemeClr val="tx2">
                    <a:lumMod val="50000"/>
                  </a:schemeClr>
                </a:solidFill>
              </a:rPr>
              <a:t>But measuring net income for a relatively short accounting period—such as a </a:t>
            </a:r>
            <a:r>
              <a:rPr lang="en-US" dirty="0">
                <a:solidFill>
                  <a:schemeClr val="accent1"/>
                </a:solidFill>
              </a:rPr>
              <a:t>month</a:t>
            </a:r>
            <a:r>
              <a:rPr lang="en-US" dirty="0">
                <a:solidFill>
                  <a:schemeClr val="tx2">
                    <a:lumMod val="50000"/>
                  </a:schemeClr>
                </a:solidFill>
              </a:rPr>
              <a:t> or even </a:t>
            </a:r>
            <a:r>
              <a:rPr lang="en-US" dirty="0">
                <a:solidFill>
                  <a:schemeClr val="accent1"/>
                </a:solidFill>
              </a:rPr>
              <a:t>a year</a:t>
            </a:r>
            <a:r>
              <a:rPr lang="en-US" dirty="0">
                <a:solidFill>
                  <a:schemeClr val="tx2">
                    <a:lumMod val="50000"/>
                  </a:schemeClr>
                </a:solidFill>
              </a:rPr>
              <a:t>—poses a problem because, as mentioned above, some business activities affect the revenue and expenses of </a:t>
            </a:r>
            <a:r>
              <a:rPr lang="en-US" i="1" dirty="0">
                <a:solidFill>
                  <a:schemeClr val="accent1"/>
                </a:solidFill>
              </a:rPr>
              <a:t>multiple accounting periods</a:t>
            </a:r>
            <a:r>
              <a:rPr lang="en-US" dirty="0">
                <a:solidFill>
                  <a:schemeClr val="tx2">
                    <a:lumMod val="50000"/>
                  </a:schemeClr>
                </a:solidFill>
              </a:rPr>
              <a:t>.</a:t>
            </a:r>
          </a:p>
        </p:txBody>
      </p:sp>
    </p:spTree>
    <p:extLst>
      <p:ext uri="{BB962C8B-B14F-4D97-AF65-F5344CB8AC3E}">
        <p14:creationId xmlns:p14="http://schemas.microsoft.com/office/powerpoint/2010/main" val="119344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1520"/>
            <a:ext cx="10515600" cy="5445443"/>
          </a:xfrm>
        </p:spPr>
        <p:txBody>
          <a:bodyPr/>
          <a:lstStyle/>
          <a:p>
            <a:pPr algn="just"/>
            <a:r>
              <a:rPr lang="en-US" dirty="0">
                <a:solidFill>
                  <a:schemeClr val="accent3">
                    <a:lumMod val="75000"/>
                  </a:schemeClr>
                </a:solidFill>
              </a:rPr>
              <a:t>Therefore, adjusting entries are needed at the end of each accounting period to make certain that appropriate amounts of </a:t>
            </a:r>
            <a:r>
              <a:rPr lang="en-US" dirty="0" smtClean="0">
                <a:solidFill>
                  <a:schemeClr val="accent3">
                    <a:lumMod val="75000"/>
                  </a:schemeClr>
                </a:solidFill>
              </a:rPr>
              <a:t>revenue </a:t>
            </a:r>
            <a:r>
              <a:rPr lang="en-US" dirty="0">
                <a:solidFill>
                  <a:schemeClr val="accent3">
                    <a:lumMod val="75000"/>
                  </a:schemeClr>
                </a:solidFill>
              </a:rPr>
              <a:t>and expense are reported in the company’s income statement</a:t>
            </a:r>
            <a:r>
              <a:rPr lang="en-US" dirty="0" smtClean="0">
                <a:solidFill>
                  <a:schemeClr val="accent3">
                    <a:lumMod val="75000"/>
                  </a:schemeClr>
                </a:solidFill>
              </a:rPr>
              <a:t>.</a:t>
            </a:r>
          </a:p>
          <a:p>
            <a:pPr algn="just"/>
            <a:r>
              <a:rPr lang="en-US" dirty="0">
                <a:solidFill>
                  <a:srgbClr val="FF0000"/>
                </a:solidFill>
              </a:rPr>
              <a:t>These entries assign revenues to the period in which they are earned, and expenses to the periods in which related goods or services are used</a:t>
            </a:r>
            <a:r>
              <a:rPr lang="en-US" dirty="0" smtClean="0">
                <a:solidFill>
                  <a:srgbClr val="FF0000"/>
                </a:solidFill>
              </a:rPr>
              <a:t>.</a:t>
            </a:r>
          </a:p>
          <a:p>
            <a:pPr algn="just"/>
            <a:r>
              <a:rPr lang="en-US" dirty="0">
                <a:solidFill>
                  <a:schemeClr val="tx2"/>
                </a:solidFill>
              </a:rPr>
              <a:t>In theory, a business could make adjusting entries on a daily basis. But as a practical </a:t>
            </a:r>
            <a:r>
              <a:rPr lang="en-US" dirty="0" smtClean="0">
                <a:solidFill>
                  <a:schemeClr val="tx2"/>
                </a:solidFill>
              </a:rPr>
              <a:t>matter</a:t>
            </a:r>
            <a:r>
              <a:rPr lang="en-US" dirty="0">
                <a:solidFill>
                  <a:schemeClr val="tx2"/>
                </a:solidFill>
              </a:rPr>
              <a:t>, these entries are made only at the end of each accounting period. For most companies, adjusting entries are made on a monthly basis. </a:t>
            </a:r>
          </a:p>
        </p:txBody>
      </p:sp>
    </p:spTree>
    <p:extLst>
      <p:ext uri="{BB962C8B-B14F-4D97-AF65-F5344CB8AC3E}">
        <p14:creationId xmlns:p14="http://schemas.microsoft.com/office/powerpoint/2010/main" val="2157534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00766" y="-27736"/>
            <a:ext cx="7959144" cy="6776266"/>
          </a:xfrm>
          <a:prstGeom prst="rect">
            <a:avLst/>
          </a:prstGeom>
        </p:spPr>
      </p:pic>
      <p:sp>
        <p:nvSpPr>
          <p:cNvPr id="3" name="Content Placeholder 2"/>
          <p:cNvSpPr txBox="1">
            <a:spLocks/>
          </p:cNvSpPr>
          <p:nvPr/>
        </p:nvSpPr>
        <p:spPr>
          <a:xfrm>
            <a:off x="7864698" y="4130943"/>
            <a:ext cx="3867956" cy="228273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000" dirty="0" smtClean="0"/>
              <a:t>In the next few slides we illustrate several transactions, as well as the related adjusting entries. Both are shown in the format of general journal entries. To help distinguish between transactions and adjusting entries, transactions are printed in  </a:t>
            </a:r>
            <a:r>
              <a:rPr lang="en-US" sz="2000" dirty="0" smtClean="0">
                <a:solidFill>
                  <a:srgbClr val="00B0F0"/>
                </a:solidFill>
              </a:rPr>
              <a:t>blue</a:t>
            </a:r>
            <a:r>
              <a:rPr lang="en-US" sz="2000" dirty="0" smtClean="0"/>
              <a:t>   and adjusting entries in  </a:t>
            </a:r>
            <a:r>
              <a:rPr lang="en-US" sz="2000" dirty="0" smtClean="0">
                <a:solidFill>
                  <a:srgbClr val="C00000"/>
                </a:solidFill>
              </a:rPr>
              <a:t>red</a:t>
            </a:r>
            <a:r>
              <a:rPr lang="en-US" sz="2000" dirty="0" smtClean="0"/>
              <a:t>.</a:t>
            </a:r>
            <a:endParaRPr lang="en-US" sz="2000" dirty="0"/>
          </a:p>
        </p:txBody>
      </p:sp>
    </p:spTree>
    <p:extLst>
      <p:ext uri="{BB962C8B-B14F-4D97-AF65-F5344CB8AC3E}">
        <p14:creationId xmlns:p14="http://schemas.microsoft.com/office/powerpoint/2010/main" val="4256313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87680" y="707136"/>
            <a:ext cx="6628094" cy="719328"/>
          </a:xfrm>
          <a:prstGeom prst="rect">
            <a:avLst/>
          </a:prstGeom>
        </p:spPr>
      </p:pic>
      <p:sp>
        <p:nvSpPr>
          <p:cNvPr id="3" name="Content Placeholder 2"/>
          <p:cNvSpPr>
            <a:spLocks noGrp="1"/>
          </p:cNvSpPr>
          <p:nvPr>
            <p:ph idx="1"/>
          </p:nvPr>
        </p:nvSpPr>
        <p:spPr>
          <a:xfrm>
            <a:off x="838200" y="1519707"/>
            <a:ext cx="10515600" cy="4657256"/>
          </a:xfrm>
        </p:spPr>
        <p:txBody>
          <a:bodyPr/>
          <a:lstStyle/>
          <a:p>
            <a:pPr algn="just"/>
            <a:r>
              <a:rPr lang="en-US" dirty="0"/>
              <a:t>The number of adjustments needed at the end of each accounting period depends entirely upon the nature of the company’s business activities. However, most adjusting entries fall into one of </a:t>
            </a:r>
            <a:r>
              <a:rPr lang="en-US" b="1" dirty="0">
                <a:solidFill>
                  <a:srgbClr val="002060"/>
                </a:solidFill>
              </a:rPr>
              <a:t>four general categories: </a:t>
            </a:r>
            <a:endParaRPr lang="en-US" b="1" dirty="0" smtClean="0">
              <a:solidFill>
                <a:srgbClr val="002060"/>
              </a:solidFill>
            </a:endParaRPr>
          </a:p>
          <a:p>
            <a:pPr algn="just"/>
            <a:r>
              <a:rPr lang="en-US" b="1" dirty="0" smtClean="0">
                <a:solidFill>
                  <a:srgbClr val="FF0000"/>
                </a:solidFill>
              </a:rPr>
              <a:t>TYPE I: CONVERTING ASSETS TO EXPENSES</a:t>
            </a:r>
            <a:endParaRPr lang="en-US" b="1" dirty="0" smtClean="0">
              <a:solidFill>
                <a:srgbClr val="002060"/>
              </a:solidFill>
            </a:endParaRPr>
          </a:p>
          <a:p>
            <a:pPr algn="just"/>
            <a:r>
              <a:rPr lang="en-US" b="1" dirty="0" smtClean="0">
                <a:solidFill>
                  <a:srgbClr val="FF0000"/>
                </a:solidFill>
              </a:rPr>
              <a:t>Type </a:t>
            </a:r>
            <a:r>
              <a:rPr lang="en-US" b="1" dirty="0">
                <a:solidFill>
                  <a:srgbClr val="FF0000"/>
                </a:solidFill>
              </a:rPr>
              <a:t>II: CONVERTING LIABILITIES TO </a:t>
            </a:r>
            <a:r>
              <a:rPr lang="en-US" b="1" dirty="0" smtClean="0">
                <a:solidFill>
                  <a:srgbClr val="FF0000"/>
                </a:solidFill>
              </a:rPr>
              <a:t>REVENUE</a:t>
            </a:r>
          </a:p>
          <a:p>
            <a:pPr algn="just"/>
            <a:r>
              <a:rPr lang="en-US" b="1" dirty="0" smtClean="0">
                <a:solidFill>
                  <a:srgbClr val="FF0000"/>
                </a:solidFill>
              </a:rPr>
              <a:t>TYPE </a:t>
            </a:r>
            <a:r>
              <a:rPr lang="en-US" b="1" dirty="0">
                <a:solidFill>
                  <a:srgbClr val="FF0000"/>
                </a:solidFill>
              </a:rPr>
              <a:t>III: ACCRUING  UNPAID  </a:t>
            </a:r>
            <a:r>
              <a:rPr lang="en-US" b="1" dirty="0" smtClean="0">
                <a:solidFill>
                  <a:srgbClr val="FF0000"/>
                </a:solidFill>
              </a:rPr>
              <a:t>EXPENSES</a:t>
            </a:r>
          </a:p>
          <a:p>
            <a:pPr algn="just"/>
            <a:r>
              <a:rPr lang="en-US" b="1" dirty="0">
                <a:solidFill>
                  <a:srgbClr val="FF0000"/>
                </a:solidFill>
              </a:rPr>
              <a:t>TYPE IV: ACCRUING  UNCOLLECTED  REVENUE</a:t>
            </a:r>
            <a:endParaRPr lang="en-US" b="1" dirty="0" smtClean="0">
              <a:solidFill>
                <a:srgbClr val="002060"/>
              </a:solidFill>
            </a:endParaRPr>
          </a:p>
        </p:txBody>
      </p:sp>
    </p:spTree>
    <p:extLst>
      <p:ext uri="{BB962C8B-B14F-4D97-AF65-F5344CB8AC3E}">
        <p14:creationId xmlns:p14="http://schemas.microsoft.com/office/powerpoint/2010/main" val="451515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TYPE I: CONVERTING ASSETS TO EXPENSES</a:t>
            </a:r>
            <a:endParaRPr lang="en-US" b="1" dirty="0">
              <a:solidFill>
                <a:srgbClr val="FF0000"/>
              </a:solidFill>
            </a:endParaRPr>
          </a:p>
        </p:txBody>
      </p:sp>
      <p:sp>
        <p:nvSpPr>
          <p:cNvPr id="3" name="Content Placeholder 2"/>
          <p:cNvSpPr>
            <a:spLocks noGrp="1"/>
          </p:cNvSpPr>
          <p:nvPr>
            <p:ph idx="1"/>
          </p:nvPr>
        </p:nvSpPr>
        <p:spPr/>
        <p:txBody>
          <a:bodyPr/>
          <a:lstStyle/>
          <a:p>
            <a:pPr algn="just"/>
            <a:r>
              <a:rPr lang="en-US" dirty="0" smtClean="0">
                <a:solidFill>
                  <a:schemeClr val="tx1">
                    <a:lumMod val="65000"/>
                    <a:lumOff val="35000"/>
                  </a:schemeClr>
                </a:solidFill>
              </a:rPr>
              <a:t>A </a:t>
            </a:r>
            <a:r>
              <a:rPr lang="en-US" dirty="0">
                <a:solidFill>
                  <a:schemeClr val="tx1">
                    <a:lumMod val="65000"/>
                    <a:lumOff val="35000"/>
                  </a:schemeClr>
                </a:solidFill>
              </a:rPr>
              <a:t>cash expenditure (or cost) that will benefit more than one accounting period usually is recorded by debiting an asset account (for example, Supplies, Unexpired Insurance, and so on) and by crediting Cash</a:t>
            </a:r>
            <a:r>
              <a:rPr lang="en-US" dirty="0" smtClean="0">
                <a:solidFill>
                  <a:schemeClr val="tx1">
                    <a:lumMod val="65000"/>
                    <a:lumOff val="35000"/>
                  </a:schemeClr>
                </a:solidFill>
              </a:rPr>
              <a:t>.</a:t>
            </a:r>
          </a:p>
          <a:p>
            <a:pPr algn="just"/>
            <a:endParaRPr lang="en-US" dirty="0">
              <a:solidFill>
                <a:schemeClr val="tx1">
                  <a:lumMod val="65000"/>
                  <a:lumOff val="35000"/>
                </a:schemeClr>
              </a:solidFill>
            </a:endParaRPr>
          </a:p>
          <a:p>
            <a:endParaRPr lang="en-US" dirty="0"/>
          </a:p>
        </p:txBody>
      </p:sp>
      <p:pic>
        <p:nvPicPr>
          <p:cNvPr id="4" name="Content Placeholder 3"/>
          <p:cNvPicPr>
            <a:picLocks noChangeAspect="1"/>
          </p:cNvPicPr>
          <p:nvPr/>
        </p:nvPicPr>
        <p:blipFill>
          <a:blip r:embed="rId2"/>
          <a:stretch>
            <a:fillRect/>
          </a:stretch>
        </p:blipFill>
        <p:spPr>
          <a:xfrm>
            <a:off x="1898649" y="3484987"/>
            <a:ext cx="9455151" cy="3147633"/>
          </a:xfrm>
          <a:prstGeom prst="rect">
            <a:avLst/>
          </a:prstGeom>
        </p:spPr>
      </p:pic>
    </p:spTree>
    <p:extLst>
      <p:ext uri="{BB962C8B-B14F-4D97-AF65-F5344CB8AC3E}">
        <p14:creationId xmlns:p14="http://schemas.microsoft.com/office/powerpoint/2010/main" val="1220104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39549" y="856728"/>
            <a:ext cx="10591453" cy="4524315"/>
          </a:xfrm>
          <a:prstGeom prst="rect">
            <a:avLst/>
          </a:prstGeom>
        </p:spPr>
        <p:txBody>
          <a:bodyPr wrap="square">
            <a:spAutoFit/>
          </a:bodyPr>
          <a:lstStyle/>
          <a:p>
            <a:pPr marL="342900" indent="-342900" algn="just">
              <a:buFont typeface="Arial" panose="020B0604020202020204" pitchFamily="34" charset="0"/>
              <a:buChar char="•"/>
            </a:pPr>
            <a:r>
              <a:rPr lang="en-US" sz="2400" dirty="0"/>
              <a:t>An adjusting entry to convert an asset to an expense consists of a debit to an expense account and a credit to an asset account (or contra-asset account). Examples of these </a:t>
            </a:r>
            <a:r>
              <a:rPr lang="en-US" sz="2400" dirty="0" smtClean="0"/>
              <a:t>adjustments </a:t>
            </a:r>
            <a:r>
              <a:rPr lang="en-US" sz="2400" dirty="0"/>
              <a:t>include the entries to apportion </a:t>
            </a:r>
            <a:r>
              <a:rPr lang="en-US" sz="2400" i="1" dirty="0"/>
              <a:t>the costs of</a:t>
            </a:r>
            <a:r>
              <a:rPr lang="en-US" sz="2400" i="1" dirty="0">
                <a:solidFill>
                  <a:srgbClr val="002060"/>
                </a:solidFill>
              </a:rPr>
              <a:t> prepaid expense</a:t>
            </a:r>
            <a:r>
              <a:rPr lang="en-US" sz="2400" i="1" dirty="0"/>
              <a:t>s</a:t>
            </a:r>
            <a:r>
              <a:rPr lang="en-US" sz="2400" dirty="0"/>
              <a:t> and entries to record </a:t>
            </a:r>
            <a:r>
              <a:rPr lang="en-US" sz="2400" i="1" dirty="0">
                <a:solidFill>
                  <a:srgbClr val="002060"/>
                </a:solidFill>
              </a:rPr>
              <a:t>depreciation expense</a:t>
            </a:r>
            <a:r>
              <a:rPr lang="en-US" sz="2400" dirty="0" smtClean="0"/>
              <a:t>.</a:t>
            </a:r>
          </a:p>
          <a:p>
            <a:pPr algn="just"/>
            <a:endParaRPr lang="en-US" sz="2400" b="1" dirty="0" smtClean="0"/>
          </a:p>
          <a:p>
            <a:pPr marL="342900" indent="-342900" algn="just">
              <a:buFont typeface="Arial" panose="020B0604020202020204" pitchFamily="34" charset="0"/>
              <a:buChar char="•"/>
            </a:pPr>
            <a:r>
              <a:rPr lang="en-US" sz="2400" b="1" dirty="0" smtClean="0"/>
              <a:t>Prepaid </a:t>
            </a:r>
            <a:r>
              <a:rPr lang="en-US" sz="2400" b="1" dirty="0"/>
              <a:t>Expenses </a:t>
            </a:r>
            <a:r>
              <a:rPr lang="en-US" sz="2400" dirty="0"/>
              <a:t>Payments in advance often are made for such items as insurance, rent, and office supplies. If the advance payment (or prepayment) will benefit more than just the current accounting period, the cost </a:t>
            </a:r>
            <a:r>
              <a:rPr lang="en-US" sz="2400" i="1" dirty="0">
                <a:solidFill>
                  <a:schemeClr val="accent1"/>
                </a:solidFill>
              </a:rPr>
              <a:t>represents an asset </a:t>
            </a:r>
            <a:r>
              <a:rPr lang="en-US" sz="2400" dirty="0"/>
              <a:t>rather than an expense. The cost of this asset will be allocated to expense in the accounting periods in which the services or the supplies are used. In summary, </a:t>
            </a:r>
            <a:r>
              <a:rPr lang="en-US" sz="2400" i="1" dirty="0">
                <a:solidFill>
                  <a:schemeClr val="accent1"/>
                </a:solidFill>
              </a:rPr>
              <a:t>prepaid expenses are assets</a:t>
            </a:r>
            <a:r>
              <a:rPr lang="en-US" sz="2400" dirty="0"/>
              <a:t>; they become expenses only as the goods or services are used up. </a:t>
            </a:r>
          </a:p>
        </p:txBody>
      </p:sp>
    </p:spTree>
    <p:extLst>
      <p:ext uri="{BB962C8B-B14F-4D97-AF65-F5344CB8AC3E}">
        <p14:creationId xmlns:p14="http://schemas.microsoft.com/office/powerpoint/2010/main" val="319583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68224"/>
            <a:ext cx="10515600" cy="5908739"/>
          </a:xfrm>
        </p:spPr>
        <p:txBody>
          <a:bodyPr>
            <a:normAutofit/>
          </a:bodyPr>
          <a:lstStyle/>
          <a:p>
            <a:pPr algn="just"/>
            <a:r>
              <a:rPr lang="en-US" b="1" dirty="0" smtClean="0"/>
              <a:t>Example:</a:t>
            </a:r>
            <a:r>
              <a:rPr lang="en-US" dirty="0" smtClean="0"/>
              <a:t> It </a:t>
            </a:r>
            <a:r>
              <a:rPr lang="en-US" dirty="0"/>
              <a:t>is not practical to make journal entries every few minutes as supplies are used. Instead, an estimate is made of the supplies remaining on hand at the end of each month; the supplies that are “missing” are assumed to have been used. Prior to making adjusting entries at December 31, the balance in Overnight’s Shop Supplies account is $1,800. The balance of this asset account represents shop supplies on hand on November 30. The Supplies Expense account shows a balance of $6,900, which represents the cost of supplies used through November 30. Assume that approximately $1,200 of shop supplies remain on hand at December 31. This suggests that supplies costing about $600 have been </a:t>
            </a:r>
            <a:r>
              <a:rPr lang="en-US" i="1" dirty="0">
                <a:solidFill>
                  <a:schemeClr val="accent1"/>
                </a:solidFill>
              </a:rPr>
              <a:t>used in December</a:t>
            </a:r>
            <a:r>
              <a:rPr lang="en-US" dirty="0"/>
              <a:t>; thus, </a:t>
            </a:r>
            <a:r>
              <a:rPr lang="en-US" i="1" dirty="0">
                <a:solidFill>
                  <a:schemeClr val="accent1"/>
                </a:solidFill>
              </a:rPr>
              <a:t>the following adjusting entry is made: </a:t>
            </a:r>
          </a:p>
          <a:p>
            <a:endParaRPr lang="en-US" dirty="0"/>
          </a:p>
        </p:txBody>
      </p:sp>
      <p:pic>
        <p:nvPicPr>
          <p:cNvPr id="4" name="Picture 3"/>
          <p:cNvPicPr>
            <a:picLocks noChangeAspect="1"/>
          </p:cNvPicPr>
          <p:nvPr/>
        </p:nvPicPr>
        <p:blipFill>
          <a:blip r:embed="rId2"/>
          <a:stretch>
            <a:fillRect/>
          </a:stretch>
        </p:blipFill>
        <p:spPr>
          <a:xfrm>
            <a:off x="1328928" y="4982337"/>
            <a:ext cx="10119360" cy="1428750"/>
          </a:xfrm>
          <a:prstGeom prst="rect">
            <a:avLst/>
          </a:prstGeom>
        </p:spPr>
      </p:pic>
    </p:spTree>
    <p:extLst>
      <p:ext uri="{BB962C8B-B14F-4D97-AF65-F5344CB8AC3E}">
        <p14:creationId xmlns:p14="http://schemas.microsoft.com/office/powerpoint/2010/main" val="655708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70688"/>
            <a:ext cx="10515600" cy="6006275"/>
          </a:xfrm>
        </p:spPr>
        <p:txBody>
          <a:bodyPr/>
          <a:lstStyle/>
          <a:p>
            <a:pPr algn="just"/>
            <a:r>
              <a:rPr lang="en-US" b="1" dirty="0"/>
              <a:t>Insurance </a:t>
            </a:r>
            <a:r>
              <a:rPr lang="en-US" b="1" dirty="0" smtClean="0"/>
              <a:t>Policies: </a:t>
            </a:r>
            <a:r>
              <a:rPr lang="en-US" dirty="0"/>
              <a:t>Insurance policies also are a prepaid expense. These policies </a:t>
            </a:r>
            <a:r>
              <a:rPr lang="en-US" dirty="0" smtClean="0"/>
              <a:t>provide </a:t>
            </a:r>
            <a:r>
              <a:rPr lang="en-US" dirty="0"/>
              <a:t>a service, insurance protection, over a specific period of time. As the time passes, the insurance policy </a:t>
            </a:r>
            <a:r>
              <a:rPr lang="en-US" i="1" dirty="0">
                <a:solidFill>
                  <a:schemeClr val="accent1"/>
                </a:solidFill>
              </a:rPr>
              <a:t>expires</a:t>
            </a:r>
            <a:r>
              <a:rPr lang="en-US" dirty="0"/>
              <a:t> —that is, it is used up in business operations. </a:t>
            </a:r>
            <a:endParaRPr lang="en-US" dirty="0" smtClean="0"/>
          </a:p>
          <a:p>
            <a:pPr algn="just"/>
            <a:r>
              <a:rPr lang="en-US" dirty="0" smtClean="0"/>
              <a:t>To </a:t>
            </a:r>
            <a:r>
              <a:rPr lang="en-US" dirty="0"/>
              <a:t>illustrate, assume that on March 1, Overnight purchased for $18,000 a one-year </a:t>
            </a:r>
            <a:r>
              <a:rPr lang="en-US" dirty="0" smtClean="0"/>
              <a:t>insurance </a:t>
            </a:r>
            <a:r>
              <a:rPr lang="en-US" dirty="0"/>
              <a:t>policy providing comprehensive liability insurance and insurance against fire and </a:t>
            </a:r>
            <a:r>
              <a:rPr lang="en-US" dirty="0" smtClean="0"/>
              <a:t>damage </a:t>
            </a:r>
            <a:r>
              <a:rPr lang="en-US" dirty="0"/>
              <a:t>to customers’ vehicles while in Overnight’s facilities. This expenditure (</a:t>
            </a:r>
            <a:r>
              <a:rPr lang="en-US" i="1" dirty="0">
                <a:solidFill>
                  <a:schemeClr val="accent1"/>
                </a:solidFill>
              </a:rPr>
              <a:t>a transaction </a:t>
            </a:r>
            <a:r>
              <a:rPr lang="en-US" dirty="0"/>
              <a:t>) was debited to an asset account, as follows (</a:t>
            </a:r>
            <a:r>
              <a:rPr lang="en-US" dirty="0">
                <a:solidFill>
                  <a:srgbClr val="7030A0"/>
                </a:solidFill>
              </a:rPr>
              <a:t>again, this is a transaction, not an adjusting entry</a:t>
            </a:r>
            <a:r>
              <a:rPr lang="en-US" dirty="0"/>
              <a:t>): </a:t>
            </a:r>
          </a:p>
        </p:txBody>
      </p:sp>
      <p:pic>
        <p:nvPicPr>
          <p:cNvPr id="4" name="Picture 3"/>
          <p:cNvPicPr>
            <a:picLocks noChangeAspect="1"/>
          </p:cNvPicPr>
          <p:nvPr/>
        </p:nvPicPr>
        <p:blipFill>
          <a:blip r:embed="rId2"/>
          <a:stretch>
            <a:fillRect/>
          </a:stretch>
        </p:blipFill>
        <p:spPr>
          <a:xfrm>
            <a:off x="1133856" y="4563808"/>
            <a:ext cx="10219944" cy="1704975"/>
          </a:xfrm>
          <a:prstGeom prst="rect">
            <a:avLst/>
          </a:prstGeom>
        </p:spPr>
      </p:pic>
    </p:spTree>
    <p:extLst>
      <p:ext uri="{BB962C8B-B14F-4D97-AF65-F5344CB8AC3E}">
        <p14:creationId xmlns:p14="http://schemas.microsoft.com/office/powerpoint/2010/main" val="76613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6720"/>
            <a:ext cx="10515600" cy="5750243"/>
          </a:xfrm>
        </p:spPr>
        <p:txBody>
          <a:bodyPr/>
          <a:lstStyle/>
          <a:p>
            <a:pPr algn="just"/>
            <a:r>
              <a:rPr lang="en-US" dirty="0"/>
              <a:t>This $18,000 expenditure provides insurance coverage for a period of one full year. </a:t>
            </a:r>
            <a:r>
              <a:rPr lang="en-US" i="1" dirty="0" smtClean="0">
                <a:solidFill>
                  <a:schemeClr val="accent1"/>
                </a:solidFill>
              </a:rPr>
              <a:t>Therefore</a:t>
            </a:r>
            <a:r>
              <a:rPr lang="en-US" i="1" dirty="0">
                <a:solidFill>
                  <a:schemeClr val="accent1"/>
                </a:solidFill>
              </a:rPr>
              <a:t>, 1/12 of this cost, or $1,500, is recognized as insurance expense every month</a:t>
            </a:r>
            <a:r>
              <a:rPr lang="en-US" dirty="0"/>
              <a:t>. The $13,500 insurance expense reported in Overnight’s trial balance represents the portion of the insurance policy that has expired between March 1 and November 30 ($1,500/mo. *</a:t>
            </a:r>
            <a:r>
              <a:rPr lang="en-US" dirty="0" smtClean="0"/>
              <a:t>9 </a:t>
            </a:r>
            <a:r>
              <a:rPr lang="en-US" dirty="0"/>
              <a:t>months). The $4,500 amount of unexpired insurance shown in the trial balance is the remaining cost of the 12-month policy still in effect as of November 30 ($1,500/mo</a:t>
            </a:r>
            <a:r>
              <a:rPr lang="en-US" dirty="0" smtClean="0"/>
              <a:t>.*3 </a:t>
            </a:r>
            <a:r>
              <a:rPr lang="en-US" dirty="0"/>
              <a:t>months).</a:t>
            </a:r>
            <a:r>
              <a:rPr lang="en-US" i="1" dirty="0">
                <a:solidFill>
                  <a:srgbClr val="00B050"/>
                </a:solidFill>
              </a:rPr>
              <a:t> By December 31, another full month of the policy has expired. Thus, the insurance expense for December is recorded by the following </a:t>
            </a:r>
            <a:r>
              <a:rPr lang="en-US" i="1" dirty="0">
                <a:solidFill>
                  <a:srgbClr val="7030A0"/>
                </a:solidFill>
              </a:rPr>
              <a:t>adjusting entry </a:t>
            </a:r>
            <a:r>
              <a:rPr lang="en-US" i="1" dirty="0">
                <a:solidFill>
                  <a:srgbClr val="00B050"/>
                </a:solidFill>
              </a:rPr>
              <a:t>at month-end: </a:t>
            </a:r>
            <a:endParaRPr lang="en-US" i="1" dirty="0" smtClean="0">
              <a:solidFill>
                <a:srgbClr val="00B050"/>
              </a:solidFill>
            </a:endParaRPr>
          </a:p>
          <a:p>
            <a:pPr algn="just"/>
            <a:endParaRPr lang="en-US" dirty="0"/>
          </a:p>
        </p:txBody>
      </p:sp>
      <p:pic>
        <p:nvPicPr>
          <p:cNvPr id="4" name="Picture 3"/>
          <p:cNvPicPr>
            <a:picLocks noChangeAspect="1"/>
          </p:cNvPicPr>
          <p:nvPr/>
        </p:nvPicPr>
        <p:blipFill>
          <a:blip r:embed="rId2"/>
          <a:stretch>
            <a:fillRect/>
          </a:stretch>
        </p:blipFill>
        <p:spPr>
          <a:xfrm>
            <a:off x="1097279" y="4928235"/>
            <a:ext cx="10256521" cy="1390650"/>
          </a:xfrm>
          <a:prstGeom prst="rect">
            <a:avLst/>
          </a:prstGeom>
        </p:spPr>
      </p:pic>
    </p:spTree>
    <p:extLst>
      <p:ext uri="{BB962C8B-B14F-4D97-AF65-F5344CB8AC3E}">
        <p14:creationId xmlns:p14="http://schemas.microsoft.com/office/powerpoint/2010/main" val="1035861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3296"/>
            <a:ext cx="10515600" cy="5713667"/>
          </a:xfrm>
        </p:spPr>
        <p:txBody>
          <a:bodyPr>
            <a:normAutofit/>
          </a:bodyPr>
          <a:lstStyle/>
          <a:p>
            <a:pPr algn="just"/>
            <a:r>
              <a:rPr lang="en-US" sz="2400" dirty="0"/>
              <a:t>Notice the similarities between the effects of this adjusting entry and the one that we made previously for shop supplies. In both cases, the entries transfer to expense that portion of an asset used up during the period. This flow of costs from the balance sheet to the income </a:t>
            </a:r>
            <a:r>
              <a:rPr lang="en-US" sz="2400" dirty="0" smtClean="0"/>
              <a:t>statement </a:t>
            </a:r>
            <a:r>
              <a:rPr lang="en-US" sz="2400" dirty="0"/>
              <a:t>is illustrated in Exhibit 4–3</a:t>
            </a:r>
          </a:p>
        </p:txBody>
      </p:sp>
      <p:pic>
        <p:nvPicPr>
          <p:cNvPr id="4" name="Picture 3"/>
          <p:cNvPicPr>
            <a:picLocks noChangeAspect="1"/>
          </p:cNvPicPr>
          <p:nvPr/>
        </p:nvPicPr>
        <p:blipFill>
          <a:blip r:embed="rId2"/>
          <a:stretch>
            <a:fillRect/>
          </a:stretch>
        </p:blipFill>
        <p:spPr>
          <a:xfrm>
            <a:off x="4354449" y="1855470"/>
            <a:ext cx="6243447" cy="5002530"/>
          </a:xfrm>
          <a:prstGeom prst="rect">
            <a:avLst/>
          </a:prstGeom>
        </p:spPr>
      </p:pic>
      <p:pic>
        <p:nvPicPr>
          <p:cNvPr id="2" name="Picture 1"/>
          <p:cNvPicPr>
            <a:picLocks noChangeAspect="1"/>
          </p:cNvPicPr>
          <p:nvPr/>
        </p:nvPicPr>
        <p:blipFill>
          <a:blip r:embed="rId3"/>
          <a:stretch>
            <a:fillRect/>
          </a:stretch>
        </p:blipFill>
        <p:spPr>
          <a:xfrm>
            <a:off x="1553337" y="2424779"/>
            <a:ext cx="2085975" cy="895350"/>
          </a:xfrm>
          <a:prstGeom prst="rect">
            <a:avLst/>
          </a:prstGeom>
        </p:spPr>
      </p:pic>
    </p:spTree>
    <p:extLst>
      <p:ext uri="{BB962C8B-B14F-4D97-AF65-F5344CB8AC3E}">
        <p14:creationId xmlns:p14="http://schemas.microsoft.com/office/powerpoint/2010/main" val="1714580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CONCEPT OF DEPRECIATION</a:t>
            </a:r>
          </a:p>
        </p:txBody>
      </p:sp>
      <p:sp>
        <p:nvSpPr>
          <p:cNvPr id="3" name="Content Placeholder 2"/>
          <p:cNvSpPr>
            <a:spLocks noGrp="1"/>
          </p:cNvSpPr>
          <p:nvPr>
            <p:ph idx="1"/>
          </p:nvPr>
        </p:nvSpPr>
        <p:spPr>
          <a:xfrm>
            <a:off x="838200" y="1447673"/>
            <a:ext cx="10515600" cy="4351338"/>
          </a:xfrm>
        </p:spPr>
        <p:txBody>
          <a:bodyPr/>
          <a:lstStyle/>
          <a:p>
            <a:pPr algn="just"/>
            <a:r>
              <a:rPr lang="en-US" b="1" dirty="0"/>
              <a:t>Depreciable assets </a:t>
            </a:r>
            <a:r>
              <a:rPr lang="en-US" dirty="0"/>
              <a:t>are physical objects that retain their size and shape but that eventually wear out or become obsolete. They are not physically consumed, as are assets such as </a:t>
            </a:r>
            <a:r>
              <a:rPr lang="en-US" dirty="0" smtClean="0"/>
              <a:t>supplies</a:t>
            </a:r>
            <a:r>
              <a:rPr lang="en-US" dirty="0"/>
              <a:t>, but nonetheless their economic usefulness diminishes over time. Examples of </a:t>
            </a:r>
            <a:r>
              <a:rPr lang="en-US" dirty="0" smtClean="0"/>
              <a:t>depreciable </a:t>
            </a:r>
            <a:r>
              <a:rPr lang="en-US" dirty="0"/>
              <a:t>assets include buildings and all types of equipment, fixtures, furnishings—and even railroad tracks. </a:t>
            </a:r>
            <a:r>
              <a:rPr lang="en-US" dirty="0">
                <a:solidFill>
                  <a:schemeClr val="bg2">
                    <a:lumMod val="50000"/>
                  </a:schemeClr>
                </a:solidFill>
              </a:rPr>
              <a:t>Land, however, is not viewed as a depreciable asset, as it has an unlimited useful life</a:t>
            </a:r>
            <a:r>
              <a:rPr lang="en-US" dirty="0"/>
              <a:t>. </a:t>
            </a:r>
            <a:endParaRPr lang="en-US" dirty="0" smtClean="0"/>
          </a:p>
          <a:p>
            <a:pPr algn="just"/>
            <a:r>
              <a:rPr lang="en-US" dirty="0">
                <a:solidFill>
                  <a:schemeClr val="accent5">
                    <a:lumMod val="75000"/>
                  </a:schemeClr>
                </a:solidFill>
              </a:rPr>
              <a:t>Each period, a portion of a depreciable asset’s usefulness expires. Therefore, a </a:t>
            </a:r>
            <a:r>
              <a:rPr lang="en-US" dirty="0" smtClean="0">
                <a:solidFill>
                  <a:schemeClr val="accent5">
                    <a:lumMod val="75000"/>
                  </a:schemeClr>
                </a:solidFill>
              </a:rPr>
              <a:t>corresponding </a:t>
            </a:r>
            <a:r>
              <a:rPr lang="en-US" dirty="0">
                <a:solidFill>
                  <a:schemeClr val="accent5">
                    <a:lumMod val="75000"/>
                  </a:schemeClr>
                </a:solidFill>
              </a:rPr>
              <a:t>portion of its cost is recognized as depreciation expense</a:t>
            </a:r>
            <a:r>
              <a:rPr lang="en-US" dirty="0"/>
              <a:t>.</a:t>
            </a:r>
          </a:p>
        </p:txBody>
      </p:sp>
    </p:spTree>
    <p:extLst>
      <p:ext uri="{BB962C8B-B14F-4D97-AF65-F5344CB8AC3E}">
        <p14:creationId xmlns:p14="http://schemas.microsoft.com/office/powerpoint/2010/main" val="2337850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7680"/>
            <a:ext cx="10515600" cy="5689283"/>
          </a:xfrm>
        </p:spPr>
        <p:txBody>
          <a:bodyPr/>
          <a:lstStyle/>
          <a:p>
            <a:r>
              <a:rPr lang="en-US" b="1" dirty="0"/>
              <a:t>What Is Depreciation? </a:t>
            </a:r>
            <a:r>
              <a:rPr lang="en-US" dirty="0"/>
              <a:t>In accounting, the term depreciation means the </a:t>
            </a:r>
            <a:r>
              <a:rPr lang="en-US" i="1" dirty="0">
                <a:solidFill>
                  <a:srgbClr val="00B050"/>
                </a:solidFill>
              </a:rPr>
              <a:t>systematic allocation of the cost of a depreciable asset to expense</a:t>
            </a:r>
            <a:r>
              <a:rPr lang="en-US" dirty="0"/>
              <a:t> over the asset’s useful life. This </a:t>
            </a:r>
            <a:r>
              <a:rPr lang="en-US" dirty="0" smtClean="0"/>
              <a:t>process </a:t>
            </a:r>
            <a:r>
              <a:rPr lang="en-US" dirty="0"/>
              <a:t>is illustrated in Exhibit 4–4 </a:t>
            </a:r>
          </a:p>
        </p:txBody>
      </p:sp>
      <p:pic>
        <p:nvPicPr>
          <p:cNvPr id="4" name="Picture 3"/>
          <p:cNvPicPr>
            <a:picLocks noChangeAspect="1"/>
          </p:cNvPicPr>
          <p:nvPr/>
        </p:nvPicPr>
        <p:blipFill>
          <a:blip r:embed="rId2"/>
          <a:stretch>
            <a:fillRect/>
          </a:stretch>
        </p:blipFill>
        <p:spPr>
          <a:xfrm>
            <a:off x="3874580" y="1706880"/>
            <a:ext cx="7479220" cy="4791456"/>
          </a:xfrm>
          <a:prstGeom prst="rect">
            <a:avLst/>
          </a:prstGeom>
        </p:spPr>
      </p:pic>
      <p:pic>
        <p:nvPicPr>
          <p:cNvPr id="5" name="Picture 4"/>
          <p:cNvPicPr>
            <a:picLocks noChangeAspect="1"/>
          </p:cNvPicPr>
          <p:nvPr/>
        </p:nvPicPr>
        <p:blipFill>
          <a:blip r:embed="rId3"/>
          <a:stretch>
            <a:fillRect/>
          </a:stretch>
        </p:blipFill>
        <p:spPr>
          <a:xfrm>
            <a:off x="665989" y="1938528"/>
            <a:ext cx="2269807" cy="1169716"/>
          </a:xfrm>
          <a:prstGeom prst="rect">
            <a:avLst/>
          </a:prstGeom>
        </p:spPr>
      </p:pic>
      <p:sp>
        <p:nvSpPr>
          <p:cNvPr id="6" name="Rectangle 5"/>
          <p:cNvSpPr/>
          <p:nvPr/>
        </p:nvSpPr>
        <p:spPr>
          <a:xfrm>
            <a:off x="394335" y="4273957"/>
            <a:ext cx="5750433" cy="2031325"/>
          </a:xfrm>
          <a:prstGeom prst="rect">
            <a:avLst/>
          </a:prstGeom>
        </p:spPr>
        <p:txBody>
          <a:bodyPr wrap="square">
            <a:spAutoFit/>
          </a:bodyPr>
          <a:lstStyle/>
          <a:p>
            <a:pPr algn="just"/>
            <a:r>
              <a:rPr lang="en-US" dirty="0"/>
              <a:t>Depreciation expense occurs continuously over the life of the asset, but there are no daily “depreciation transactions.” In effect, depreciation expense is paid in advance when the asset is originally purchased. Therefore, adjusting entries are needed at the end of each accounting period to transfer an appropriate amount of the asset’s cost to depreciation expense.</a:t>
            </a:r>
          </a:p>
        </p:txBody>
      </p:sp>
    </p:spTree>
    <p:extLst>
      <p:ext uri="{BB962C8B-B14F-4D97-AF65-F5344CB8AC3E}">
        <p14:creationId xmlns:p14="http://schemas.microsoft.com/office/powerpoint/2010/main" val="1284062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70560"/>
            <a:ext cx="10515600" cy="5506403"/>
          </a:xfrm>
        </p:spPr>
        <p:txBody>
          <a:bodyPr/>
          <a:lstStyle/>
          <a:p>
            <a:pPr algn="just"/>
            <a:r>
              <a:rPr lang="en-US" b="1" dirty="0"/>
              <a:t>Depreciation Is Only an </a:t>
            </a:r>
            <a:r>
              <a:rPr lang="en-US" b="1" dirty="0" smtClean="0"/>
              <a:t>Estimate: </a:t>
            </a:r>
            <a:r>
              <a:rPr lang="en-US" dirty="0"/>
              <a:t>The appropriate amount of depreciation expense is only an estimate. After all, we cannot look at a building or a piece of </a:t>
            </a:r>
            <a:r>
              <a:rPr lang="en-US" dirty="0" smtClean="0"/>
              <a:t>equipment and </a:t>
            </a:r>
            <a:r>
              <a:rPr lang="en-US" dirty="0"/>
              <a:t>determine precisely how much of its economic usefulness has expired during the current period. </a:t>
            </a:r>
            <a:endParaRPr lang="en-US" dirty="0" smtClean="0"/>
          </a:p>
          <a:p>
            <a:pPr algn="just"/>
            <a:r>
              <a:rPr lang="en-US" dirty="0"/>
              <a:t>The most widely used means of estimating periodic depreciation expense is </a:t>
            </a:r>
            <a:r>
              <a:rPr lang="en-US" dirty="0" smtClean="0"/>
              <a:t>the </a:t>
            </a:r>
            <a:r>
              <a:rPr lang="en-US" b="1" dirty="0" smtClean="0">
                <a:solidFill>
                  <a:srgbClr val="00B050"/>
                </a:solidFill>
              </a:rPr>
              <a:t>straight line method of depreciation</a:t>
            </a:r>
            <a:r>
              <a:rPr lang="en-US" dirty="0" smtClean="0"/>
              <a:t>. </a:t>
            </a:r>
            <a:r>
              <a:rPr lang="en-US" dirty="0"/>
              <a:t>Under the straight-line approach, </a:t>
            </a:r>
            <a:r>
              <a:rPr lang="en-US" dirty="0" smtClean="0"/>
              <a:t>an </a:t>
            </a:r>
            <a:r>
              <a:rPr lang="en-US" dirty="0"/>
              <a:t>equal portion of the asset’s cost is allocated to depreciation expense in every period of the asset’s estimated useful life. The formula for computing depreciation expense by the straight-line method is:</a:t>
            </a:r>
          </a:p>
        </p:txBody>
      </p:sp>
      <p:pic>
        <p:nvPicPr>
          <p:cNvPr id="4" name="Picture 3"/>
          <p:cNvPicPr>
            <a:picLocks noChangeAspect="1"/>
          </p:cNvPicPr>
          <p:nvPr/>
        </p:nvPicPr>
        <p:blipFill>
          <a:blip r:embed="rId2"/>
          <a:stretch>
            <a:fillRect/>
          </a:stretch>
        </p:blipFill>
        <p:spPr>
          <a:xfrm>
            <a:off x="2532507" y="5091113"/>
            <a:ext cx="8248650" cy="1085850"/>
          </a:xfrm>
          <a:prstGeom prst="rect">
            <a:avLst/>
          </a:prstGeom>
        </p:spPr>
      </p:pic>
    </p:spTree>
    <p:extLst>
      <p:ext uri="{BB962C8B-B14F-4D97-AF65-F5344CB8AC3E}">
        <p14:creationId xmlns:p14="http://schemas.microsoft.com/office/powerpoint/2010/main" val="2974221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31648"/>
            <a:ext cx="10515600" cy="5945315"/>
          </a:xfrm>
        </p:spPr>
        <p:txBody>
          <a:bodyPr>
            <a:normAutofit/>
          </a:bodyPr>
          <a:lstStyle/>
          <a:p>
            <a:pPr algn="just"/>
            <a:r>
              <a:rPr lang="en-US" dirty="0"/>
              <a:t>Depreciation of Overnight’s Building Overnight purchased its building for $36,000 on January 22. Because the building was old, its estimated remaining </a:t>
            </a:r>
            <a:r>
              <a:rPr lang="en-US" dirty="0" smtClean="0"/>
              <a:t>useful </a:t>
            </a:r>
            <a:r>
              <a:rPr lang="en-US" dirty="0"/>
              <a:t>life is only 20 years. Therefore, the building’s monthly depreciation expense is $150 ($36,000 cost /</a:t>
            </a:r>
            <a:r>
              <a:rPr lang="en-US" dirty="0" smtClean="0"/>
              <a:t>240 </a:t>
            </a:r>
            <a:r>
              <a:rPr lang="en-US" dirty="0"/>
              <a:t>months). We will assume that Overnight did not record any depreciation expense in January because it operated for only a small part of the month. Thus, the building’s $1,500 depreciation expense reported in Overnight’s trial balance illustrated in Exhibit 4–2 on page 143 represents 10 full months of depreciation recorded in 2011, from February 1 through November 30 ($150/mo. </a:t>
            </a:r>
            <a:r>
              <a:rPr lang="en-US" dirty="0" smtClean="0"/>
              <a:t>* </a:t>
            </a:r>
            <a:r>
              <a:rPr lang="en-US" dirty="0"/>
              <a:t>10 months). </a:t>
            </a:r>
            <a:endParaRPr lang="en-US" i="1" dirty="0">
              <a:solidFill>
                <a:srgbClr val="00B050"/>
              </a:solidFill>
            </a:endParaRPr>
          </a:p>
        </p:txBody>
      </p:sp>
    </p:spTree>
    <p:extLst>
      <p:ext uri="{BB962C8B-B14F-4D97-AF65-F5344CB8AC3E}">
        <p14:creationId xmlns:p14="http://schemas.microsoft.com/office/powerpoint/2010/main" val="1688897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1352" y="789305"/>
            <a:ext cx="10515600" cy="4351338"/>
          </a:xfrm>
        </p:spPr>
        <p:txBody>
          <a:bodyPr/>
          <a:lstStyle/>
          <a:p>
            <a:r>
              <a:rPr lang="en-US" dirty="0"/>
              <a:t>An additional $150 of depreciation expense is still needed on the building for December (bringing the total to be reported in the income statement for the year to $1,650). </a:t>
            </a:r>
            <a:endParaRPr lang="en-US" i="1" dirty="0">
              <a:solidFill>
                <a:srgbClr val="00B050"/>
              </a:solidFill>
            </a:endParaRPr>
          </a:p>
          <a:p>
            <a:r>
              <a:rPr lang="en-US" i="1" dirty="0" smtClean="0">
                <a:solidFill>
                  <a:srgbClr val="00B050"/>
                </a:solidFill>
              </a:rPr>
              <a:t>The </a:t>
            </a:r>
            <a:r>
              <a:rPr lang="en-US" i="1" dirty="0">
                <a:solidFill>
                  <a:srgbClr val="00B050"/>
                </a:solidFill>
              </a:rPr>
              <a:t>adjusting entry to record depreciation expense on Overnight’s building for the month of December is</a:t>
            </a:r>
          </a:p>
          <a:p>
            <a:endParaRPr lang="en-US" dirty="0"/>
          </a:p>
        </p:txBody>
      </p:sp>
      <p:pic>
        <p:nvPicPr>
          <p:cNvPr id="4" name="Picture 3"/>
          <p:cNvPicPr>
            <a:picLocks noChangeAspect="1"/>
          </p:cNvPicPr>
          <p:nvPr/>
        </p:nvPicPr>
        <p:blipFill>
          <a:blip r:embed="rId2"/>
          <a:stretch>
            <a:fillRect/>
          </a:stretch>
        </p:blipFill>
        <p:spPr>
          <a:xfrm>
            <a:off x="1048512" y="3293777"/>
            <a:ext cx="9656064" cy="1390650"/>
          </a:xfrm>
          <a:prstGeom prst="rect">
            <a:avLst/>
          </a:prstGeom>
        </p:spPr>
      </p:pic>
    </p:spTree>
    <p:extLst>
      <p:ext uri="{BB962C8B-B14F-4D97-AF65-F5344CB8AC3E}">
        <p14:creationId xmlns:p14="http://schemas.microsoft.com/office/powerpoint/2010/main" val="1196774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50392" y="785656"/>
            <a:ext cx="10515600" cy="2456683"/>
          </a:xfrm>
          <a:prstGeom prst="rect">
            <a:avLst/>
          </a:prstGeom>
        </p:spPr>
      </p:pic>
      <p:sp>
        <p:nvSpPr>
          <p:cNvPr id="5" name="Rectangle 4"/>
          <p:cNvSpPr/>
          <p:nvPr/>
        </p:nvSpPr>
        <p:spPr>
          <a:xfrm>
            <a:off x="935736" y="3591400"/>
            <a:ext cx="10695432" cy="2554545"/>
          </a:xfrm>
          <a:prstGeom prst="rect">
            <a:avLst/>
          </a:prstGeom>
        </p:spPr>
        <p:txBody>
          <a:bodyPr wrap="square">
            <a:spAutoFit/>
          </a:bodyPr>
          <a:lstStyle/>
          <a:p>
            <a:pPr algn="just"/>
            <a:r>
              <a:rPr lang="en-US" sz="2000" dirty="0"/>
              <a:t>Accumulated </a:t>
            </a:r>
            <a:r>
              <a:rPr lang="en-US" sz="2000" dirty="0" smtClean="0"/>
              <a:t>Depreciation-Building </a:t>
            </a:r>
            <a:r>
              <a:rPr lang="en-US" sz="2000" dirty="0"/>
              <a:t>is an example of a contra-asset account because (1) it has a credit balance, and (2) it is offset against an asset account (Building) to produce the book value for the asset. Accountants often use the term book value (or carrying value ) to describe the net valuation of an asset in a company’s accounting records. For depreciable assets, such as buildings and equipment, book value is equal to the cost of the asset, less the related amount of accumulated depreciation. The end result of crediting the Accumulated </a:t>
            </a:r>
            <a:r>
              <a:rPr lang="en-US" sz="2000" dirty="0" smtClean="0"/>
              <a:t>Depreciation-Building </a:t>
            </a:r>
            <a:r>
              <a:rPr lang="en-US" sz="2000" dirty="0"/>
              <a:t>account is much the same as if the credit had been made directly to the Building account; that is, the book value reported in the balance sheet for the building is reduced from $36,000 to $</a:t>
            </a:r>
            <a:r>
              <a:rPr lang="en-US" sz="2000" dirty="0" smtClean="0"/>
              <a:t>34,350.</a:t>
            </a:r>
            <a:endParaRPr lang="en-US" sz="2000" dirty="0"/>
          </a:p>
        </p:txBody>
      </p:sp>
    </p:spTree>
    <p:extLst>
      <p:ext uri="{BB962C8B-B14F-4D97-AF65-F5344CB8AC3E}">
        <p14:creationId xmlns:p14="http://schemas.microsoft.com/office/powerpoint/2010/main" val="497075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9872"/>
            <a:ext cx="10515600" cy="5677091"/>
          </a:xfrm>
        </p:spPr>
        <p:txBody>
          <a:bodyPr/>
          <a:lstStyle/>
          <a:p>
            <a:pPr algn="just"/>
            <a:r>
              <a:rPr lang="en-US" b="1" dirty="0"/>
              <a:t>Depreciation of Tools and Equipment </a:t>
            </a:r>
            <a:endParaRPr lang="en-US" b="1" dirty="0" smtClean="0"/>
          </a:p>
          <a:p>
            <a:pPr algn="just"/>
            <a:r>
              <a:rPr lang="en-US" dirty="0" smtClean="0"/>
              <a:t>Overnight </a:t>
            </a:r>
            <a:r>
              <a:rPr lang="en-US" dirty="0"/>
              <a:t>depreciates its tools and equipment over a period of five years (60 months) using the straight-line method. The </a:t>
            </a:r>
            <a:r>
              <a:rPr lang="en-US" dirty="0" smtClean="0"/>
              <a:t>December </a:t>
            </a:r>
            <a:r>
              <a:rPr lang="en-US" dirty="0"/>
              <a:t>31 trial balance shows that the company owns tools and equipment that cost $12,000. Therefore, the adjusting entry to record December’s depreciation expense is: </a:t>
            </a:r>
          </a:p>
        </p:txBody>
      </p:sp>
      <p:pic>
        <p:nvPicPr>
          <p:cNvPr id="4" name="Picture 3"/>
          <p:cNvPicPr>
            <a:picLocks noChangeAspect="1"/>
          </p:cNvPicPr>
          <p:nvPr/>
        </p:nvPicPr>
        <p:blipFill>
          <a:blip r:embed="rId2"/>
          <a:stretch>
            <a:fillRect/>
          </a:stretch>
        </p:blipFill>
        <p:spPr>
          <a:xfrm>
            <a:off x="966025" y="3048000"/>
            <a:ext cx="10387775" cy="2271141"/>
          </a:xfrm>
          <a:prstGeom prst="rect">
            <a:avLst/>
          </a:prstGeom>
        </p:spPr>
      </p:pic>
    </p:spTree>
    <p:extLst>
      <p:ext uri="{BB962C8B-B14F-4D97-AF65-F5344CB8AC3E}">
        <p14:creationId xmlns:p14="http://schemas.microsoft.com/office/powerpoint/2010/main" val="4160144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TYPE II: CONVERTING LIABILITIES TO REVENUE</a:t>
            </a:r>
            <a:endParaRPr lang="en-US" b="1" dirty="0">
              <a:solidFill>
                <a:srgbClr val="FF0000"/>
              </a:solidFill>
            </a:endParaRPr>
          </a:p>
        </p:txBody>
      </p:sp>
      <p:sp>
        <p:nvSpPr>
          <p:cNvPr id="3" name="Content Placeholder 2"/>
          <p:cNvSpPr>
            <a:spLocks noGrp="1"/>
          </p:cNvSpPr>
          <p:nvPr>
            <p:ph idx="1"/>
          </p:nvPr>
        </p:nvSpPr>
        <p:spPr>
          <a:xfrm>
            <a:off x="838200" y="1403797"/>
            <a:ext cx="10515600" cy="4773166"/>
          </a:xfrm>
        </p:spPr>
        <p:txBody>
          <a:bodyPr>
            <a:normAutofit/>
          </a:bodyPr>
          <a:lstStyle/>
          <a:p>
            <a:pPr algn="just"/>
            <a:r>
              <a:rPr lang="en-US" dirty="0"/>
              <a:t>In some instances, customers may  pay in advance  for services to be rendered in later </a:t>
            </a:r>
            <a:r>
              <a:rPr lang="en-US" dirty="0" smtClean="0"/>
              <a:t>accounting </a:t>
            </a:r>
            <a:r>
              <a:rPr lang="en-US" dirty="0"/>
              <a:t>periods. </a:t>
            </a:r>
            <a:r>
              <a:rPr lang="en-US" dirty="0" smtClean="0">
                <a:solidFill>
                  <a:schemeClr val="accent5">
                    <a:lumMod val="75000"/>
                  </a:schemeClr>
                </a:solidFill>
              </a:rPr>
              <a:t>For </a:t>
            </a:r>
            <a:r>
              <a:rPr lang="en-US" dirty="0">
                <a:solidFill>
                  <a:schemeClr val="accent5">
                    <a:lumMod val="75000"/>
                  </a:schemeClr>
                </a:solidFill>
              </a:rPr>
              <a:t>example, a football team collects much of its revenue in advance through </a:t>
            </a:r>
            <a:r>
              <a:rPr lang="en-US" dirty="0" smtClean="0">
                <a:solidFill>
                  <a:schemeClr val="accent5">
                    <a:lumMod val="75000"/>
                  </a:schemeClr>
                </a:solidFill>
              </a:rPr>
              <a:t>the </a:t>
            </a:r>
            <a:r>
              <a:rPr lang="en-US" dirty="0">
                <a:solidFill>
                  <a:schemeClr val="accent5">
                    <a:lumMod val="75000"/>
                  </a:schemeClr>
                </a:solidFill>
              </a:rPr>
              <a:t>sale of season tickets. </a:t>
            </a:r>
            <a:r>
              <a:rPr lang="en-US" dirty="0" smtClean="0">
                <a:solidFill>
                  <a:schemeClr val="accent5">
                    <a:lumMod val="75000"/>
                  </a:schemeClr>
                </a:solidFill>
              </a:rPr>
              <a:t>Health </a:t>
            </a:r>
            <a:r>
              <a:rPr lang="en-US" dirty="0">
                <a:solidFill>
                  <a:schemeClr val="accent5">
                    <a:lumMod val="75000"/>
                  </a:schemeClr>
                </a:solidFill>
              </a:rPr>
              <a:t>clubs collect in advance by selling long-term membership </a:t>
            </a:r>
            <a:r>
              <a:rPr lang="en-US" dirty="0" smtClean="0">
                <a:solidFill>
                  <a:schemeClr val="accent5">
                    <a:lumMod val="75000"/>
                  </a:schemeClr>
                </a:solidFill>
              </a:rPr>
              <a:t>contracts</a:t>
            </a:r>
            <a:r>
              <a:rPr lang="en-US" dirty="0">
                <a:solidFill>
                  <a:schemeClr val="accent5">
                    <a:lumMod val="75000"/>
                  </a:schemeClr>
                </a:solidFill>
              </a:rPr>
              <a:t>. </a:t>
            </a:r>
            <a:r>
              <a:rPr lang="en-US" dirty="0" smtClean="0">
                <a:solidFill>
                  <a:schemeClr val="accent5">
                    <a:lumMod val="75000"/>
                  </a:schemeClr>
                </a:solidFill>
              </a:rPr>
              <a:t>Airlines </a:t>
            </a:r>
            <a:r>
              <a:rPr lang="en-US" dirty="0">
                <a:solidFill>
                  <a:schemeClr val="accent5">
                    <a:lumMod val="75000"/>
                  </a:schemeClr>
                </a:solidFill>
              </a:rPr>
              <a:t>sell many of their tickets well in advance of scheduled flights</a:t>
            </a:r>
            <a:r>
              <a:rPr lang="en-US" dirty="0" smtClean="0">
                <a:solidFill>
                  <a:schemeClr val="accent5">
                    <a:lumMod val="75000"/>
                  </a:schemeClr>
                </a:solidFill>
              </a:rPr>
              <a:t>.</a:t>
            </a:r>
          </a:p>
          <a:p>
            <a:pPr algn="just"/>
            <a:r>
              <a:rPr lang="en-US" dirty="0"/>
              <a:t>For accounting purposes, amounts collected in advance  </a:t>
            </a:r>
            <a:r>
              <a:rPr lang="en-US" i="1" dirty="0">
                <a:solidFill>
                  <a:srgbClr val="002060"/>
                </a:solidFill>
              </a:rPr>
              <a:t>do not represent revenue</a:t>
            </a:r>
            <a:r>
              <a:rPr lang="en-US" dirty="0"/>
              <a:t>,   because </a:t>
            </a:r>
            <a:r>
              <a:rPr lang="en-US" dirty="0" smtClean="0"/>
              <a:t>these </a:t>
            </a:r>
            <a:r>
              <a:rPr lang="en-US" dirty="0"/>
              <a:t>amounts have  </a:t>
            </a:r>
            <a:r>
              <a:rPr lang="en-US" i="1" dirty="0">
                <a:solidFill>
                  <a:srgbClr val="002060"/>
                </a:solidFill>
              </a:rPr>
              <a:t>not yet been earned</a:t>
            </a:r>
            <a:r>
              <a:rPr lang="en-US" dirty="0"/>
              <a:t>.  Amounts collected from customers in advance are </a:t>
            </a:r>
            <a:r>
              <a:rPr lang="en-US" dirty="0" smtClean="0"/>
              <a:t>recorded </a:t>
            </a:r>
            <a:r>
              <a:rPr lang="en-US" dirty="0"/>
              <a:t>by debiting the Cash account and crediting an  </a:t>
            </a:r>
            <a:r>
              <a:rPr lang="en-US" i="1" dirty="0">
                <a:solidFill>
                  <a:srgbClr val="002060"/>
                </a:solidFill>
              </a:rPr>
              <a:t>unearned revenue  </a:t>
            </a:r>
            <a:r>
              <a:rPr lang="en-US" dirty="0"/>
              <a:t>account.  </a:t>
            </a:r>
            <a:r>
              <a:rPr lang="en-US" b="1" dirty="0"/>
              <a:t>Unearned </a:t>
            </a:r>
            <a:r>
              <a:rPr lang="en-US" b="1" dirty="0" smtClean="0"/>
              <a:t>revenue  </a:t>
            </a:r>
            <a:r>
              <a:rPr lang="en-US" dirty="0"/>
              <a:t>also may be called  </a:t>
            </a:r>
            <a:r>
              <a:rPr lang="en-US" i="1" dirty="0"/>
              <a:t>deferred revenue</a:t>
            </a:r>
            <a:r>
              <a:rPr lang="en-US" dirty="0"/>
              <a:t>.</a:t>
            </a:r>
          </a:p>
        </p:txBody>
      </p:sp>
    </p:spTree>
    <p:extLst>
      <p:ext uri="{BB962C8B-B14F-4D97-AF65-F5344CB8AC3E}">
        <p14:creationId xmlns:p14="http://schemas.microsoft.com/office/powerpoint/2010/main" val="2081116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0761"/>
            <a:ext cx="10515600" cy="5726202"/>
          </a:xfrm>
        </p:spPr>
        <p:txBody>
          <a:bodyPr/>
          <a:lstStyle/>
          <a:p>
            <a:pPr algn="just"/>
            <a:r>
              <a:rPr lang="en-US" dirty="0" smtClean="0"/>
              <a:t>To </a:t>
            </a:r>
            <a:r>
              <a:rPr lang="en-US" dirty="0"/>
              <a:t>illustrate these concepts, assume that on December 1, Harbor Cab Co. agreed to rent space </a:t>
            </a:r>
            <a:r>
              <a:rPr lang="en-US" dirty="0" smtClean="0"/>
              <a:t>in </a:t>
            </a:r>
            <a:r>
              <a:rPr lang="en-US" dirty="0"/>
              <a:t>Overnight’s building to provide indoor storage for some of its cabs. The agreed-upon rent is </a:t>
            </a:r>
            <a:r>
              <a:rPr lang="en-US" dirty="0" smtClean="0"/>
              <a:t>$</a:t>
            </a:r>
            <a:r>
              <a:rPr lang="en-US" dirty="0"/>
              <a:t>3,000 per month, and Harbor Cab paid for the first three months in advance. </a:t>
            </a:r>
            <a:endParaRPr lang="en-US" dirty="0" smtClean="0"/>
          </a:p>
          <a:p>
            <a:pPr algn="just"/>
            <a:r>
              <a:rPr lang="en-US" dirty="0" smtClean="0"/>
              <a:t>The </a:t>
            </a:r>
            <a:r>
              <a:rPr lang="en-US" dirty="0"/>
              <a:t>journal entry </a:t>
            </a:r>
            <a:r>
              <a:rPr lang="en-US" dirty="0" smtClean="0"/>
              <a:t>to </a:t>
            </a:r>
            <a:r>
              <a:rPr lang="en-US" dirty="0"/>
              <a:t>record this  transaction  on December 1 was (</a:t>
            </a:r>
            <a:r>
              <a:rPr lang="en-US" dirty="0">
                <a:solidFill>
                  <a:schemeClr val="accent5">
                    <a:lumMod val="75000"/>
                  </a:schemeClr>
                </a:solidFill>
              </a:rPr>
              <a:t>again, this is a transaction, not  an  adjusting  entry</a:t>
            </a:r>
            <a:r>
              <a:rPr lang="en-US" dirty="0"/>
              <a:t>):</a:t>
            </a:r>
          </a:p>
        </p:txBody>
      </p:sp>
      <p:pic>
        <p:nvPicPr>
          <p:cNvPr id="4" name="Picture 3"/>
          <p:cNvPicPr>
            <a:picLocks noChangeAspect="1"/>
          </p:cNvPicPr>
          <p:nvPr/>
        </p:nvPicPr>
        <p:blipFill>
          <a:blip r:embed="rId2"/>
          <a:stretch>
            <a:fillRect/>
          </a:stretch>
        </p:blipFill>
        <p:spPr>
          <a:xfrm>
            <a:off x="1091964" y="3829755"/>
            <a:ext cx="10158805" cy="1489958"/>
          </a:xfrm>
          <a:prstGeom prst="rect">
            <a:avLst/>
          </a:prstGeom>
        </p:spPr>
      </p:pic>
      <p:pic>
        <p:nvPicPr>
          <p:cNvPr id="5" name="Picture 4"/>
          <p:cNvPicPr>
            <a:picLocks noChangeAspect="1"/>
          </p:cNvPicPr>
          <p:nvPr/>
        </p:nvPicPr>
        <p:blipFill>
          <a:blip r:embed="rId3"/>
          <a:stretch>
            <a:fillRect/>
          </a:stretch>
        </p:blipFill>
        <p:spPr>
          <a:xfrm>
            <a:off x="8577330" y="5389756"/>
            <a:ext cx="2927203" cy="1001704"/>
          </a:xfrm>
          <a:prstGeom prst="rect">
            <a:avLst/>
          </a:prstGeom>
        </p:spPr>
      </p:pic>
    </p:spTree>
    <p:extLst>
      <p:ext uri="{BB962C8B-B14F-4D97-AF65-F5344CB8AC3E}">
        <p14:creationId xmlns:p14="http://schemas.microsoft.com/office/powerpoint/2010/main" val="1718266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8942"/>
            <a:ext cx="10515600" cy="5958022"/>
          </a:xfrm>
        </p:spPr>
        <p:txBody>
          <a:bodyPr>
            <a:normAutofit/>
          </a:bodyPr>
          <a:lstStyle/>
          <a:p>
            <a:pPr algn="just"/>
            <a:r>
              <a:rPr lang="en-US" dirty="0"/>
              <a:t>Remember that </a:t>
            </a:r>
            <a:r>
              <a:rPr lang="en-US" dirty="0">
                <a:solidFill>
                  <a:schemeClr val="accent5">
                    <a:lumMod val="75000"/>
                  </a:schemeClr>
                </a:solidFill>
              </a:rPr>
              <a:t>Unearned Rent Revenue </a:t>
            </a:r>
            <a:r>
              <a:rPr lang="en-US" dirty="0"/>
              <a:t>is a  </a:t>
            </a:r>
            <a:r>
              <a:rPr lang="en-US" i="1" dirty="0">
                <a:solidFill>
                  <a:schemeClr val="accent5">
                    <a:lumMod val="75000"/>
                  </a:schemeClr>
                </a:solidFill>
              </a:rPr>
              <a:t>liability</a:t>
            </a:r>
            <a:r>
              <a:rPr lang="en-US" dirty="0"/>
              <a:t>  account,  not a </a:t>
            </a:r>
            <a:r>
              <a:rPr lang="en-US" i="1" dirty="0">
                <a:solidFill>
                  <a:schemeClr val="accent5">
                    <a:lumMod val="75000"/>
                  </a:schemeClr>
                </a:solidFill>
              </a:rPr>
              <a:t>revenue </a:t>
            </a:r>
            <a:r>
              <a:rPr lang="en-US" i="1" dirty="0" smtClean="0">
                <a:solidFill>
                  <a:schemeClr val="accent5">
                    <a:lumMod val="75000"/>
                  </a:schemeClr>
                </a:solidFill>
              </a:rPr>
              <a:t>account</a:t>
            </a:r>
            <a:r>
              <a:rPr lang="en-US" dirty="0" smtClean="0"/>
              <a:t>. Overnight </a:t>
            </a:r>
            <a:r>
              <a:rPr lang="en-US" dirty="0"/>
              <a:t>will earn rental revenue  </a:t>
            </a:r>
            <a:r>
              <a:rPr lang="en-US" i="1" dirty="0">
                <a:solidFill>
                  <a:schemeClr val="accent5">
                    <a:lumMod val="75000"/>
                  </a:schemeClr>
                </a:solidFill>
              </a:rPr>
              <a:t>gradually</a:t>
            </a:r>
            <a:r>
              <a:rPr lang="en-US" dirty="0"/>
              <a:t>  over a three-month period as it provides storage </a:t>
            </a:r>
            <a:r>
              <a:rPr lang="en-US" dirty="0" smtClean="0"/>
              <a:t>facilities </a:t>
            </a:r>
            <a:r>
              <a:rPr lang="en-US" dirty="0"/>
              <a:t>for Harbor Cab. At the end of each of these three months, Overnight will make </a:t>
            </a:r>
            <a:r>
              <a:rPr lang="en-US" dirty="0" smtClean="0"/>
              <a:t>an </a:t>
            </a:r>
            <a:r>
              <a:rPr lang="en-US" i="1" dirty="0" smtClean="0"/>
              <a:t>adjusting </a:t>
            </a:r>
            <a:r>
              <a:rPr lang="en-US" i="1" dirty="0"/>
              <a:t>entry</a:t>
            </a:r>
            <a:r>
              <a:rPr lang="en-US" dirty="0"/>
              <a:t>,  transferring $3,000 from the Unearned Rent Revenue account to an earned </a:t>
            </a:r>
            <a:r>
              <a:rPr lang="en-US" dirty="0" smtClean="0"/>
              <a:t>revenue </a:t>
            </a:r>
            <a:r>
              <a:rPr lang="en-US" dirty="0"/>
              <a:t>account, Rent Revenue Earned, which will appear in Overnight’s income statement. </a:t>
            </a:r>
          </a:p>
          <a:p>
            <a:r>
              <a:rPr lang="en-US" dirty="0"/>
              <a:t>The first in this series of monthly transfers will be made at December 31 with the following </a:t>
            </a:r>
            <a:r>
              <a:rPr lang="en-US" u="sng" dirty="0" smtClean="0"/>
              <a:t>adjusting </a:t>
            </a:r>
            <a:r>
              <a:rPr lang="en-US" u="sng" dirty="0"/>
              <a:t>entry</a:t>
            </a:r>
            <a:r>
              <a:rPr lang="en-US" dirty="0"/>
              <a:t>: </a:t>
            </a:r>
          </a:p>
        </p:txBody>
      </p:sp>
      <p:pic>
        <p:nvPicPr>
          <p:cNvPr id="4" name="Picture 3"/>
          <p:cNvPicPr>
            <a:picLocks noChangeAspect="1"/>
          </p:cNvPicPr>
          <p:nvPr/>
        </p:nvPicPr>
        <p:blipFill>
          <a:blip r:embed="rId2"/>
          <a:stretch>
            <a:fillRect/>
          </a:stretch>
        </p:blipFill>
        <p:spPr>
          <a:xfrm>
            <a:off x="1070583" y="4229320"/>
            <a:ext cx="9715986" cy="1403126"/>
          </a:xfrm>
          <a:prstGeom prst="rect">
            <a:avLst/>
          </a:prstGeom>
        </p:spPr>
      </p:pic>
      <p:pic>
        <p:nvPicPr>
          <p:cNvPr id="6" name="Picture 5"/>
          <p:cNvPicPr>
            <a:picLocks noChangeAspect="1"/>
          </p:cNvPicPr>
          <p:nvPr/>
        </p:nvPicPr>
        <p:blipFill>
          <a:blip r:embed="rId3"/>
          <a:stretch>
            <a:fillRect/>
          </a:stretch>
        </p:blipFill>
        <p:spPr>
          <a:xfrm>
            <a:off x="9235653" y="5632446"/>
            <a:ext cx="2505075" cy="1152525"/>
          </a:xfrm>
          <a:prstGeom prst="rect">
            <a:avLst/>
          </a:prstGeom>
        </p:spPr>
      </p:pic>
    </p:spTree>
    <p:extLst>
      <p:ext uri="{BB962C8B-B14F-4D97-AF65-F5344CB8AC3E}">
        <p14:creationId xmlns:p14="http://schemas.microsoft.com/office/powerpoint/2010/main" val="786831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8338"/>
            <a:ext cx="10515600" cy="5468625"/>
          </a:xfrm>
        </p:spPr>
        <p:txBody>
          <a:bodyPr/>
          <a:lstStyle/>
          <a:p>
            <a:r>
              <a:rPr lang="en-US" dirty="0"/>
              <a:t>The conversion of unearned revenue to recognize earned revenue is illustrated in  Exhibit </a:t>
            </a:r>
            <a:r>
              <a:rPr lang="en-US" dirty="0" smtClean="0"/>
              <a:t>4–5.</a:t>
            </a:r>
          </a:p>
          <a:p>
            <a:pPr marL="0" indent="0">
              <a:buNone/>
            </a:pPr>
            <a:endParaRPr lang="en-US" dirty="0" smtClean="0"/>
          </a:p>
          <a:p>
            <a:endParaRPr lang="en-US" dirty="0"/>
          </a:p>
        </p:txBody>
      </p:sp>
      <p:pic>
        <p:nvPicPr>
          <p:cNvPr id="4" name="Picture 3"/>
          <p:cNvPicPr>
            <a:picLocks noChangeAspect="1"/>
          </p:cNvPicPr>
          <p:nvPr/>
        </p:nvPicPr>
        <p:blipFill>
          <a:blip r:embed="rId2"/>
          <a:stretch>
            <a:fillRect/>
          </a:stretch>
        </p:blipFill>
        <p:spPr>
          <a:xfrm>
            <a:off x="4121239" y="1638166"/>
            <a:ext cx="6632620" cy="4567104"/>
          </a:xfrm>
          <a:prstGeom prst="rect">
            <a:avLst/>
          </a:prstGeom>
        </p:spPr>
      </p:pic>
      <p:pic>
        <p:nvPicPr>
          <p:cNvPr id="5" name="Picture 4"/>
          <p:cNvPicPr>
            <a:picLocks noChangeAspect="1"/>
          </p:cNvPicPr>
          <p:nvPr/>
        </p:nvPicPr>
        <p:blipFill>
          <a:blip r:embed="rId3"/>
          <a:stretch>
            <a:fillRect/>
          </a:stretch>
        </p:blipFill>
        <p:spPr>
          <a:xfrm>
            <a:off x="1699542" y="2152651"/>
            <a:ext cx="1821756" cy="943702"/>
          </a:xfrm>
          <a:prstGeom prst="rect">
            <a:avLst/>
          </a:prstGeom>
        </p:spPr>
      </p:pic>
    </p:spTree>
    <p:extLst>
      <p:ext uri="{BB962C8B-B14F-4D97-AF65-F5344CB8AC3E}">
        <p14:creationId xmlns:p14="http://schemas.microsoft.com/office/powerpoint/2010/main" val="683726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TYPE III: ACCRUING  UNPAID  EXPENSES</a:t>
            </a:r>
            <a:endParaRPr lang="en-US" b="1" dirty="0">
              <a:solidFill>
                <a:srgbClr val="FF0000"/>
              </a:solidFill>
            </a:endParaRPr>
          </a:p>
        </p:txBody>
      </p:sp>
      <p:sp>
        <p:nvSpPr>
          <p:cNvPr id="3" name="Content Placeholder 2"/>
          <p:cNvSpPr>
            <a:spLocks noGrp="1"/>
          </p:cNvSpPr>
          <p:nvPr>
            <p:ph idx="1"/>
          </p:nvPr>
        </p:nvSpPr>
        <p:spPr>
          <a:xfrm>
            <a:off x="838200" y="1442434"/>
            <a:ext cx="10515600" cy="5022759"/>
          </a:xfrm>
        </p:spPr>
        <p:txBody>
          <a:bodyPr>
            <a:normAutofit/>
          </a:bodyPr>
          <a:lstStyle/>
          <a:p>
            <a:r>
              <a:rPr lang="en-US" i="1" dirty="0" smtClean="0">
                <a:solidFill>
                  <a:srgbClr val="002060"/>
                </a:solidFill>
              </a:rPr>
              <a:t>Expenses accrued over a time period but not yet paid is an unpaid expense.</a:t>
            </a:r>
            <a:r>
              <a:rPr lang="en-US" dirty="0" smtClean="0"/>
              <a:t> </a:t>
            </a:r>
          </a:p>
          <a:p>
            <a:pPr algn="just"/>
            <a:r>
              <a:rPr lang="en-US" sz="2200" dirty="0"/>
              <a:t>Overnight, like many businesses, pays </a:t>
            </a:r>
            <a:r>
              <a:rPr lang="en-US" sz="2200" dirty="0" smtClean="0"/>
              <a:t>its </a:t>
            </a:r>
            <a:r>
              <a:rPr lang="en-US" sz="2200" dirty="0"/>
              <a:t>employees every other Friday. This month, however, ends on a Tuesday—three days before </a:t>
            </a:r>
            <a:r>
              <a:rPr lang="en-US" sz="2200" dirty="0" smtClean="0"/>
              <a:t>the </a:t>
            </a:r>
            <a:r>
              <a:rPr lang="en-US" sz="2200" dirty="0"/>
              <a:t>next scheduled payday. Thus Overnight’s employees have worked for more than a week in </a:t>
            </a:r>
            <a:r>
              <a:rPr lang="en-US" sz="2200" dirty="0" smtClean="0"/>
              <a:t>December </a:t>
            </a:r>
            <a:r>
              <a:rPr lang="en-US" sz="2200" i="1" dirty="0">
                <a:solidFill>
                  <a:srgbClr val="002060"/>
                </a:solidFill>
              </a:rPr>
              <a:t>for which they have not yet been paid. </a:t>
            </a:r>
          </a:p>
          <a:p>
            <a:pPr algn="just"/>
            <a:r>
              <a:rPr lang="en-US" sz="2200" dirty="0" smtClean="0"/>
              <a:t>Time </a:t>
            </a:r>
            <a:r>
              <a:rPr lang="en-US" sz="2200" dirty="0"/>
              <a:t>cards indicate that since the last payroll date, Overnight’s employees have worked a </a:t>
            </a:r>
            <a:r>
              <a:rPr lang="en-US" sz="2200" dirty="0" smtClean="0"/>
              <a:t>total </a:t>
            </a:r>
            <a:r>
              <a:rPr lang="en-US" sz="2200" dirty="0"/>
              <a:t>of 130 hours. Including payroll taxes, Overnight’s wage expense averages about $15 per </a:t>
            </a:r>
            <a:r>
              <a:rPr lang="en-US" sz="2200" dirty="0" smtClean="0"/>
              <a:t>hour</a:t>
            </a:r>
            <a:r>
              <a:rPr lang="en-US" sz="2200" dirty="0"/>
              <a:t>. Therefore, at December 31, the company owes its employees approximately  $1,950   for </a:t>
            </a:r>
            <a:r>
              <a:rPr lang="en-US" sz="2200" dirty="0" smtClean="0"/>
              <a:t>work </a:t>
            </a:r>
            <a:r>
              <a:rPr lang="en-US" sz="2200" dirty="0"/>
              <a:t>performed in December. </a:t>
            </a:r>
            <a:r>
              <a:rPr lang="en-US" sz="2200" dirty="0" smtClean="0"/>
              <a:t>The  </a:t>
            </a:r>
            <a:r>
              <a:rPr lang="en-US" sz="2200" dirty="0"/>
              <a:t>following </a:t>
            </a:r>
            <a:r>
              <a:rPr lang="en-US" sz="2200" i="1" dirty="0">
                <a:solidFill>
                  <a:srgbClr val="002060"/>
                </a:solidFill>
              </a:rPr>
              <a:t>adjusting entry </a:t>
            </a:r>
            <a:r>
              <a:rPr lang="en-US" sz="2200" dirty="0"/>
              <a:t>should be made to record this </a:t>
            </a:r>
            <a:r>
              <a:rPr lang="en-US" sz="2200" dirty="0" smtClean="0"/>
              <a:t>amount </a:t>
            </a:r>
            <a:r>
              <a:rPr lang="en-US" sz="2200" dirty="0"/>
              <a:t>both as wages expense of the current period and as a liability: </a:t>
            </a:r>
          </a:p>
        </p:txBody>
      </p:sp>
      <p:pic>
        <p:nvPicPr>
          <p:cNvPr id="4" name="Picture 3"/>
          <p:cNvPicPr>
            <a:picLocks noChangeAspect="1"/>
          </p:cNvPicPr>
          <p:nvPr/>
        </p:nvPicPr>
        <p:blipFill>
          <a:blip r:embed="rId2"/>
          <a:stretch>
            <a:fillRect/>
          </a:stretch>
        </p:blipFill>
        <p:spPr>
          <a:xfrm>
            <a:off x="1102720" y="4904702"/>
            <a:ext cx="9986560" cy="1560491"/>
          </a:xfrm>
          <a:prstGeom prst="rect">
            <a:avLst/>
          </a:prstGeom>
        </p:spPr>
      </p:pic>
    </p:spTree>
    <p:extLst>
      <p:ext uri="{BB962C8B-B14F-4D97-AF65-F5344CB8AC3E}">
        <p14:creationId xmlns:p14="http://schemas.microsoft.com/office/powerpoint/2010/main" val="65661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6823"/>
            <a:ext cx="10515600" cy="5520140"/>
          </a:xfrm>
        </p:spPr>
        <p:txBody>
          <a:bodyPr/>
          <a:lstStyle/>
          <a:p>
            <a:pPr algn="just"/>
            <a:r>
              <a:rPr lang="en-US" dirty="0"/>
              <a:t>On Friday, January 3, 2012, Overnight will pay its regular biweekly payroll. Let us </a:t>
            </a:r>
            <a:r>
              <a:rPr lang="en-US" dirty="0" smtClean="0"/>
              <a:t>assume that </a:t>
            </a:r>
            <a:r>
              <a:rPr lang="en-US" dirty="0"/>
              <a:t>this payroll amounts to $2,397. In this case, the transaction to record payment is as </a:t>
            </a:r>
            <a:r>
              <a:rPr lang="en-US" dirty="0" smtClean="0"/>
              <a:t>follows </a:t>
            </a:r>
            <a:r>
              <a:rPr lang="en-US" dirty="0"/>
              <a:t>(</a:t>
            </a:r>
            <a:r>
              <a:rPr lang="en-US" i="1" dirty="0">
                <a:solidFill>
                  <a:srgbClr val="002060"/>
                </a:solidFill>
              </a:rPr>
              <a:t>again, this is a transaction, not an adjusting entry</a:t>
            </a:r>
            <a:r>
              <a:rPr lang="en-US" dirty="0" smtClean="0"/>
              <a:t>):</a:t>
            </a:r>
            <a:endParaRPr lang="en-US" dirty="0"/>
          </a:p>
        </p:txBody>
      </p:sp>
      <p:pic>
        <p:nvPicPr>
          <p:cNvPr id="4" name="Picture 3"/>
          <p:cNvPicPr>
            <a:picLocks noChangeAspect="1"/>
          </p:cNvPicPr>
          <p:nvPr/>
        </p:nvPicPr>
        <p:blipFill>
          <a:blip r:embed="rId2"/>
          <a:stretch>
            <a:fillRect/>
          </a:stretch>
        </p:blipFill>
        <p:spPr>
          <a:xfrm>
            <a:off x="1106912" y="2542974"/>
            <a:ext cx="9649094" cy="2067663"/>
          </a:xfrm>
          <a:prstGeom prst="rect">
            <a:avLst/>
          </a:prstGeom>
        </p:spPr>
      </p:pic>
    </p:spTree>
    <p:extLst>
      <p:ext uri="{BB962C8B-B14F-4D97-AF65-F5344CB8AC3E}">
        <p14:creationId xmlns:p14="http://schemas.microsoft.com/office/powerpoint/2010/main" val="8408663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rPr>
              <a:t>Accrual </a:t>
            </a:r>
            <a:r>
              <a:rPr lang="en-US" b="1" dirty="0" smtClean="0">
                <a:solidFill>
                  <a:srgbClr val="002060"/>
                </a:solidFill>
              </a:rPr>
              <a:t>of Interest Expense</a:t>
            </a:r>
            <a:endParaRPr lang="en-US" b="1" dirty="0">
              <a:solidFill>
                <a:srgbClr val="002060"/>
              </a:solidFill>
            </a:endParaRPr>
          </a:p>
        </p:txBody>
      </p:sp>
      <p:sp>
        <p:nvSpPr>
          <p:cNvPr id="3" name="Content Placeholder 2"/>
          <p:cNvSpPr>
            <a:spLocks noGrp="1"/>
          </p:cNvSpPr>
          <p:nvPr>
            <p:ph idx="1"/>
          </p:nvPr>
        </p:nvSpPr>
        <p:spPr/>
        <p:txBody>
          <a:bodyPr/>
          <a:lstStyle/>
          <a:p>
            <a:pPr algn="just"/>
            <a:r>
              <a:rPr lang="en-US" dirty="0"/>
              <a:t>On November 30, 2011, Overnight borrowed $4,000 from American National Bank by </a:t>
            </a:r>
            <a:r>
              <a:rPr lang="en-US" dirty="0" smtClean="0"/>
              <a:t>issuing </a:t>
            </a:r>
            <a:r>
              <a:rPr lang="en-US" dirty="0"/>
              <a:t>an  interest-bearing  note payable. This loan is to be repaid in three months (on February 28, </a:t>
            </a:r>
            <a:r>
              <a:rPr lang="en-US" dirty="0" smtClean="0"/>
              <a:t>2012</a:t>
            </a:r>
            <a:r>
              <a:rPr lang="en-US" dirty="0"/>
              <a:t>), along with interest computed at an annual rate of 9 percent. The entry made on November </a:t>
            </a:r>
            <a:r>
              <a:rPr lang="en-US" dirty="0" smtClean="0"/>
              <a:t>30 </a:t>
            </a:r>
            <a:r>
              <a:rPr lang="en-US" dirty="0"/>
              <a:t>to record this </a:t>
            </a:r>
            <a:r>
              <a:rPr lang="en-US" dirty="0">
                <a:solidFill>
                  <a:srgbClr val="002060"/>
                </a:solidFill>
              </a:rPr>
              <a:t>borrowing transaction </a:t>
            </a:r>
            <a:r>
              <a:rPr lang="en-US" dirty="0"/>
              <a:t>is (</a:t>
            </a:r>
            <a:r>
              <a:rPr lang="en-US" i="1" dirty="0"/>
              <a:t>again, this is a transaction, </a:t>
            </a:r>
            <a:r>
              <a:rPr lang="en-US" i="1" dirty="0">
                <a:solidFill>
                  <a:srgbClr val="002060"/>
                </a:solidFill>
              </a:rPr>
              <a:t>not an </a:t>
            </a:r>
            <a:r>
              <a:rPr lang="en-US" i="1" dirty="0" smtClean="0">
                <a:solidFill>
                  <a:srgbClr val="002060"/>
                </a:solidFill>
              </a:rPr>
              <a:t>adjusting </a:t>
            </a:r>
            <a:r>
              <a:rPr lang="en-US" i="1" dirty="0">
                <a:solidFill>
                  <a:srgbClr val="002060"/>
                </a:solidFill>
              </a:rPr>
              <a:t>entry</a:t>
            </a:r>
            <a:r>
              <a:rPr lang="en-US" dirty="0"/>
              <a:t>): </a:t>
            </a:r>
            <a:endParaRPr lang="en-US" dirty="0" smtClean="0"/>
          </a:p>
          <a:p>
            <a:pPr algn="just"/>
            <a:endParaRPr lang="en-US" dirty="0"/>
          </a:p>
        </p:txBody>
      </p:sp>
      <p:pic>
        <p:nvPicPr>
          <p:cNvPr id="4" name="Picture 3"/>
          <p:cNvPicPr>
            <a:picLocks noChangeAspect="1"/>
          </p:cNvPicPr>
          <p:nvPr/>
        </p:nvPicPr>
        <p:blipFill>
          <a:blip r:embed="rId2"/>
          <a:stretch>
            <a:fillRect/>
          </a:stretch>
        </p:blipFill>
        <p:spPr>
          <a:xfrm>
            <a:off x="1160456" y="4418123"/>
            <a:ext cx="10120364" cy="1758840"/>
          </a:xfrm>
          <a:prstGeom prst="rect">
            <a:avLst/>
          </a:prstGeom>
        </p:spPr>
      </p:pic>
    </p:spTree>
    <p:extLst>
      <p:ext uri="{BB962C8B-B14F-4D97-AF65-F5344CB8AC3E}">
        <p14:creationId xmlns:p14="http://schemas.microsoft.com/office/powerpoint/2010/main" val="41692440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579549"/>
            <a:ext cx="10895459" cy="5597414"/>
          </a:xfrm>
        </p:spPr>
        <p:txBody>
          <a:bodyPr/>
          <a:lstStyle/>
          <a:p>
            <a:r>
              <a:rPr lang="en-US" dirty="0"/>
              <a:t>The  following adjusting entry is made at December 31 to accrue one month’s interest expense </a:t>
            </a:r>
            <a:r>
              <a:rPr lang="en-US" dirty="0" smtClean="0"/>
              <a:t>and </a:t>
            </a:r>
            <a:r>
              <a:rPr lang="en-US" dirty="0"/>
              <a:t>to record the amount of interest owed to the bank at December 31, 2011: </a:t>
            </a:r>
          </a:p>
        </p:txBody>
      </p:sp>
      <p:pic>
        <p:nvPicPr>
          <p:cNvPr id="4" name="Picture 3"/>
          <p:cNvPicPr>
            <a:picLocks noChangeAspect="1"/>
          </p:cNvPicPr>
          <p:nvPr/>
        </p:nvPicPr>
        <p:blipFill>
          <a:blip r:embed="rId2"/>
          <a:stretch>
            <a:fillRect/>
          </a:stretch>
        </p:blipFill>
        <p:spPr>
          <a:xfrm>
            <a:off x="1218059" y="2085639"/>
            <a:ext cx="8453975" cy="1240220"/>
          </a:xfrm>
          <a:prstGeom prst="rect">
            <a:avLst/>
          </a:prstGeom>
        </p:spPr>
      </p:pic>
      <p:sp>
        <p:nvSpPr>
          <p:cNvPr id="5" name="Rectangle 4"/>
          <p:cNvSpPr/>
          <p:nvPr/>
        </p:nvSpPr>
        <p:spPr>
          <a:xfrm>
            <a:off x="1218059" y="3381366"/>
            <a:ext cx="9238445" cy="923330"/>
          </a:xfrm>
          <a:prstGeom prst="rect">
            <a:avLst/>
          </a:prstGeom>
        </p:spPr>
        <p:txBody>
          <a:bodyPr wrap="square">
            <a:spAutoFit/>
          </a:bodyPr>
          <a:lstStyle/>
          <a:p>
            <a:r>
              <a:rPr lang="en-US" dirty="0"/>
              <a:t>Overnight will make a</a:t>
            </a:r>
            <a:r>
              <a:rPr lang="en-US" i="1" dirty="0"/>
              <a:t> second </a:t>
            </a:r>
            <a:r>
              <a:rPr lang="en-US" dirty="0"/>
              <a:t>adjusting entry recognizing another $30 in interest expense </a:t>
            </a:r>
          </a:p>
          <a:p>
            <a:pPr algn="just"/>
            <a:r>
              <a:rPr lang="en-US" dirty="0"/>
              <a:t>on January 31, 2012. The transaction on February 28 to record the repayment of this loan, </a:t>
            </a:r>
          </a:p>
          <a:p>
            <a:r>
              <a:rPr lang="en-US" dirty="0"/>
              <a:t>including $90 in interest charges, is (again, this is a transaction, </a:t>
            </a:r>
            <a:r>
              <a:rPr lang="en-US" i="1" dirty="0"/>
              <a:t>not</a:t>
            </a:r>
            <a:r>
              <a:rPr lang="en-US" dirty="0"/>
              <a:t> an adjusting entry): </a:t>
            </a:r>
          </a:p>
        </p:txBody>
      </p:sp>
      <p:pic>
        <p:nvPicPr>
          <p:cNvPr id="6" name="Picture 5"/>
          <p:cNvPicPr>
            <a:picLocks noChangeAspect="1"/>
          </p:cNvPicPr>
          <p:nvPr/>
        </p:nvPicPr>
        <p:blipFill>
          <a:blip r:embed="rId3"/>
          <a:stretch>
            <a:fillRect/>
          </a:stretch>
        </p:blipFill>
        <p:spPr>
          <a:xfrm>
            <a:off x="1340140" y="4304696"/>
            <a:ext cx="8228863" cy="2060000"/>
          </a:xfrm>
          <a:prstGeom prst="rect">
            <a:avLst/>
          </a:prstGeom>
        </p:spPr>
      </p:pic>
      <p:sp>
        <p:nvSpPr>
          <p:cNvPr id="7" name="TextBox 6"/>
          <p:cNvSpPr txBox="1"/>
          <p:nvPr/>
        </p:nvSpPr>
        <p:spPr>
          <a:xfrm>
            <a:off x="9672034" y="5070500"/>
            <a:ext cx="1828800" cy="1200329"/>
          </a:xfrm>
          <a:prstGeom prst="rect">
            <a:avLst/>
          </a:prstGeom>
          <a:noFill/>
        </p:spPr>
        <p:txBody>
          <a:bodyPr wrap="square" rtlCol="0">
            <a:spAutoFit/>
          </a:bodyPr>
          <a:lstStyle/>
          <a:p>
            <a:r>
              <a:rPr lang="en-US" dirty="0">
                <a:solidFill>
                  <a:srgbClr val="00B0F0"/>
                </a:solidFill>
              </a:rPr>
              <a:t>Payment of interest expense </a:t>
            </a:r>
          </a:p>
          <a:p>
            <a:r>
              <a:rPr lang="en-US" dirty="0">
                <a:solidFill>
                  <a:srgbClr val="00B0F0"/>
                </a:solidFill>
              </a:rPr>
              <a:t>accrued over three months</a:t>
            </a:r>
          </a:p>
        </p:txBody>
      </p:sp>
      <p:sp>
        <p:nvSpPr>
          <p:cNvPr id="8" name="TextBox 7"/>
          <p:cNvSpPr txBox="1"/>
          <p:nvPr/>
        </p:nvSpPr>
        <p:spPr>
          <a:xfrm>
            <a:off x="9672034" y="2248641"/>
            <a:ext cx="2061625" cy="1077218"/>
          </a:xfrm>
          <a:prstGeom prst="rect">
            <a:avLst/>
          </a:prstGeom>
          <a:noFill/>
        </p:spPr>
        <p:txBody>
          <a:bodyPr wrap="square" rtlCol="0">
            <a:spAutoFit/>
          </a:bodyPr>
          <a:lstStyle/>
          <a:p>
            <a:r>
              <a:rPr lang="en-US" sz="1600" dirty="0">
                <a:solidFill>
                  <a:srgbClr val="C00000"/>
                </a:solidFill>
              </a:rPr>
              <a:t>Adjusting entry required </a:t>
            </a:r>
            <a:r>
              <a:rPr lang="en-US" sz="1600" dirty="0" smtClean="0">
                <a:solidFill>
                  <a:srgbClr val="C00000"/>
                </a:solidFill>
              </a:rPr>
              <a:t>to </a:t>
            </a:r>
            <a:r>
              <a:rPr lang="en-US" sz="1600" dirty="0">
                <a:solidFill>
                  <a:srgbClr val="C00000"/>
                </a:solidFill>
              </a:rPr>
              <a:t>record interest expense </a:t>
            </a:r>
            <a:r>
              <a:rPr lang="en-US" sz="1600" dirty="0" smtClean="0">
                <a:solidFill>
                  <a:srgbClr val="C00000"/>
                </a:solidFill>
              </a:rPr>
              <a:t>accrued </a:t>
            </a:r>
            <a:r>
              <a:rPr lang="en-US" sz="1600" dirty="0">
                <a:solidFill>
                  <a:srgbClr val="C00000"/>
                </a:solidFill>
              </a:rPr>
              <a:t>in December</a:t>
            </a:r>
          </a:p>
        </p:txBody>
      </p:sp>
    </p:spTree>
    <p:extLst>
      <p:ext uri="{BB962C8B-B14F-4D97-AF65-F5344CB8AC3E}">
        <p14:creationId xmlns:p14="http://schemas.microsoft.com/office/powerpoint/2010/main" val="2038634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TYPE IV: ACCRUING  UNCOLLECTED  REVENUE</a:t>
            </a:r>
            <a:endParaRPr lang="en-US" b="1" dirty="0">
              <a:solidFill>
                <a:srgbClr val="FF0000"/>
              </a:solidFill>
            </a:endParaRPr>
          </a:p>
        </p:txBody>
      </p:sp>
      <p:sp>
        <p:nvSpPr>
          <p:cNvPr id="3" name="Content Placeholder 2"/>
          <p:cNvSpPr>
            <a:spLocks noGrp="1"/>
          </p:cNvSpPr>
          <p:nvPr>
            <p:ph idx="1"/>
          </p:nvPr>
        </p:nvSpPr>
        <p:spPr>
          <a:xfrm>
            <a:off x="838200" y="1506828"/>
            <a:ext cx="10515600" cy="4670135"/>
          </a:xfrm>
        </p:spPr>
        <p:txBody>
          <a:bodyPr>
            <a:normAutofit fontScale="92500"/>
          </a:bodyPr>
          <a:lstStyle/>
          <a:p>
            <a:pPr algn="just"/>
            <a:r>
              <a:rPr lang="en-US" dirty="0" smtClean="0"/>
              <a:t>Any </a:t>
            </a:r>
            <a:r>
              <a:rPr lang="en-US" dirty="0"/>
              <a:t>revenue that has been  </a:t>
            </a:r>
            <a:r>
              <a:rPr lang="en-US" i="1" dirty="0">
                <a:solidFill>
                  <a:srgbClr val="C00000"/>
                </a:solidFill>
              </a:rPr>
              <a:t>earned but not recorded  </a:t>
            </a:r>
            <a:r>
              <a:rPr lang="en-US" dirty="0"/>
              <a:t>during the current </a:t>
            </a:r>
            <a:r>
              <a:rPr lang="en-US" dirty="0" smtClean="0"/>
              <a:t>accounting </a:t>
            </a:r>
            <a:r>
              <a:rPr lang="en-US" dirty="0"/>
              <a:t>period should be recorded at the end of the period by means of an adjusting entry. </a:t>
            </a:r>
            <a:endParaRPr lang="en-US" dirty="0" smtClean="0"/>
          </a:p>
          <a:p>
            <a:r>
              <a:rPr lang="en-US" dirty="0"/>
              <a:t>This adjusting entry consists of a debit to an account receivable and a credit to the appropriate </a:t>
            </a:r>
            <a:r>
              <a:rPr lang="en-US" dirty="0" smtClean="0"/>
              <a:t>revenue </a:t>
            </a:r>
            <a:r>
              <a:rPr lang="en-US" dirty="0"/>
              <a:t>account</a:t>
            </a:r>
            <a:r>
              <a:rPr lang="en-US" dirty="0" smtClean="0"/>
              <a:t>.</a:t>
            </a:r>
          </a:p>
          <a:p>
            <a:pPr algn="just"/>
            <a:r>
              <a:rPr lang="en-US" dirty="0" smtClean="0"/>
              <a:t>The term  </a:t>
            </a:r>
            <a:r>
              <a:rPr lang="en-US" i="1" dirty="0" smtClean="0">
                <a:solidFill>
                  <a:srgbClr val="C00000"/>
                </a:solidFill>
              </a:rPr>
              <a:t>accrued revenue  </a:t>
            </a:r>
            <a:r>
              <a:rPr lang="en-US" dirty="0" smtClean="0"/>
              <a:t>often is used to describe revenue that has been earned during the period but that has not been recorded prior to the closing date. </a:t>
            </a:r>
          </a:p>
          <a:p>
            <a:pPr algn="just"/>
            <a:r>
              <a:rPr lang="en-US" sz="2600" dirty="0" smtClean="0">
                <a:solidFill>
                  <a:srgbClr val="7030A0"/>
                </a:solidFill>
              </a:rPr>
              <a:t>To illustrate this type of adjusting entry, assume that in December, Overnight entered into an agreement to perform routine maintenance on several vans owned by Airport Shuttle Service. Overnight agreed to maintain these vans for a flat fee of $1,500 per month, payable on the fifteenth of each month. </a:t>
            </a:r>
            <a:endParaRPr lang="en-US" sz="2600" dirty="0">
              <a:solidFill>
                <a:srgbClr val="7030A0"/>
              </a:solidFill>
            </a:endParaRPr>
          </a:p>
        </p:txBody>
      </p:sp>
    </p:spTree>
    <p:extLst>
      <p:ext uri="{BB962C8B-B14F-4D97-AF65-F5344CB8AC3E}">
        <p14:creationId xmlns:p14="http://schemas.microsoft.com/office/powerpoint/2010/main" val="36338881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5003"/>
            <a:ext cx="10515600" cy="5751960"/>
          </a:xfrm>
        </p:spPr>
        <p:txBody>
          <a:bodyPr>
            <a:normAutofit/>
          </a:bodyPr>
          <a:lstStyle/>
          <a:p>
            <a:pPr algn="just"/>
            <a:r>
              <a:rPr lang="en-US" sz="2400" dirty="0">
                <a:solidFill>
                  <a:srgbClr val="7030A0"/>
                </a:solidFill>
              </a:rPr>
              <a:t>Overnight began rendering services on  December 15,  but the first monthly payment </a:t>
            </a:r>
            <a:r>
              <a:rPr lang="en-US" sz="2400" dirty="0" smtClean="0">
                <a:solidFill>
                  <a:srgbClr val="7030A0"/>
                </a:solidFill>
              </a:rPr>
              <a:t>will </a:t>
            </a:r>
            <a:r>
              <a:rPr lang="en-US" sz="2400" dirty="0">
                <a:solidFill>
                  <a:srgbClr val="7030A0"/>
                </a:solidFill>
              </a:rPr>
              <a:t>not be received until January 15. Therefore, Overnight should make the following </a:t>
            </a:r>
            <a:r>
              <a:rPr lang="en-US" sz="2400" dirty="0" smtClean="0">
                <a:solidFill>
                  <a:srgbClr val="002060"/>
                </a:solidFill>
              </a:rPr>
              <a:t>adjusting </a:t>
            </a:r>
            <a:r>
              <a:rPr lang="en-US" sz="2400" dirty="0">
                <a:solidFill>
                  <a:srgbClr val="002060"/>
                </a:solidFill>
              </a:rPr>
              <a:t>entry </a:t>
            </a:r>
            <a:r>
              <a:rPr lang="en-US" sz="2400" dirty="0">
                <a:solidFill>
                  <a:srgbClr val="7030A0"/>
                </a:solidFill>
              </a:rPr>
              <a:t>at December 31 to record the revenue  earned  from Airport Shuttle during the month: </a:t>
            </a:r>
            <a:endParaRPr lang="en-US" sz="2400" dirty="0" smtClean="0">
              <a:solidFill>
                <a:srgbClr val="7030A0"/>
              </a:solidFill>
            </a:endParaRPr>
          </a:p>
          <a:p>
            <a:pPr algn="just"/>
            <a:endParaRPr lang="en-US" sz="2400" dirty="0">
              <a:solidFill>
                <a:srgbClr val="7030A0"/>
              </a:solidFill>
            </a:endParaRPr>
          </a:p>
        </p:txBody>
      </p:sp>
      <p:pic>
        <p:nvPicPr>
          <p:cNvPr id="4" name="Picture 3"/>
          <p:cNvPicPr>
            <a:picLocks noChangeAspect="1"/>
          </p:cNvPicPr>
          <p:nvPr/>
        </p:nvPicPr>
        <p:blipFill>
          <a:blip r:embed="rId2"/>
          <a:stretch>
            <a:fillRect/>
          </a:stretch>
        </p:blipFill>
        <p:spPr>
          <a:xfrm>
            <a:off x="1679619" y="1931092"/>
            <a:ext cx="8832761" cy="1308113"/>
          </a:xfrm>
          <a:prstGeom prst="rect">
            <a:avLst/>
          </a:prstGeom>
        </p:spPr>
      </p:pic>
      <p:sp>
        <p:nvSpPr>
          <p:cNvPr id="5" name="Rectangle 4"/>
          <p:cNvSpPr/>
          <p:nvPr/>
        </p:nvSpPr>
        <p:spPr>
          <a:xfrm>
            <a:off x="838200" y="3432389"/>
            <a:ext cx="10161430" cy="1200329"/>
          </a:xfrm>
          <a:prstGeom prst="rect">
            <a:avLst/>
          </a:prstGeom>
        </p:spPr>
        <p:txBody>
          <a:bodyPr wrap="square">
            <a:spAutoFit/>
          </a:bodyPr>
          <a:lstStyle/>
          <a:p>
            <a:pPr marL="342900" indent="-342900" algn="just">
              <a:buFont typeface="Arial" panose="020B0604020202020204" pitchFamily="34" charset="0"/>
              <a:buChar char="•"/>
            </a:pPr>
            <a:r>
              <a:rPr lang="en-US" dirty="0"/>
              <a:t>The collection of the first monthly fee from Airport Shuttle will occur on January 15, </a:t>
            </a:r>
            <a:r>
              <a:rPr lang="en-US" dirty="0" smtClean="0"/>
              <a:t>2012</a:t>
            </a:r>
            <a:r>
              <a:rPr lang="en-US" dirty="0"/>
              <a:t>. Of this $1,500 cash receipt, half represents collection of the receivable recorded on </a:t>
            </a:r>
            <a:r>
              <a:rPr lang="en-US" dirty="0" smtClean="0"/>
              <a:t>December </a:t>
            </a:r>
            <a:r>
              <a:rPr lang="en-US" dirty="0"/>
              <a:t>31; the other half represents revenue earned in January. Thus, the transaction to </a:t>
            </a:r>
            <a:r>
              <a:rPr lang="en-US" dirty="0" smtClean="0"/>
              <a:t>record </a:t>
            </a:r>
            <a:r>
              <a:rPr lang="en-US" dirty="0"/>
              <a:t>the receipt of $1,500 from Airport Shuttle on January 15 will be (</a:t>
            </a:r>
            <a:r>
              <a:rPr lang="en-US" i="1" dirty="0">
                <a:solidFill>
                  <a:srgbClr val="002060"/>
                </a:solidFill>
              </a:rPr>
              <a:t>again, this is a </a:t>
            </a:r>
            <a:r>
              <a:rPr lang="en-US" i="1" dirty="0" smtClean="0">
                <a:solidFill>
                  <a:srgbClr val="002060"/>
                </a:solidFill>
              </a:rPr>
              <a:t>transaction</a:t>
            </a:r>
            <a:r>
              <a:rPr lang="en-US" i="1" dirty="0">
                <a:solidFill>
                  <a:srgbClr val="002060"/>
                </a:solidFill>
              </a:rPr>
              <a:t>, not an adjusting entry</a:t>
            </a:r>
            <a:r>
              <a:rPr lang="en-US" dirty="0"/>
              <a:t>): </a:t>
            </a:r>
          </a:p>
        </p:txBody>
      </p:sp>
      <p:pic>
        <p:nvPicPr>
          <p:cNvPr id="6" name="Picture 5"/>
          <p:cNvPicPr>
            <a:picLocks noChangeAspect="1"/>
          </p:cNvPicPr>
          <p:nvPr/>
        </p:nvPicPr>
        <p:blipFill>
          <a:blip r:embed="rId3"/>
          <a:stretch>
            <a:fillRect/>
          </a:stretch>
        </p:blipFill>
        <p:spPr>
          <a:xfrm>
            <a:off x="1679619" y="4632718"/>
            <a:ext cx="8832761" cy="1861568"/>
          </a:xfrm>
          <a:prstGeom prst="rect">
            <a:avLst/>
          </a:prstGeom>
        </p:spPr>
      </p:pic>
    </p:spTree>
    <p:extLst>
      <p:ext uri="{BB962C8B-B14F-4D97-AF65-F5344CB8AC3E}">
        <p14:creationId xmlns:p14="http://schemas.microsoft.com/office/powerpoint/2010/main" val="34899647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7030A0"/>
                </a:solidFill>
              </a:rPr>
              <a:t>EFFECTS OF THE ADJUSTING ENTRIES </a:t>
            </a:r>
          </a:p>
        </p:txBody>
      </p:sp>
      <p:sp>
        <p:nvSpPr>
          <p:cNvPr id="3" name="Content Placeholder 2"/>
          <p:cNvSpPr>
            <a:spLocks noGrp="1"/>
          </p:cNvSpPr>
          <p:nvPr>
            <p:ph idx="1"/>
          </p:nvPr>
        </p:nvSpPr>
        <p:spPr>
          <a:xfrm>
            <a:off x="838200" y="1313645"/>
            <a:ext cx="10515600" cy="4863318"/>
          </a:xfrm>
        </p:spPr>
        <p:txBody>
          <a:bodyPr>
            <a:normAutofit/>
          </a:bodyPr>
          <a:lstStyle/>
          <a:p>
            <a:pPr algn="just"/>
            <a:r>
              <a:rPr lang="en-US" sz="2000" dirty="0"/>
              <a:t>On pages 140 and </a:t>
            </a:r>
            <a:r>
              <a:rPr lang="en-US" sz="2000" dirty="0" smtClean="0"/>
              <a:t>141 (book pages) </a:t>
            </a:r>
            <a:r>
              <a:rPr lang="en-US" sz="2000" dirty="0"/>
              <a:t>we identified four types of adjusting entries, each of which involve </a:t>
            </a:r>
            <a:r>
              <a:rPr lang="en-US" sz="2000" dirty="0" smtClean="0"/>
              <a:t>one </a:t>
            </a:r>
            <a:r>
              <a:rPr lang="en-US" sz="2000" dirty="0"/>
              <a:t>income statement account and one balance sheet account. The effects of these adjustment </a:t>
            </a:r>
            <a:r>
              <a:rPr lang="en-US" sz="2000" dirty="0" smtClean="0"/>
              <a:t>types </a:t>
            </a:r>
            <a:r>
              <a:rPr lang="en-US" sz="2000" dirty="0"/>
              <a:t>on the income statement and balance sheet are summarized in  Exhibit 4–8 . </a:t>
            </a:r>
          </a:p>
        </p:txBody>
      </p:sp>
      <p:pic>
        <p:nvPicPr>
          <p:cNvPr id="4" name="Picture 3"/>
          <p:cNvPicPr>
            <a:picLocks noChangeAspect="1"/>
          </p:cNvPicPr>
          <p:nvPr/>
        </p:nvPicPr>
        <p:blipFill>
          <a:blip r:embed="rId2"/>
          <a:stretch>
            <a:fillRect/>
          </a:stretch>
        </p:blipFill>
        <p:spPr>
          <a:xfrm>
            <a:off x="520856" y="2409824"/>
            <a:ext cx="11150287" cy="3990975"/>
          </a:xfrm>
          <a:prstGeom prst="rect">
            <a:avLst/>
          </a:prstGeom>
        </p:spPr>
      </p:pic>
    </p:spTree>
    <p:extLst>
      <p:ext uri="{BB962C8B-B14F-4D97-AF65-F5344CB8AC3E}">
        <p14:creationId xmlns:p14="http://schemas.microsoft.com/office/powerpoint/2010/main" val="24775414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867437" y="158696"/>
            <a:ext cx="6735651" cy="6448166"/>
          </a:xfrm>
          <a:prstGeom prst="rect">
            <a:avLst/>
          </a:prstGeom>
        </p:spPr>
      </p:pic>
    </p:spTree>
    <p:extLst>
      <p:ext uri="{BB962C8B-B14F-4D97-AF65-F5344CB8AC3E}">
        <p14:creationId xmlns:p14="http://schemas.microsoft.com/office/powerpoint/2010/main" val="2725134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33341" y="330591"/>
            <a:ext cx="6697014" cy="6295695"/>
          </a:xfrm>
          <a:prstGeom prst="rect">
            <a:avLst/>
          </a:prstGeom>
        </p:spPr>
      </p:pic>
      <p:sp>
        <p:nvSpPr>
          <p:cNvPr id="5" name="TextBox 4"/>
          <p:cNvSpPr txBox="1"/>
          <p:nvPr/>
        </p:nvSpPr>
        <p:spPr>
          <a:xfrm>
            <a:off x="8121902" y="2125014"/>
            <a:ext cx="3911072" cy="3231654"/>
          </a:xfrm>
          <a:prstGeom prst="rect">
            <a:avLst/>
          </a:prstGeom>
          <a:noFill/>
        </p:spPr>
        <p:txBody>
          <a:bodyPr wrap="square" rtlCol="0">
            <a:spAutoFit/>
          </a:bodyPr>
          <a:lstStyle/>
          <a:p>
            <a:r>
              <a:rPr lang="en-US" sz="2400" b="1" dirty="0" smtClean="0">
                <a:solidFill>
                  <a:srgbClr val="7030A0"/>
                </a:solidFill>
              </a:rPr>
              <a:t>Step-5 of accounting Cycle</a:t>
            </a:r>
            <a:endParaRPr lang="en-US" b="1" dirty="0" smtClean="0">
              <a:solidFill>
                <a:srgbClr val="7030A0"/>
              </a:solidFill>
            </a:endParaRPr>
          </a:p>
          <a:p>
            <a:r>
              <a:rPr lang="en-US" dirty="0" smtClean="0"/>
              <a:t>Adjusted Trial Balance is a trial balance</a:t>
            </a:r>
          </a:p>
          <a:p>
            <a:r>
              <a:rPr lang="en-US" dirty="0" smtClean="0"/>
              <a:t>Prepared after period end adjustments</a:t>
            </a:r>
          </a:p>
          <a:p>
            <a:pPr algn="just"/>
            <a:r>
              <a:rPr lang="en-US" dirty="0" smtClean="0"/>
              <a:t>(adjusting entries) are made. From Adjusted trial balance, Income statement, Owners equity Statement (in case of sole proprietorship &amp; partnership) And Retained earning statement (in case of corporation/</a:t>
            </a:r>
            <a:r>
              <a:rPr lang="en-US" dirty="0" err="1" smtClean="0"/>
              <a:t>compay</a:t>
            </a:r>
            <a:r>
              <a:rPr lang="en-US" dirty="0" smtClean="0"/>
              <a:t>) And balance sheet are prepared. </a:t>
            </a:r>
          </a:p>
        </p:txBody>
      </p:sp>
    </p:spTree>
    <p:extLst>
      <p:ext uri="{BB962C8B-B14F-4D97-AF65-F5344CB8AC3E}">
        <p14:creationId xmlns:p14="http://schemas.microsoft.com/office/powerpoint/2010/main" val="3673612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1224</TotalTime>
  <Words>2803</Words>
  <Application>Microsoft Office PowerPoint</Application>
  <PresentationFormat>Widescreen</PresentationFormat>
  <Paragraphs>79</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Office Theme</vt:lpstr>
      <vt:lpstr>AF1001 Fundamentals of Accounting  (BSE-3rd Semester)</vt:lpstr>
      <vt:lpstr>PowerPoint Presentation</vt:lpstr>
      <vt:lpstr>THE NEED FOR ADJUSTING ENTRIES</vt:lpstr>
      <vt:lpstr>PowerPoint Presentation</vt:lpstr>
      <vt:lpstr>PowerPoint Presentation</vt:lpstr>
      <vt:lpstr>PowerPoint Presentation</vt:lpstr>
      <vt:lpstr>TYPE I: CONVERTING ASSETS TO EXPENSES</vt:lpstr>
      <vt:lpstr>PowerPoint Presentation</vt:lpstr>
      <vt:lpstr>PowerPoint Presentation</vt:lpstr>
      <vt:lpstr>PowerPoint Presentation</vt:lpstr>
      <vt:lpstr>PowerPoint Presentation</vt:lpstr>
      <vt:lpstr>PowerPoint Presentation</vt:lpstr>
      <vt:lpstr>THE CONCEPT OF DEPRECIATION</vt:lpstr>
      <vt:lpstr>PowerPoint Presentation</vt:lpstr>
      <vt:lpstr>PowerPoint Presentation</vt:lpstr>
      <vt:lpstr>PowerPoint Presentation</vt:lpstr>
      <vt:lpstr>PowerPoint Presentation</vt:lpstr>
      <vt:lpstr>PowerPoint Presentation</vt:lpstr>
      <vt:lpstr>PowerPoint Presentation</vt:lpstr>
      <vt:lpstr>TYPE II: CONVERTING LIABILITIES TO REVENUE</vt:lpstr>
      <vt:lpstr>PowerPoint Presentation</vt:lpstr>
      <vt:lpstr>PowerPoint Presentation</vt:lpstr>
      <vt:lpstr>PowerPoint Presentation</vt:lpstr>
      <vt:lpstr>TYPE III: ACCRUING  UNPAID  EXPENSES</vt:lpstr>
      <vt:lpstr>PowerPoint Presentation</vt:lpstr>
      <vt:lpstr>Accrual of Interest Expense</vt:lpstr>
      <vt:lpstr>PowerPoint Presentation</vt:lpstr>
      <vt:lpstr>TYPE IV: ACCRUING  UNCOLLECTED  REVENUE</vt:lpstr>
      <vt:lpstr>PowerPoint Presentation</vt:lpstr>
      <vt:lpstr>EFFECTS OF THE ADJUSTING ENTRIES </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AF1001 Fundamentals of Accounting  (BSE-3rd Semester)</dc:title>
  <dc:creator>Sami Ullah</dc:creator>
  <cp:lastModifiedBy>DELL</cp:lastModifiedBy>
  <cp:revision>110</cp:revision>
  <dcterms:created xsi:type="dcterms:W3CDTF">2024-08-25T14:58:19Z</dcterms:created>
  <dcterms:modified xsi:type="dcterms:W3CDTF">2024-10-17T16:00:11Z</dcterms:modified>
</cp:coreProperties>
</file>